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4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5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1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drawings/drawing2.xml" ContentType="application/vnd.openxmlformats-officedocument.drawingml.chartshape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6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8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6"/>
    <p:sldMasterId id="2147483763" r:id="rId7"/>
    <p:sldMasterId id="2147483793" r:id="rId8"/>
  </p:sldMasterIdLst>
  <p:notesMasterIdLst>
    <p:notesMasterId r:id="rId20"/>
  </p:notesMasterIdLst>
  <p:sldIdLst>
    <p:sldId id="342" r:id="rId9"/>
    <p:sldId id="2147374729" r:id="rId10"/>
    <p:sldId id="2147374726" r:id="rId11"/>
    <p:sldId id="2147374722" r:id="rId12"/>
    <p:sldId id="2147374727" r:id="rId13"/>
    <p:sldId id="2147374737" r:id="rId14"/>
    <p:sldId id="2147374738" r:id="rId15"/>
    <p:sldId id="2147374739" r:id="rId16"/>
    <p:sldId id="2147374728" r:id="rId17"/>
    <p:sldId id="2147374723" r:id="rId18"/>
    <p:sldId id="2147374740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47A096-E207-4669-8F8F-8270083BD548}">
          <p14:sldIdLst>
            <p14:sldId id="342"/>
            <p14:sldId id="2147374729"/>
            <p14:sldId id="2147374726"/>
            <p14:sldId id="2147374722"/>
            <p14:sldId id="2147374727"/>
            <p14:sldId id="2147374737"/>
            <p14:sldId id="2147374738"/>
            <p14:sldId id="2147374739"/>
            <p14:sldId id="2147374728"/>
            <p14:sldId id="2147374723"/>
            <p14:sldId id="21473747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hal, Harshit" initials="CH" lastIdx="14" clrIdx="0">
    <p:extLst>
      <p:ext uri="{19B8F6BF-5375-455C-9EA6-DF929625EA0E}">
        <p15:presenceInfo xmlns:p15="http://schemas.microsoft.com/office/powerpoint/2012/main" userId="S-1-5-21-776561741-1482476501-682003330-1200712" providerId="AD"/>
      </p:ext>
    </p:extLst>
  </p:cmAuthor>
  <p:cmAuthor id="2" name="Author" initials="A" lastIdx="11632" clrIdx="12"/>
  <p:cmAuthor id="3" name="Chehal, Harshit" initials="CH [2]" lastIdx="4" clrIdx="2">
    <p:extLst>
      <p:ext uri="{19B8F6BF-5375-455C-9EA6-DF929625EA0E}">
        <p15:presenceInfo xmlns:p15="http://schemas.microsoft.com/office/powerpoint/2012/main" userId="S::hchehal@deloitte.com::600ab36f-8757-41d5-95a8-953fcae909d5" providerId="AD"/>
      </p:ext>
    </p:extLst>
  </p:cmAuthor>
  <p:cmAuthor id="4" name="Jaime Trope" initials="JT" lastIdx="1" clrIdx="3">
    <p:extLst>
      <p:ext uri="{19B8F6BF-5375-455C-9EA6-DF929625EA0E}">
        <p15:presenceInfo xmlns:p15="http://schemas.microsoft.com/office/powerpoint/2012/main" userId="Jaime Trope" providerId="None"/>
      </p:ext>
    </p:extLst>
  </p:cmAuthor>
  <p:cmAuthor id="5" name="Danielle Coelho" initials="DC" lastIdx="7" clrIdx="4">
    <p:extLst>
      <p:ext uri="{19B8F6BF-5375-455C-9EA6-DF929625EA0E}">
        <p15:presenceInfo xmlns:p15="http://schemas.microsoft.com/office/powerpoint/2012/main" userId="Danielle Coelho" providerId="None"/>
      </p:ext>
    </p:extLst>
  </p:cmAuthor>
  <p:cmAuthor id="6" name="Samsodien, Waseem" initials="SW" lastIdx="2" clrIdx="5">
    <p:extLst>
      <p:ext uri="{19B8F6BF-5375-455C-9EA6-DF929625EA0E}">
        <p15:presenceInfo xmlns:p15="http://schemas.microsoft.com/office/powerpoint/2012/main" userId="S::wasamsodien@deloitte.co.za::24894339-2e82-490d-ba5e-572a688c8b2f" providerId="AD"/>
      </p:ext>
    </p:extLst>
  </p:cmAuthor>
  <p:cmAuthor id="7" name="Kotze, Theo" initials="KT" lastIdx="1" clrIdx="6">
    <p:extLst>
      <p:ext uri="{19B8F6BF-5375-455C-9EA6-DF929625EA0E}">
        <p15:presenceInfo xmlns:p15="http://schemas.microsoft.com/office/powerpoint/2012/main" userId="S::tkotze@deloitte.co.za::9e2b0878-563b-46f7-9f70-f353d83cee25" providerId="AD"/>
      </p:ext>
    </p:extLst>
  </p:cmAuthor>
  <p:cmAuthor id="8" name="Deloitte India" initials="CH(-M" lastIdx="1" clrIdx="7">
    <p:extLst>
      <p:ext uri="{19B8F6BF-5375-455C-9EA6-DF929625EA0E}">
        <p15:presenceInfo xmlns:p15="http://schemas.microsoft.com/office/powerpoint/2012/main" userId="Deloitte India" providerId="None"/>
      </p:ext>
    </p:extLst>
  </p:cmAuthor>
  <p:cmAuthor id="9" name="Theo Kotze" initials="TK" lastIdx="5" clrIdx="8">
    <p:extLst>
      <p:ext uri="{19B8F6BF-5375-455C-9EA6-DF929625EA0E}">
        <p15:presenceInfo xmlns:p15="http://schemas.microsoft.com/office/powerpoint/2012/main" userId="Theo Kotze" providerId="None"/>
      </p:ext>
    </p:extLst>
  </p:cmAuthor>
  <p:cmAuthor id="10" name="Hofmeyr, Gill" initials="HG" lastIdx="32" clrIdx="9">
    <p:extLst>
      <p:ext uri="{19B8F6BF-5375-455C-9EA6-DF929625EA0E}">
        <p15:presenceInfo xmlns:p15="http://schemas.microsoft.com/office/powerpoint/2012/main" userId="S::ghofmeyr@deloitte.co.za::aaa89bd3-ee85-43c6-b66f-64f0e2970f0a" providerId="AD"/>
      </p:ext>
    </p:extLst>
  </p:cmAuthor>
  <p:cmAuthor id="11" name="Siliziwe Kwakhona Mafika" initials="SM" lastIdx="61" clrIdx="10">
    <p:extLst>
      <p:ext uri="{19B8F6BF-5375-455C-9EA6-DF929625EA0E}">
        <p15:presenceInfo xmlns:p15="http://schemas.microsoft.com/office/powerpoint/2012/main" userId="Siliziwe Kwakhona Mafika" providerId="None"/>
      </p:ext>
    </p:extLst>
  </p:cmAuthor>
  <p:cmAuthor id="12" name="Ramara, Sizwe" initials="RS" lastIdx="35" clrIdx="11">
    <p:extLst>
      <p:ext uri="{19B8F6BF-5375-455C-9EA6-DF929625EA0E}">
        <p15:presenceInfo xmlns:p15="http://schemas.microsoft.com/office/powerpoint/2012/main" userId="S::sramara@deloitte.co.za::0a681f41-bffc-4725-b432-8393f35e0fa2" providerId="AD"/>
      </p:ext>
    </p:extLst>
  </p:cmAuthor>
  <p:cmAuthor id="13" name="Mangemba, Tawanda" initials="MT" lastIdx="2" clrIdx="13">
    <p:extLst>
      <p:ext uri="{19B8F6BF-5375-455C-9EA6-DF929625EA0E}">
        <p15:presenceInfo xmlns:p15="http://schemas.microsoft.com/office/powerpoint/2012/main" userId="S::tmangemba@deloitte.co.za::7ec2a78f-239c-4a4b-9ff6-05bf6bdc1e5c" providerId="AD"/>
      </p:ext>
    </p:extLst>
  </p:cmAuthor>
  <p:cmAuthor id="14" name="Dineo Molefe [ MTN South Africa ]" initials="DM[MSA]" lastIdx="1" clrIdx="14">
    <p:extLst>
      <p:ext uri="{19B8F6BF-5375-455C-9EA6-DF929625EA0E}">
        <p15:presenceInfo xmlns:p15="http://schemas.microsoft.com/office/powerpoint/2012/main" userId="S::Dineo.Molefe@mtn.com::521141fe-b6dd-4bc1-9d8d-62c7b88a6f87" providerId="AD"/>
      </p:ext>
    </p:extLst>
  </p:cmAuthor>
  <p:cmAuthor id="15" name="Pickard, Johann" initials="PJ" lastIdx="2" clrIdx="15">
    <p:extLst>
      <p:ext uri="{19B8F6BF-5375-455C-9EA6-DF929625EA0E}">
        <p15:presenceInfo xmlns:p15="http://schemas.microsoft.com/office/powerpoint/2012/main" userId="S::johpickard@deloitte.co.za::78c88aea-56b7-494c-8d8f-7c9dc6ec3ec9" providerId="AD"/>
      </p:ext>
    </p:extLst>
  </p:cmAuthor>
  <p:cmAuthor id="16" name="K, Naveen" initials="KN" lastIdx="1" clrIdx="16">
    <p:extLst>
      <p:ext uri="{19B8F6BF-5375-455C-9EA6-DF929625EA0E}">
        <p15:presenceInfo xmlns:p15="http://schemas.microsoft.com/office/powerpoint/2012/main" userId="S::naveenk@deloitte.com::66f3bce3-3aa9-44b8-9974-2f8e6f179b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6D00"/>
    <a:srgbClr val="E12D6E"/>
    <a:srgbClr val="056890"/>
    <a:srgbClr val="FFCB05"/>
    <a:srgbClr val="046A38"/>
    <a:srgbClr val="FFF6E7"/>
    <a:srgbClr val="86BC25"/>
    <a:srgbClr val="53565A"/>
    <a:srgbClr val="007CB0"/>
    <a:srgbClr val="A8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82DD6D-21DB-4215-837B-466D09209004}" v="2" dt="2021-08-22T09:15:03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59" autoAdjust="0"/>
    <p:restoredTop sz="93792" autoAdjust="0"/>
  </p:normalViewPr>
  <p:slideViewPr>
    <p:cSldViewPr snapToGrid="0">
      <p:cViewPr varScale="1">
        <p:scale>
          <a:sx n="62" d="100"/>
          <a:sy n="62" d="100"/>
        </p:scale>
        <p:origin x="7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3.xml"/><Relationship Id="rId24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, Naveen" userId="66f3bce3-3aa9-44b8-9974-2f8e6f179b55" providerId="ADAL" clId="{9382DD6D-21DB-4215-837B-466D09209004}"/>
    <pc:docChg chg="undo custSel addSld delSld modSld">
      <pc:chgData name="K, Naveen" userId="66f3bce3-3aa9-44b8-9974-2f8e6f179b55" providerId="ADAL" clId="{9382DD6D-21DB-4215-837B-466D09209004}" dt="2021-08-22T09:15:09.001" v="12" actId="13926"/>
      <pc:docMkLst>
        <pc:docMk/>
      </pc:docMkLst>
      <pc:sldChg chg="modSp mod">
        <pc:chgData name="K, Naveen" userId="66f3bce3-3aa9-44b8-9974-2f8e6f179b55" providerId="ADAL" clId="{9382DD6D-21DB-4215-837B-466D09209004}" dt="2021-08-22T09:15:09.001" v="12" actId="13926"/>
        <pc:sldMkLst>
          <pc:docMk/>
          <pc:sldMk cId="1348918733" sldId="2147374722"/>
        </pc:sldMkLst>
        <pc:spChg chg="mod">
          <ac:chgData name="K, Naveen" userId="66f3bce3-3aa9-44b8-9974-2f8e6f179b55" providerId="ADAL" clId="{9382DD6D-21DB-4215-837B-466D09209004}" dt="2021-08-22T09:15:09.001" v="12" actId="13926"/>
          <ac:spMkLst>
            <pc:docMk/>
            <pc:sldMk cId="1348918733" sldId="2147374722"/>
            <ac:spMk id="64" creationId="{2E064DFB-86AC-4101-8605-CCB40EE6B414}"/>
          </ac:spMkLst>
        </pc:spChg>
      </pc:sldChg>
      <pc:sldChg chg="modSp mod">
        <pc:chgData name="K, Naveen" userId="66f3bce3-3aa9-44b8-9974-2f8e6f179b55" providerId="ADAL" clId="{9382DD6D-21DB-4215-837B-466D09209004}" dt="2021-08-22T09:15:06.742" v="11" actId="13926"/>
        <pc:sldMkLst>
          <pc:docMk/>
          <pc:sldMk cId="3277488643" sldId="2147374726"/>
        </pc:sldMkLst>
        <pc:spChg chg="mod">
          <ac:chgData name="K, Naveen" userId="66f3bce3-3aa9-44b8-9974-2f8e6f179b55" providerId="ADAL" clId="{9382DD6D-21DB-4215-837B-466D09209004}" dt="2021-08-22T09:15:06.742" v="11" actId="13926"/>
          <ac:spMkLst>
            <pc:docMk/>
            <pc:sldMk cId="3277488643" sldId="2147374726"/>
            <ac:spMk id="19" creationId="{AF7F503F-EB5C-48D3-9648-838013873628}"/>
          </ac:spMkLst>
        </pc:spChg>
        <pc:spChg chg="mod">
          <ac:chgData name="K, Naveen" userId="66f3bce3-3aa9-44b8-9974-2f8e6f179b55" providerId="ADAL" clId="{9382DD6D-21DB-4215-837B-466D09209004}" dt="2021-08-22T09:15:05.889" v="10" actId="13926"/>
          <ac:spMkLst>
            <pc:docMk/>
            <pc:sldMk cId="3277488643" sldId="2147374726"/>
            <ac:spMk id="24" creationId="{0A597689-C6FF-4F90-82E4-5194CFB034A7}"/>
          </ac:spMkLst>
        </pc:spChg>
      </pc:sldChg>
      <pc:sldChg chg="modSp add del mod">
        <pc:chgData name="K, Naveen" userId="66f3bce3-3aa9-44b8-9974-2f8e6f179b55" providerId="ADAL" clId="{9382DD6D-21DB-4215-837B-466D09209004}" dt="2021-08-22T09:15:03.664" v="9"/>
        <pc:sldMkLst>
          <pc:docMk/>
          <pc:sldMk cId="3481090318" sldId="2147374741"/>
        </pc:sldMkLst>
        <pc:spChg chg="mod">
          <ac:chgData name="K, Naveen" userId="66f3bce3-3aa9-44b8-9974-2f8e6f179b55" providerId="ADAL" clId="{9382DD6D-21DB-4215-837B-466D09209004}" dt="2021-08-22T09:15:02.910" v="8" actId="20577"/>
          <ac:spMkLst>
            <pc:docMk/>
            <pc:sldMk cId="3481090318" sldId="2147374741"/>
            <ac:spMk id="63" creationId="{F9C03E66-3F1B-4CB1-9C8B-7A7BB625A9D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Commback\Varun%20Rastogi\07.%20Projects\20.%20MTN\02.%20churn\30Day_analysis.xlsx" TargetMode="Externa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chartUserShapes" Target="../drawings/drawing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Tenure&lt;90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0.58199999999999996</c:v>
                </c:pt>
                <c:pt idx="1">
                  <c:v>0.52800000000000002</c:v>
                </c:pt>
                <c:pt idx="2">
                  <c:v>0.48899999999999999</c:v>
                </c:pt>
                <c:pt idx="3">
                  <c:v>0.35399999999999998</c:v>
                </c:pt>
                <c:pt idx="4">
                  <c:v>0.19500000000000001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8-43F0-8E51-6320050ABF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4985162728184425E-3"/>
                  <c:y val="-3.569278350000374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C8-43F0-8E51-6320050ABF91}"/>
                </c:ext>
              </c:extLst>
            </c:dLbl>
            <c:dLbl>
              <c:idx val="1"/>
              <c:layout>
                <c:manualLayout>
                  <c:x val="6.3738872046138241E-3"/>
                  <c:y val="-2.37951890000024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8C8-43F0-8E51-6320050ABF91}"/>
                </c:ext>
              </c:extLst>
            </c:dLbl>
            <c:dLbl>
              <c:idx val="2"/>
              <c:layout>
                <c:manualLayout>
                  <c:x val="-7.7902165901700812E-17"/>
                  <c:y val="-4.362451316667128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8C8-43F0-8E51-6320050ABF91}"/>
                </c:ext>
              </c:extLst>
            </c:dLbl>
            <c:dLbl>
              <c:idx val="3"/>
              <c:layout>
                <c:manualLayout>
                  <c:x val="-7.7902165901700812E-17"/>
                  <c:y val="-2.776105383333624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8C8-43F0-8E51-6320050ABF91}"/>
                </c:ext>
              </c:extLst>
            </c:dLbl>
            <c:dLbl>
              <c:idx val="4"/>
              <c:layout>
                <c:manualLayout>
                  <c:x val="0"/>
                  <c:y val="-3.17269186666699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80-4ABC-9B71-70FBA0FEFE3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0.60699999999999998</c:v>
                </c:pt>
                <c:pt idx="1">
                  <c:v>0.55700000000000005</c:v>
                </c:pt>
                <c:pt idx="2">
                  <c:v>0.51500000000000001</c:v>
                </c:pt>
                <c:pt idx="3">
                  <c:v>0.38300000000000001</c:v>
                </c:pt>
                <c:pt idx="4">
                  <c:v>0.21299999999999999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C8-43F0-8E51-6320050ABF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Sheet1!$D$2:$D$6</c:f>
              <c:numCache>
                <c:formatCode>0.00%</c:formatCode>
                <c:ptCount val="5"/>
                <c:pt idx="0">
                  <c:v>0.623</c:v>
                </c:pt>
                <c:pt idx="1">
                  <c:v>0.56299999999999994</c:v>
                </c:pt>
                <c:pt idx="2">
                  <c:v>0.52</c:v>
                </c:pt>
                <c:pt idx="3">
                  <c:v>0.378</c:v>
                </c:pt>
                <c:pt idx="4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C8-43F0-8E51-6320050ABF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1210399"/>
        <c:axId val="986264911"/>
      </c:barChart>
      <c:catAx>
        <c:axId val="12312103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264911"/>
        <c:crosses val="autoZero"/>
        <c:auto val="1"/>
        <c:lblAlgn val="ctr"/>
        <c:lblOffset val="100"/>
        <c:noMultiLvlLbl val="0"/>
      </c:catAx>
      <c:valAx>
        <c:axId val="986264911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231210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Tenure&gt;=90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0.309</c:v>
                </c:pt>
                <c:pt idx="1">
                  <c:v>0.255</c:v>
                </c:pt>
                <c:pt idx="2">
                  <c:v>0.21199999999999999</c:v>
                </c:pt>
                <c:pt idx="3">
                  <c:v>0.122</c:v>
                </c:pt>
                <c:pt idx="4">
                  <c:v>6.2E-2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BC-445C-983A-69D76CEBED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4985162728184425E-3"/>
                  <c:y val="-3.569278350000374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BC-445C-983A-69D76CEBEDC8}"/>
                </c:ext>
              </c:extLst>
            </c:dLbl>
            <c:dLbl>
              <c:idx val="1"/>
              <c:layout>
                <c:manualLayout>
                  <c:x val="6.3738872046138241E-3"/>
                  <c:y val="-2.379518900000249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0BC-445C-983A-69D76CEBEDC8}"/>
                </c:ext>
              </c:extLst>
            </c:dLbl>
            <c:dLbl>
              <c:idx val="2"/>
              <c:layout>
                <c:manualLayout>
                  <c:x val="-7.7902165901700812E-17"/>
                  <c:y val="-4.362451316667128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BC-445C-983A-69D76CEBEDC8}"/>
                </c:ext>
              </c:extLst>
            </c:dLbl>
            <c:dLbl>
              <c:idx val="3"/>
              <c:layout>
                <c:manualLayout>
                  <c:x val="-7.7902165901700812E-17"/>
                  <c:y val="-2.776105383333624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0BC-445C-983A-69D76CEBEDC8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Sheet1!$C$2:$C$6</c:f>
              <c:numCache>
                <c:formatCode>0.00%</c:formatCode>
                <c:ptCount val="5"/>
                <c:pt idx="0">
                  <c:v>0.316</c:v>
                </c:pt>
                <c:pt idx="1">
                  <c:v>0.26600000000000001</c:v>
                </c:pt>
                <c:pt idx="2">
                  <c:v>0.221</c:v>
                </c:pt>
                <c:pt idx="3">
                  <c:v>0.126</c:v>
                </c:pt>
                <c:pt idx="4">
                  <c:v>6.7000000000000004E-2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BC-445C-983A-69D76CEBED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Sheet1!$D$2:$D$6</c:f>
              <c:numCache>
                <c:formatCode>0.00%</c:formatCode>
                <c:ptCount val="5"/>
                <c:pt idx="0">
                  <c:v>0.32900000000000001</c:v>
                </c:pt>
                <c:pt idx="1">
                  <c:v>0.23300000000000001</c:v>
                </c:pt>
                <c:pt idx="2">
                  <c:v>0.21099999999999999</c:v>
                </c:pt>
                <c:pt idx="3">
                  <c:v>0.124</c:v>
                </c:pt>
                <c:pt idx="4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BC-445C-983A-69D76CEBED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1210399"/>
        <c:axId val="986264911"/>
      </c:barChart>
      <c:catAx>
        <c:axId val="12312103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264911"/>
        <c:crosses val="autoZero"/>
        <c:auto val="1"/>
        <c:lblAlgn val="ctr"/>
        <c:lblOffset val="100"/>
        <c:noMultiLvlLbl val="0"/>
      </c:catAx>
      <c:valAx>
        <c:axId val="986264911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231210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0119642913465157E-2"/>
          <c:y val="0.14377616530486562"/>
          <c:w val="0.93584785350910027"/>
          <c:h val="0.688452690063912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Percentage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0 - 10 </c:v>
                </c:pt>
                <c:pt idx="1">
                  <c:v>10 - 25</c:v>
                </c:pt>
                <c:pt idx="2">
                  <c:v>25 - 50</c:v>
                </c:pt>
                <c:pt idx="3">
                  <c:v>50 - 75</c:v>
                </c:pt>
                <c:pt idx="4">
                  <c:v>75 - 100</c:v>
                </c:pt>
                <c:pt idx="5">
                  <c:v>100 - 125 </c:v>
                </c:pt>
                <c:pt idx="6">
                  <c:v>125 - 150 </c:v>
                </c:pt>
                <c:pt idx="7">
                  <c:v>150 - 200 </c:v>
                </c:pt>
                <c:pt idx="8">
                  <c:v>200 - 300 </c:v>
                </c:pt>
                <c:pt idx="9">
                  <c:v>300 - 500 </c:v>
                </c:pt>
                <c:pt idx="10">
                  <c:v>GT 500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0.28073052421394751</c:v>
                </c:pt>
                <c:pt idx="1">
                  <c:v>0.14478882429445691</c:v>
                </c:pt>
                <c:pt idx="2">
                  <c:v>0.1488543508953947</c:v>
                </c:pt>
                <c:pt idx="3">
                  <c:v>9.6886880704532372E-2</c:v>
                </c:pt>
                <c:pt idx="4">
                  <c:v>6.6859719330569056E-2</c:v>
                </c:pt>
                <c:pt idx="5">
                  <c:v>4.826368415431756E-2</c:v>
                </c:pt>
                <c:pt idx="6">
                  <c:v>3.6185456371139499E-2</c:v>
                </c:pt>
                <c:pt idx="7">
                  <c:v>4.9605922492588876E-2</c:v>
                </c:pt>
                <c:pt idx="8">
                  <c:v>5.3653520109816583E-2</c:v>
                </c:pt>
                <c:pt idx="9">
                  <c:v>4.1559798782912188E-2</c:v>
                </c:pt>
                <c:pt idx="10">
                  <c:v>2.769027898275921E-2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BC-436A-9652-B84B7BB90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13236831"/>
        <c:axId val="1350652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%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0 - 10 </c:v>
                </c:pt>
                <c:pt idx="1">
                  <c:v>10 - 25</c:v>
                </c:pt>
                <c:pt idx="2">
                  <c:v>25 - 50</c:v>
                </c:pt>
                <c:pt idx="3">
                  <c:v>50 - 75</c:v>
                </c:pt>
                <c:pt idx="4">
                  <c:v>75 - 100</c:v>
                </c:pt>
                <c:pt idx="5">
                  <c:v>100 - 125 </c:v>
                </c:pt>
                <c:pt idx="6">
                  <c:v>125 - 150 </c:v>
                </c:pt>
                <c:pt idx="7">
                  <c:v>150 - 200 </c:v>
                </c:pt>
                <c:pt idx="8">
                  <c:v>200 - 300 </c:v>
                </c:pt>
                <c:pt idx="9">
                  <c:v>300 - 500 </c:v>
                </c:pt>
                <c:pt idx="10">
                  <c:v>GT 500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9.2503451902835997E-3</c:v>
                </c:pt>
                <c:pt idx="1">
                  <c:v>2.6874920215390508E-2</c:v>
                </c:pt>
                <c:pt idx="2">
                  <c:v>6.0123053381739948E-2</c:v>
                </c:pt>
                <c:pt idx="3">
                  <c:v>6.6133424739454189E-2</c:v>
                </c:pt>
                <c:pt idx="4">
                  <c:v>6.4221877246597572E-2</c:v>
                </c:pt>
                <c:pt idx="5">
                  <c:v>5.9741417083967935E-2</c:v>
                </c:pt>
                <c:pt idx="6">
                  <c:v>5.4821102185187084E-2</c:v>
                </c:pt>
                <c:pt idx="7">
                  <c:v>9.4969389302665422E-2</c:v>
                </c:pt>
                <c:pt idx="8">
                  <c:v>0.14463903020998803</c:v>
                </c:pt>
                <c:pt idx="9">
                  <c:v>0.17521004080539013</c:v>
                </c:pt>
                <c:pt idx="10">
                  <c:v>0.2443949737365243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BC-436A-9652-B84B7BB90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3236831"/>
        <c:axId val="1350652607"/>
      </c:lineChart>
      <c:catAx>
        <c:axId val="1113236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52607"/>
        <c:crosses val="autoZero"/>
        <c:auto val="1"/>
        <c:lblAlgn val="ctr"/>
        <c:lblOffset val="100"/>
        <c:noMultiLvlLbl val="0"/>
      </c:catAx>
      <c:valAx>
        <c:axId val="1350652607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236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481252193520378"/>
          <c:y val="4.9814047350641676E-2"/>
          <c:w val="0.33037485568217956"/>
          <c:h val="6.22297269469955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869409705025457"/>
          <c:y val="0.23439216965200069"/>
          <c:w val="0.4298644075873948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#,##0.00</c:formatCode>
                <c:ptCount val="4"/>
                <c:pt idx="0">
                  <c:v>1.33</c:v>
                </c:pt>
                <c:pt idx="1">
                  <c:v>2.69</c:v>
                </c:pt>
                <c:pt idx="2">
                  <c:v>6.96</c:v>
                </c:pt>
                <c:pt idx="3">
                  <c:v>8.3000000000000007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16-4EBE-B624-4765723C05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#,##0.00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129270880686357E-2"/>
          <c:y val="0.22107651161556682"/>
          <c:w val="0.5042944929706859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_(* #,##0.00_);_(* \(#,##0.00\);_(* "-"??_);_(@_)</c:formatCode>
                <c:ptCount val="4"/>
                <c:pt idx="0">
                  <c:v>731.75646953759394</c:v>
                </c:pt>
                <c:pt idx="1">
                  <c:v>513.46075442035226</c:v>
                </c:pt>
                <c:pt idx="2">
                  <c:v>436.3626051935799</c:v>
                </c:pt>
                <c:pt idx="3">
                  <c:v>62.337531646598201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9-4F5A-8015-BC5E505BD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550582978191498"/>
          <c:y val="0.20940743733498959"/>
          <c:w val="0.4188698726309942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_(* #,##0.00_);_(* \(#,##0.00\);_(* "-"??_);_(@_)</c:formatCode>
                <c:ptCount val="4"/>
                <c:pt idx="0">
                  <c:v>3.8049433122969774</c:v>
                </c:pt>
                <c:pt idx="1">
                  <c:v>6.3777663570442167</c:v>
                </c:pt>
                <c:pt idx="2">
                  <c:v>15.829894235473674</c:v>
                </c:pt>
                <c:pt idx="3">
                  <c:v>6.7695570484473322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D1-4132-BA4A-C9A2DD6B8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143736452714615"/>
          <c:y val="0.25227639076128611"/>
          <c:w val="0.5327693664172500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5.1997399007642098E-3</c:v>
                </c:pt>
                <c:pt idx="1">
                  <c:v>1.2421136965461169E-2</c:v>
                </c:pt>
                <c:pt idx="2">
                  <c:v>3.6276926682228393E-2</c:v>
                </c:pt>
                <c:pt idx="3">
                  <c:v>0.10859520532229401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2-479D-8326-49E7EC974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869409705025463"/>
          <c:y val="0.19482084781838671"/>
          <c:w val="0.6523605294114157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#,##0.00</c:formatCode>
                <c:ptCount val="1"/>
                <c:pt idx="0">
                  <c:v>19.3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5-4892-AC23-B890B8B081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#,##0.00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129270880686357E-2"/>
          <c:y val="0.22107651161556682"/>
          <c:w val="0.64742274090806884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_(* #,##0.00_);_(* \(#,##0.00\);_(* "-"??_);_(@_)</c:formatCode>
                <c:ptCount val="1"/>
                <c:pt idx="0">
                  <c:v>1743.91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9-46EA-95C1-7B41C080C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194647060109447"/>
          <c:y val="0.20940743733498959"/>
          <c:w val="0.6206199115824173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_(* #,##0.00_);_(* \(#,##0.00\);_(* "-"??_);_(@_)</c:formatCode>
                <c:ptCount val="1"/>
                <c:pt idx="0">
                  <c:v>32.78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DE-4559-88AA-D0DAE48821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206830448239703"/>
          <c:y val="0.19701048759917536"/>
          <c:w val="0.5149253836611701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0.0%</c:formatCode>
                <c:ptCount val="1"/>
                <c:pt idx="0">
                  <c:v>6.1899999999999997E-2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EE-49E9-BA5A-9B8DEACC2F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Inactivity movement </a:t>
            </a:r>
          </a:p>
        </c:rich>
      </c:tx>
      <c:layout>
        <c:manualLayout>
          <c:xMode val="edge"/>
          <c:yMode val="edge"/>
          <c:x val="0.3954514442738738"/>
          <c:y val="1.43429454368901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2.3172821497167224E-2"/>
          <c:y val="6.9794785332183293E-2"/>
          <c:w val="0.96897228638823973"/>
          <c:h val="0.6986912756324944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7 Day Inactivity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VHigh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0.57278487946131806</c:v>
                </c:pt>
                <c:pt idx="1">
                  <c:v>0.1542408375760472</c:v>
                </c:pt>
                <c:pt idx="2">
                  <c:v>4.2549435946754026E-2</c:v>
                </c:pt>
                <c:pt idx="3">
                  <c:v>1.5772818731933917E-2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CF-4E72-AD62-AC08E486B117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15 day Inactivity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VHigh</c:v>
                </c:pt>
              </c:strCache>
            </c:strRef>
          </c:cat>
          <c:val>
            <c:numRef>
              <c:f>Sheet1!$D$2:$D$5</c:f>
              <c:numCache>
                <c:formatCode>0.0%</c:formatCode>
                <c:ptCount val="4"/>
                <c:pt idx="0">
                  <c:v>0.47924819129979629</c:v>
                </c:pt>
                <c:pt idx="1">
                  <c:v>0.11857748658260886</c:v>
                </c:pt>
                <c:pt idx="2">
                  <c:v>3.3321838473938506E-2</c:v>
                </c:pt>
                <c:pt idx="3">
                  <c:v>1.2615112244493281E-2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CF-4E72-AD62-AC08E486B117}"/>
            </c:ext>
          </c:extLst>
        </c:ser>
        <c:ser>
          <c:idx val="3"/>
          <c:order val="2"/>
          <c:tx>
            <c:strRef>
              <c:f>Sheet1!$E$1</c:f>
              <c:strCache>
                <c:ptCount val="1"/>
                <c:pt idx="0">
                  <c:v>30 day Inactivity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VHigh</c:v>
                </c:pt>
              </c:strCache>
            </c:strRef>
          </c:cat>
          <c:val>
            <c:numRef>
              <c:f>Sheet1!$E$2:$E$5</c:f>
              <c:numCache>
                <c:formatCode>0.0%</c:formatCode>
                <c:ptCount val="4"/>
                <c:pt idx="0">
                  <c:v>0.39786673414556806</c:v>
                </c:pt>
                <c:pt idx="1">
                  <c:v>9.8900704413035084E-2</c:v>
                </c:pt>
                <c:pt idx="2">
                  <c:v>2.7701744072405724E-2</c:v>
                </c:pt>
                <c:pt idx="3">
                  <c:v>1.0406214246643815E-2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1CF-4E72-AD62-AC08E486B117}"/>
            </c:ext>
          </c:extLst>
        </c:ser>
        <c:ser>
          <c:idx val="4"/>
          <c:order val="3"/>
          <c:tx>
            <c:strRef>
              <c:f>Sheet1!$F$1</c:f>
              <c:strCache>
                <c:ptCount val="1"/>
                <c:pt idx="0">
                  <c:v>60 day Inactivity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700522933351854E-2"/>
                  <c:y val="-4.591013037754033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1CF-4E72-AD62-AC08E486B117}"/>
                </c:ext>
              </c:extLst>
            </c:dLbl>
            <c:dLbl>
              <c:idx val="1"/>
              <c:layout>
                <c:manualLayout>
                  <c:x val="3.8142620564217992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DF0-4C3F-8AC3-19D0A227D8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VHigh</c:v>
                </c:pt>
              </c:strCache>
            </c:strRef>
          </c:cat>
          <c:val>
            <c:numRef>
              <c:f>Sheet1!$F$2:$F$5</c:f>
              <c:numCache>
                <c:formatCode>0.00%</c:formatCode>
                <c:ptCount val="4"/>
                <c:pt idx="0">
                  <c:v>0.2156126659695666</c:v>
                </c:pt>
                <c:pt idx="1">
                  <c:v>7.1969140000367596E-2</c:v>
                </c:pt>
                <c:pt idx="2">
                  <c:v>2.1849027408550839E-2</c:v>
                </c:pt>
                <c:pt idx="3">
                  <c:v>8.4203012092818608E-3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CF-4E72-AD62-AC08E486B117}"/>
            </c:ext>
          </c:extLst>
        </c:ser>
        <c:ser>
          <c:idx val="5"/>
          <c:order val="4"/>
          <c:tx>
            <c:strRef>
              <c:f>Sheet1!$G$1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VHigh</c:v>
                </c:pt>
              </c:strCache>
            </c:strRef>
          </c:cat>
          <c:val>
            <c:numRef>
              <c:f>Sheet1!$G$2:$G$5</c:f>
              <c:numCache>
                <c:formatCode>0.0%</c:formatCode>
                <c:ptCount val="4"/>
                <c:pt idx="0">
                  <c:v>0.10859520532229401</c:v>
                </c:pt>
                <c:pt idx="1">
                  <c:v>3.6276926682228393E-2</c:v>
                </c:pt>
                <c:pt idx="2">
                  <c:v>1.2421136965461169E-2</c:v>
                </c:pt>
                <c:pt idx="3">
                  <c:v>5.1997399007642098E-3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1CF-4E72-AD62-AC08E486B1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79645887"/>
        <c:axId val="1726864063"/>
      </c:barChart>
      <c:catAx>
        <c:axId val="1879645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26864063"/>
        <c:crosses val="autoZero"/>
        <c:auto val="1"/>
        <c:lblAlgn val="ctr"/>
        <c:lblOffset val="100"/>
        <c:noMultiLvlLbl val="0"/>
      </c:catAx>
      <c:valAx>
        <c:axId val="1726864063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879645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563223553882264E-2"/>
          <c:y val="0.90906729754791171"/>
          <c:w val="0.83504848544120058"/>
          <c:h val="9.09327024520882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Overall Win</a:t>
            </a:r>
            <a:r>
              <a:rPr lang="en-US" baseline="0" dirty="0"/>
              <a:t> back %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Sheet1!$C$14</c:f>
              <c:strCache>
                <c:ptCount val="1"/>
                <c:pt idx="0">
                  <c:v>Inactive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Sheet1!$D$13:$I$13</c:f>
              <c:strCache>
                <c:ptCount val="6"/>
                <c:pt idx="0">
                  <c:v>&gt;=7D Inactive</c:v>
                </c:pt>
                <c:pt idx="1">
                  <c:v>&gt;=15D inactive</c:v>
                </c:pt>
                <c:pt idx="2">
                  <c:v>&gt;=30D inactive </c:v>
                </c:pt>
                <c:pt idx="3">
                  <c:v>&gt;=60D inactive </c:v>
                </c:pt>
                <c:pt idx="4">
                  <c:v>&gt;=90day inactive</c:v>
                </c:pt>
                <c:pt idx="5">
                  <c:v>Churned base</c:v>
                </c:pt>
              </c:strCache>
            </c:strRef>
          </c:cat>
          <c:val>
            <c:numRef>
              <c:f>Sheet1!$D$14:$I$14</c:f>
              <c:numCache>
                <c:formatCode>_(* #,##0_);_(* \(#,##0\);_(* "-"??_);_(@_)</c:formatCode>
                <c:ptCount val="6"/>
                <c:pt idx="0">
                  <c:v>1074148</c:v>
                </c:pt>
                <c:pt idx="1">
                  <c:v>825785</c:v>
                </c:pt>
                <c:pt idx="2">
                  <c:v>688754</c:v>
                </c:pt>
                <c:pt idx="3">
                  <c:v>501200</c:v>
                </c:pt>
                <c:pt idx="4">
                  <c:v>252636</c:v>
                </c:pt>
                <c:pt idx="5">
                  <c:v>252636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42-4CB4-A0E2-4DAF8372D948}"/>
            </c:ext>
          </c:extLst>
        </c:ser>
        <c:ser>
          <c:idx val="1"/>
          <c:order val="1"/>
          <c:tx>
            <c:strRef>
              <c:f>Sheet1!$C$15</c:f>
              <c:strCache>
                <c:ptCount val="1"/>
                <c:pt idx="0">
                  <c:v>Winback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Sheet1!$D$13:$I$13</c:f>
              <c:strCache>
                <c:ptCount val="6"/>
                <c:pt idx="0">
                  <c:v>&gt;=7D Inactive</c:v>
                </c:pt>
                <c:pt idx="1">
                  <c:v>&gt;=15D inactive</c:v>
                </c:pt>
                <c:pt idx="2">
                  <c:v>&gt;=30D inactive </c:v>
                </c:pt>
                <c:pt idx="3">
                  <c:v>&gt;=60D inactive </c:v>
                </c:pt>
                <c:pt idx="4">
                  <c:v>&gt;=90day inactive</c:v>
                </c:pt>
                <c:pt idx="5">
                  <c:v>Churned base</c:v>
                </c:pt>
              </c:strCache>
            </c:strRef>
          </c:cat>
          <c:val>
            <c:numRef>
              <c:f>Sheet1!$D$15:$I$15</c:f>
              <c:numCache>
                <c:formatCode>_(* #,##0_);_(* \(#,##0\);_(* "-"??_);_(@_)</c:formatCode>
                <c:ptCount val="6"/>
                <c:pt idx="0" formatCode="General">
                  <c:v>0</c:v>
                </c:pt>
                <c:pt idx="1">
                  <c:v>248363</c:v>
                </c:pt>
                <c:pt idx="2">
                  <c:v>385394</c:v>
                </c:pt>
                <c:pt idx="3">
                  <c:v>187554</c:v>
                </c:pt>
                <c:pt idx="4">
                  <c:v>248564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42-4CB4-A0E2-4DAF8372D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73879248"/>
        <c:axId val="1538958624"/>
      </c:barChart>
      <c:lineChart>
        <c:grouping val="standard"/>
        <c:varyColors val="0"/>
        <c:ser>
          <c:idx val="2"/>
          <c:order val="2"/>
          <c:tx>
            <c:strRef>
              <c:f>Sheet1!$C$16</c:f>
              <c:strCache>
                <c:ptCount val="1"/>
                <c:pt idx="0">
                  <c:v>Winback %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Sheet1!$D$13:$I$13</c:f>
              <c:strCache>
                <c:ptCount val="6"/>
                <c:pt idx="0">
                  <c:v>&gt;=7D Inactive</c:v>
                </c:pt>
                <c:pt idx="1">
                  <c:v>&gt;=15D inactive</c:v>
                </c:pt>
                <c:pt idx="2">
                  <c:v>&gt;=30D inactive </c:v>
                </c:pt>
                <c:pt idx="3">
                  <c:v>&gt;=60D inactive </c:v>
                </c:pt>
                <c:pt idx="4">
                  <c:v>&gt;=90day inactive</c:v>
                </c:pt>
                <c:pt idx="5">
                  <c:v>Churned base</c:v>
                </c:pt>
              </c:strCache>
            </c:strRef>
          </c:cat>
          <c:val>
            <c:numRef>
              <c:f>Sheet1!$D$16:$I$16</c:f>
              <c:numCache>
                <c:formatCode>0.0%</c:formatCode>
                <c:ptCount val="6"/>
                <c:pt idx="0">
                  <c:v>0</c:v>
                </c:pt>
                <c:pt idx="1">
                  <c:v>0.23121860302304711</c:v>
                </c:pt>
                <c:pt idx="2">
                  <c:v>0.35879040877048601</c:v>
                </c:pt>
                <c:pt idx="3">
                  <c:v>0.17460722358557665</c:v>
                </c:pt>
                <c:pt idx="4">
                  <c:v>0.23140572807471596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42-4CB4-A0E2-4DAF8372D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3876848"/>
        <c:axId val="1538835904"/>
      </c:lineChart>
      <c:catAx>
        <c:axId val="1573879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8958624"/>
        <c:crosses val="autoZero"/>
        <c:auto val="1"/>
        <c:lblAlgn val="ctr"/>
        <c:lblOffset val="100"/>
        <c:noMultiLvlLbl val="0"/>
      </c:catAx>
      <c:valAx>
        <c:axId val="1538958624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3879248"/>
        <c:crosses val="autoZero"/>
        <c:crossBetween val="between"/>
      </c:valAx>
      <c:valAx>
        <c:axId val="1538835904"/>
        <c:scaling>
          <c:orientation val="minMax"/>
        </c:scaling>
        <c:delete val="0"/>
        <c:axPos val="r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3876848"/>
        <c:crosses val="max"/>
        <c:crossBetween val="between"/>
      </c:valAx>
      <c:catAx>
        <c:axId val="15738768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5388359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baseline="0" dirty="0">
                <a:effectLst/>
              </a:rPr>
              <a:t>Data Usage Drop</a:t>
            </a:r>
            <a:endParaRPr lang="en-US" sz="1600" b="1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GT50%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5 Days Prior</c:v>
                </c:pt>
                <c:pt idx="1">
                  <c:v>9 Days prior</c:v>
                </c:pt>
                <c:pt idx="2">
                  <c:v>11 Days prior 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0.86668878887805822</c:v>
                </c:pt>
                <c:pt idx="1">
                  <c:v>0.82920684958970214</c:v>
                </c:pt>
                <c:pt idx="2">
                  <c:v>0.81938320509363916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7F-41CB-928D-D99982C92A9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GT70%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5 Days Prior</c:v>
                </c:pt>
                <c:pt idx="1">
                  <c:v>9 Days prior</c:v>
                </c:pt>
                <c:pt idx="2">
                  <c:v>11 Days prior </c:v>
                </c:pt>
              </c:strCache>
            </c:strRef>
          </c:cat>
          <c:val>
            <c:numRef>
              <c:f>Sheet1!$D$2:$D$4</c:f>
              <c:numCache>
                <c:formatCode>0.0%</c:formatCode>
                <c:ptCount val="3"/>
                <c:pt idx="0">
                  <c:v>0.84624233499941237</c:v>
                </c:pt>
                <c:pt idx="1">
                  <c:v>0.80444241657506688</c:v>
                </c:pt>
                <c:pt idx="2">
                  <c:v>0.79386246897705515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7F-41CB-928D-D99982C92A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5413327"/>
        <c:axId val="470473599"/>
      </c:barChart>
      <c:catAx>
        <c:axId val="485413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473599"/>
        <c:crosses val="autoZero"/>
        <c:auto val="1"/>
        <c:lblAlgn val="ctr"/>
        <c:lblOffset val="100"/>
        <c:noMultiLvlLbl val="0"/>
      </c:catAx>
      <c:valAx>
        <c:axId val="47047359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Inactive base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%" sourceLinked="0"/>
        <c:majorTickMark val="none"/>
        <c:minorTickMark val="none"/>
        <c:tickLblPos val="nextTo"/>
        <c:crossAx val="485413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814885050363472"/>
          <c:y val="0.872620145825169"/>
          <c:w val="0.40099142057504594"/>
          <c:h val="9.8499830585688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+mn-lt"/>
                <a:ea typeface="+mn-ea"/>
                <a:cs typeface="+mn-cs"/>
              </a:rPr>
              <a:t>Outgoing Usage Drop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GT50%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5 Days Prior</c:v>
                </c:pt>
                <c:pt idx="1">
                  <c:v>9 Days prior</c:v>
                </c:pt>
                <c:pt idx="2">
                  <c:v>11 Days prior 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0.94695923291231998</c:v>
                </c:pt>
                <c:pt idx="1">
                  <c:v>0.92954075671789338</c:v>
                </c:pt>
                <c:pt idx="2">
                  <c:v>0.92411113645947829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44-4CB7-A953-FD8EF932BE2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GT70%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5 Days Prior</c:v>
                </c:pt>
                <c:pt idx="1">
                  <c:v>9 Days prior</c:v>
                </c:pt>
                <c:pt idx="2">
                  <c:v>11 Days prior </c:v>
                </c:pt>
              </c:strCache>
            </c:strRef>
          </c:cat>
          <c:val>
            <c:numRef>
              <c:f>Sheet1!$D$2:$D$4</c:f>
              <c:numCache>
                <c:formatCode>0.0%</c:formatCode>
                <c:ptCount val="3"/>
                <c:pt idx="0">
                  <c:v>0.94124478918223864</c:v>
                </c:pt>
                <c:pt idx="1">
                  <c:v>0.92125184063711973</c:v>
                </c:pt>
                <c:pt idx="2">
                  <c:v>0.91482810350429655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44-4CB7-A953-FD8EF932BE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5413327"/>
        <c:axId val="470473599"/>
      </c:barChart>
      <c:catAx>
        <c:axId val="485413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473599"/>
        <c:crosses val="autoZero"/>
        <c:auto val="1"/>
        <c:lblAlgn val="ctr"/>
        <c:lblOffset val="100"/>
        <c:noMultiLvlLbl val="0"/>
      </c:catAx>
      <c:valAx>
        <c:axId val="47047359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Inactive base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%" sourceLinked="0"/>
        <c:majorTickMark val="none"/>
        <c:minorTickMark val="none"/>
        <c:tickLblPos val="nextTo"/>
        <c:crossAx val="485413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063237143918826"/>
          <c:y val="0.87400170875894545"/>
          <c:w val="0.40028774308996817"/>
          <c:h val="9.74315006225086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baseline="0" dirty="0">
                <a:effectLst/>
              </a:rPr>
              <a:t>Data Usage Drop</a:t>
            </a:r>
            <a:endParaRPr lang="en-US" sz="1600" b="1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GT50%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5 Days Prior</c:v>
                </c:pt>
                <c:pt idx="1">
                  <c:v>9 Days prior</c:v>
                </c:pt>
                <c:pt idx="2">
                  <c:v>11 Days prior 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0.81347795729030559</c:v>
                </c:pt>
                <c:pt idx="1">
                  <c:v>0.78855037296665764</c:v>
                </c:pt>
                <c:pt idx="2">
                  <c:v>0.77996142439388594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7F-41CB-928D-D99982C92A9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GT70%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5 Days Prior</c:v>
                </c:pt>
                <c:pt idx="1">
                  <c:v>9 Days prior</c:v>
                </c:pt>
                <c:pt idx="2">
                  <c:v>11 Days prior </c:v>
                </c:pt>
              </c:strCache>
            </c:strRef>
          </c:cat>
          <c:val>
            <c:numRef>
              <c:f>Sheet1!$D$2:$D$4</c:f>
              <c:numCache>
                <c:formatCode>0.0%</c:formatCode>
                <c:ptCount val="3"/>
                <c:pt idx="0">
                  <c:v>0.78214737540701418</c:v>
                </c:pt>
                <c:pt idx="1">
                  <c:v>0.7544088875984265</c:v>
                </c:pt>
                <c:pt idx="2">
                  <c:v>0.74364228384179853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7F-41CB-928D-D99982C92A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5413327"/>
        <c:axId val="470473599"/>
      </c:barChart>
      <c:catAx>
        <c:axId val="485413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473599"/>
        <c:crosses val="autoZero"/>
        <c:auto val="1"/>
        <c:lblAlgn val="ctr"/>
        <c:lblOffset val="100"/>
        <c:noMultiLvlLbl val="0"/>
      </c:catAx>
      <c:valAx>
        <c:axId val="47047359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Inactive base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%" sourceLinked="0"/>
        <c:majorTickMark val="none"/>
        <c:minorTickMark val="none"/>
        <c:tickLblPos val="nextTo"/>
        <c:crossAx val="485413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814885050363472"/>
          <c:y val="0.872620145825169"/>
          <c:w val="0.40099142057504594"/>
          <c:h val="9.8499830585688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  <a:latin typeface="+mn-lt"/>
                <a:ea typeface="+mn-ea"/>
                <a:cs typeface="+mn-cs"/>
              </a:rPr>
              <a:t>Outgoing Usage Drop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GT50%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5 Days Prior</c:v>
                </c:pt>
                <c:pt idx="1">
                  <c:v>9 Days prior</c:v>
                </c:pt>
                <c:pt idx="2">
                  <c:v>11 Days prior 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0.90292082322279144</c:v>
                </c:pt>
                <c:pt idx="1">
                  <c:v>0.88168488292510938</c:v>
                </c:pt>
                <c:pt idx="2">
                  <c:v>0.87566349351197015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44-4CB7-A953-FD8EF932BE2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GT70%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5 Days Prior</c:v>
                </c:pt>
                <c:pt idx="1">
                  <c:v>9 Days prior</c:v>
                </c:pt>
                <c:pt idx="2">
                  <c:v>11 Days prior </c:v>
                </c:pt>
              </c:strCache>
            </c:strRef>
          </c:cat>
          <c:val>
            <c:numRef>
              <c:f>Sheet1!$D$2:$D$4</c:f>
              <c:numCache>
                <c:formatCode>0.0%</c:formatCode>
                <c:ptCount val="3"/>
                <c:pt idx="0">
                  <c:v>0.88848884556622487</c:v>
                </c:pt>
                <c:pt idx="1">
                  <c:v>0.8640313582346475</c:v>
                </c:pt>
                <c:pt idx="2">
                  <c:v>0.85596504690600139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44-4CB7-A953-FD8EF932BE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5413327"/>
        <c:axId val="470473599"/>
      </c:barChart>
      <c:catAx>
        <c:axId val="485413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473599"/>
        <c:crosses val="autoZero"/>
        <c:auto val="1"/>
        <c:lblAlgn val="ctr"/>
        <c:lblOffset val="100"/>
        <c:noMultiLvlLbl val="0"/>
      </c:catAx>
      <c:valAx>
        <c:axId val="47047359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Inactive base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%" sourceLinked="0"/>
        <c:majorTickMark val="none"/>
        <c:minorTickMark val="none"/>
        <c:tickLblPos val="nextTo"/>
        <c:crossAx val="485413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063237143918826"/>
          <c:y val="0.87400170875894545"/>
          <c:w val="0.40028774308996817"/>
          <c:h val="9.74315006225086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3D9790-D4CF-4916-964C-7DDEFE01212D}" type="doc">
      <dgm:prSet loTypeId="urn:microsoft.com/office/officeart/2005/8/layout/hierarchy4" loCatId="hierarchy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5247755-B885-4F0E-AA7D-9950AE402DFE}">
      <dgm:prSet phldrT="[Text]" custT="1"/>
      <dgm:spPr/>
      <dgm:t>
        <a:bodyPr/>
        <a:lstStyle/>
        <a:p>
          <a:r>
            <a:rPr lang="en-US" sz="1800" b="1" dirty="0"/>
            <a:t>Overall Base</a:t>
          </a:r>
        </a:p>
        <a:p>
          <a:r>
            <a:rPr lang="en-US" sz="1800" b="1" dirty="0"/>
            <a:t>41.5 MN</a:t>
          </a:r>
        </a:p>
      </dgm:t>
    </dgm:pt>
    <dgm:pt modelId="{C5AC0D09-0F41-46ED-90E6-5844AE131530}" type="parTrans" cxnId="{8411B7BE-D492-44DE-81CB-1C4F9AE26DCC}">
      <dgm:prSet/>
      <dgm:spPr/>
      <dgm:t>
        <a:bodyPr/>
        <a:lstStyle/>
        <a:p>
          <a:endParaRPr lang="en-US" sz="3200" b="1"/>
        </a:p>
      </dgm:t>
    </dgm:pt>
    <dgm:pt modelId="{F4795548-DFF9-47CB-82FB-362685DEA8F0}" type="sibTrans" cxnId="{8411B7BE-D492-44DE-81CB-1C4F9AE26DCC}">
      <dgm:prSet/>
      <dgm:spPr/>
      <dgm:t>
        <a:bodyPr/>
        <a:lstStyle/>
        <a:p>
          <a:endParaRPr lang="en-US" sz="3200" b="1"/>
        </a:p>
      </dgm:t>
    </dgm:pt>
    <dgm:pt modelId="{69EB13F0-2250-4EDC-8421-1ECCC7475442}">
      <dgm:prSet phldrT="[Text]" custT="1"/>
      <dgm:spPr/>
      <dgm:t>
        <a:bodyPr/>
        <a:lstStyle/>
        <a:p>
          <a:r>
            <a:rPr lang="en-US" sz="1800" b="1" dirty="0"/>
            <a:t>Consumer Type = “Consumer”</a:t>
          </a:r>
        </a:p>
        <a:p>
          <a:r>
            <a:rPr lang="en-US" sz="1800" b="1" dirty="0"/>
            <a:t>35.3 MN</a:t>
          </a:r>
        </a:p>
      </dgm:t>
    </dgm:pt>
    <dgm:pt modelId="{FB78C6EB-DB6D-4546-B11C-BC30EBAB63E6}" type="parTrans" cxnId="{5D8D5CB5-3B59-49D1-89F8-FA2614915A41}">
      <dgm:prSet/>
      <dgm:spPr/>
      <dgm:t>
        <a:bodyPr/>
        <a:lstStyle/>
        <a:p>
          <a:endParaRPr lang="en-US" sz="3200" b="1"/>
        </a:p>
      </dgm:t>
    </dgm:pt>
    <dgm:pt modelId="{F44A88EC-A5C6-4C40-A4A9-5CC1E6B0C21E}" type="sibTrans" cxnId="{5D8D5CB5-3B59-49D1-89F8-FA2614915A41}">
      <dgm:prSet/>
      <dgm:spPr/>
      <dgm:t>
        <a:bodyPr/>
        <a:lstStyle/>
        <a:p>
          <a:endParaRPr lang="en-US" sz="3200" b="1"/>
        </a:p>
      </dgm:t>
    </dgm:pt>
    <dgm:pt modelId="{58001493-C69D-4D8C-BD67-A9929F14E408}">
      <dgm:prSet phldrT="[Text]" custT="1"/>
      <dgm:spPr/>
      <dgm:t>
        <a:bodyPr/>
        <a:lstStyle/>
        <a:p>
          <a:r>
            <a:rPr lang="en-US" sz="1800" b="1" dirty="0"/>
            <a:t>Subscriber Type = “Prepaid“ </a:t>
          </a:r>
        </a:p>
        <a:p>
          <a:r>
            <a:rPr lang="en-US" sz="1800" b="1" dirty="0"/>
            <a:t>33.3 MN</a:t>
          </a:r>
        </a:p>
      </dgm:t>
    </dgm:pt>
    <dgm:pt modelId="{90A9A614-F272-4CDD-ADE9-67B3210875BE}" type="parTrans" cxnId="{7E79DA22-9832-4460-8136-0898B64D52F3}">
      <dgm:prSet/>
      <dgm:spPr/>
      <dgm:t>
        <a:bodyPr/>
        <a:lstStyle/>
        <a:p>
          <a:endParaRPr lang="en-US" sz="3200" b="1"/>
        </a:p>
      </dgm:t>
    </dgm:pt>
    <dgm:pt modelId="{33AFF73A-81C9-406D-BB61-C18F168BA763}" type="sibTrans" cxnId="{7E79DA22-9832-4460-8136-0898B64D52F3}">
      <dgm:prSet/>
      <dgm:spPr/>
      <dgm:t>
        <a:bodyPr/>
        <a:lstStyle/>
        <a:p>
          <a:endParaRPr lang="en-US" sz="3200" b="1"/>
        </a:p>
      </dgm:t>
    </dgm:pt>
    <dgm:pt modelId="{AD361C2B-B747-43CB-A089-929253487BB0}">
      <dgm:prSet phldrT="[Text]" custT="1"/>
      <dgm:spPr/>
      <dgm:t>
        <a:bodyPr/>
        <a:lstStyle/>
        <a:p>
          <a:r>
            <a:rPr lang="en-US" sz="1800" b="1" dirty="0"/>
            <a:t>Status = “Active”   </a:t>
          </a:r>
        </a:p>
        <a:p>
          <a:r>
            <a:rPr lang="en-US" sz="1800" b="1" dirty="0"/>
            <a:t>25.0 MN</a:t>
          </a:r>
        </a:p>
      </dgm:t>
    </dgm:pt>
    <dgm:pt modelId="{51C33D7C-1BCD-43D5-87C5-337B7908F279}" type="parTrans" cxnId="{6B79F46D-AFB5-4B14-912D-21BC689252D6}">
      <dgm:prSet/>
      <dgm:spPr/>
      <dgm:t>
        <a:bodyPr/>
        <a:lstStyle/>
        <a:p>
          <a:endParaRPr lang="en-US" sz="3200" b="1"/>
        </a:p>
      </dgm:t>
    </dgm:pt>
    <dgm:pt modelId="{0E9BE488-F745-4C83-8A6D-865470D8A4B8}" type="sibTrans" cxnId="{6B79F46D-AFB5-4B14-912D-21BC689252D6}">
      <dgm:prSet/>
      <dgm:spPr/>
      <dgm:t>
        <a:bodyPr/>
        <a:lstStyle/>
        <a:p>
          <a:endParaRPr lang="en-US" sz="3200" b="1"/>
        </a:p>
      </dgm:t>
    </dgm:pt>
    <dgm:pt modelId="{B78B0671-4555-48A3-8D1D-369FE98ED9D7}">
      <dgm:prSet phldrT="[Text]" custT="1"/>
      <dgm:spPr/>
      <dgm:t>
        <a:bodyPr/>
        <a:lstStyle/>
        <a:p>
          <a:r>
            <a:rPr lang="en-US" sz="1800" b="1" dirty="0"/>
            <a:t>Tenure &gt;= 90 </a:t>
          </a:r>
        </a:p>
        <a:p>
          <a:r>
            <a:rPr lang="en-US" sz="1800" b="1" dirty="0"/>
            <a:t> 19.3 MN</a:t>
          </a:r>
        </a:p>
      </dgm:t>
    </dgm:pt>
    <dgm:pt modelId="{B7D9E753-2322-423D-BA38-93D268BF0A92}" type="parTrans" cxnId="{589CB1FD-17F4-4AEF-A35E-71DDFF57D144}">
      <dgm:prSet/>
      <dgm:spPr/>
      <dgm:t>
        <a:bodyPr/>
        <a:lstStyle/>
        <a:p>
          <a:endParaRPr lang="en-US" sz="3200" b="1"/>
        </a:p>
      </dgm:t>
    </dgm:pt>
    <dgm:pt modelId="{BE025AB5-8298-4AF0-846E-A680B275E8DF}" type="sibTrans" cxnId="{589CB1FD-17F4-4AEF-A35E-71DDFF57D144}">
      <dgm:prSet/>
      <dgm:spPr/>
      <dgm:t>
        <a:bodyPr/>
        <a:lstStyle/>
        <a:p>
          <a:endParaRPr lang="en-US" sz="3200" b="1"/>
        </a:p>
      </dgm:t>
    </dgm:pt>
    <dgm:pt modelId="{FCCEB222-BEE1-49AB-84BC-1E357E21AB3A}">
      <dgm:prSet phldrT="[Text]" custT="1"/>
      <dgm:spPr/>
      <dgm:t>
        <a:bodyPr/>
        <a:lstStyle/>
        <a:p>
          <a:r>
            <a:rPr lang="en-US" sz="1800" b="1" dirty="0"/>
            <a:t>Tenure &lt; 90</a:t>
          </a:r>
        </a:p>
        <a:p>
          <a:r>
            <a:rPr lang="en-US" sz="1800" b="1" dirty="0"/>
            <a:t> 5.7 MN</a:t>
          </a:r>
        </a:p>
      </dgm:t>
    </dgm:pt>
    <dgm:pt modelId="{833B056E-33A5-4E51-9309-DEBA2A9A1C81}" type="parTrans" cxnId="{1967B10D-9AE5-4403-874C-72E3DAFED59C}">
      <dgm:prSet/>
      <dgm:spPr/>
      <dgm:t>
        <a:bodyPr/>
        <a:lstStyle/>
        <a:p>
          <a:endParaRPr lang="en-US" sz="3200" b="1"/>
        </a:p>
      </dgm:t>
    </dgm:pt>
    <dgm:pt modelId="{64074616-0ADE-4279-81EA-C4722786C3D5}" type="sibTrans" cxnId="{1967B10D-9AE5-4403-874C-72E3DAFED59C}">
      <dgm:prSet/>
      <dgm:spPr/>
      <dgm:t>
        <a:bodyPr/>
        <a:lstStyle/>
        <a:p>
          <a:endParaRPr lang="en-US" sz="3200" b="1"/>
        </a:p>
      </dgm:t>
    </dgm:pt>
    <dgm:pt modelId="{D5B7A2CC-B092-432E-8542-CF4964A6BB03}" type="pres">
      <dgm:prSet presAssocID="{013D9790-D4CF-4916-964C-7DDEFE01212D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8AE9C6-D32F-4227-9CEB-3A86563CB50C}" type="pres">
      <dgm:prSet presAssocID="{45247755-B885-4F0E-AA7D-9950AE402DFE}" presName="vertOne" presStyleCnt="0"/>
      <dgm:spPr/>
    </dgm:pt>
    <dgm:pt modelId="{112ACCF9-E317-44BC-AB43-1A9EF7293183}" type="pres">
      <dgm:prSet presAssocID="{45247755-B885-4F0E-AA7D-9950AE402DFE}" presName="txOne" presStyleLbl="node0" presStyleIdx="0" presStyleCnt="1">
        <dgm:presLayoutVars>
          <dgm:chPref val="3"/>
        </dgm:presLayoutVars>
      </dgm:prSet>
      <dgm:spPr/>
    </dgm:pt>
    <dgm:pt modelId="{78FD52F6-57E6-46AB-BC68-A9866FF7FE5A}" type="pres">
      <dgm:prSet presAssocID="{45247755-B885-4F0E-AA7D-9950AE402DFE}" presName="parTransOne" presStyleCnt="0"/>
      <dgm:spPr/>
    </dgm:pt>
    <dgm:pt modelId="{4328E2DE-B80A-479B-88ED-74DF11C57AEB}" type="pres">
      <dgm:prSet presAssocID="{45247755-B885-4F0E-AA7D-9950AE402DFE}" presName="horzOne" presStyleCnt="0"/>
      <dgm:spPr/>
    </dgm:pt>
    <dgm:pt modelId="{4CB40FFC-3F66-47C1-A49E-CDA708D5D776}" type="pres">
      <dgm:prSet presAssocID="{69EB13F0-2250-4EDC-8421-1ECCC7475442}" presName="vertTwo" presStyleCnt="0"/>
      <dgm:spPr/>
    </dgm:pt>
    <dgm:pt modelId="{7E097FDC-5AB6-45AB-B99A-5002CB7482A4}" type="pres">
      <dgm:prSet presAssocID="{69EB13F0-2250-4EDC-8421-1ECCC7475442}" presName="txTwo" presStyleLbl="node2" presStyleIdx="0" presStyleCnt="1">
        <dgm:presLayoutVars>
          <dgm:chPref val="3"/>
        </dgm:presLayoutVars>
      </dgm:prSet>
      <dgm:spPr/>
    </dgm:pt>
    <dgm:pt modelId="{A9926EBA-91CC-4888-8C30-09121BBD5B1F}" type="pres">
      <dgm:prSet presAssocID="{69EB13F0-2250-4EDC-8421-1ECCC7475442}" presName="parTransTwo" presStyleCnt="0"/>
      <dgm:spPr/>
    </dgm:pt>
    <dgm:pt modelId="{20F1013F-84E8-41D7-8FA0-A700AC43FF37}" type="pres">
      <dgm:prSet presAssocID="{69EB13F0-2250-4EDC-8421-1ECCC7475442}" presName="horzTwo" presStyleCnt="0"/>
      <dgm:spPr/>
    </dgm:pt>
    <dgm:pt modelId="{E19C3394-689C-4B53-882B-E34F3C9E19F7}" type="pres">
      <dgm:prSet presAssocID="{58001493-C69D-4D8C-BD67-A9929F14E408}" presName="vertThree" presStyleCnt="0"/>
      <dgm:spPr/>
    </dgm:pt>
    <dgm:pt modelId="{E4AB2956-2926-4667-9F19-1D571BEE4431}" type="pres">
      <dgm:prSet presAssocID="{58001493-C69D-4D8C-BD67-A9929F14E408}" presName="txThree" presStyleLbl="node3" presStyleIdx="0" presStyleCnt="1">
        <dgm:presLayoutVars>
          <dgm:chPref val="3"/>
        </dgm:presLayoutVars>
      </dgm:prSet>
      <dgm:spPr/>
    </dgm:pt>
    <dgm:pt modelId="{A2C362A4-23E6-49EE-907F-949598B3D018}" type="pres">
      <dgm:prSet presAssocID="{58001493-C69D-4D8C-BD67-A9929F14E408}" presName="parTransThree" presStyleCnt="0"/>
      <dgm:spPr/>
    </dgm:pt>
    <dgm:pt modelId="{FDE9313F-DA9D-40E0-B1CB-C976D3AD4091}" type="pres">
      <dgm:prSet presAssocID="{58001493-C69D-4D8C-BD67-A9929F14E408}" presName="horzThree" presStyleCnt="0"/>
      <dgm:spPr/>
    </dgm:pt>
    <dgm:pt modelId="{8365B5A7-1113-4AA7-B35A-1B9A81098BBE}" type="pres">
      <dgm:prSet presAssocID="{AD361C2B-B747-43CB-A089-929253487BB0}" presName="vertFour" presStyleCnt="0">
        <dgm:presLayoutVars>
          <dgm:chPref val="3"/>
        </dgm:presLayoutVars>
      </dgm:prSet>
      <dgm:spPr/>
    </dgm:pt>
    <dgm:pt modelId="{5575C818-99B9-4DA1-995B-CADD3B21926A}" type="pres">
      <dgm:prSet presAssocID="{AD361C2B-B747-43CB-A089-929253487BB0}" presName="txFour" presStyleLbl="node4" presStyleIdx="0" presStyleCnt="3">
        <dgm:presLayoutVars>
          <dgm:chPref val="3"/>
        </dgm:presLayoutVars>
      </dgm:prSet>
      <dgm:spPr/>
    </dgm:pt>
    <dgm:pt modelId="{272FE7AD-272C-4BF0-A074-DBA24F8C736C}" type="pres">
      <dgm:prSet presAssocID="{AD361C2B-B747-43CB-A089-929253487BB0}" presName="parTransFour" presStyleCnt="0"/>
      <dgm:spPr/>
    </dgm:pt>
    <dgm:pt modelId="{276157C8-1160-4DF1-86B4-537C094A3960}" type="pres">
      <dgm:prSet presAssocID="{AD361C2B-B747-43CB-A089-929253487BB0}" presName="horzFour" presStyleCnt="0"/>
      <dgm:spPr/>
    </dgm:pt>
    <dgm:pt modelId="{CE8C394D-3615-4A24-B799-960F4AD53116}" type="pres">
      <dgm:prSet presAssocID="{B78B0671-4555-48A3-8D1D-369FE98ED9D7}" presName="vertFour" presStyleCnt="0">
        <dgm:presLayoutVars>
          <dgm:chPref val="3"/>
        </dgm:presLayoutVars>
      </dgm:prSet>
      <dgm:spPr/>
    </dgm:pt>
    <dgm:pt modelId="{D82A096F-D234-438F-B403-B37742FC421F}" type="pres">
      <dgm:prSet presAssocID="{B78B0671-4555-48A3-8D1D-369FE98ED9D7}" presName="txFour" presStyleLbl="node4" presStyleIdx="1" presStyleCnt="3">
        <dgm:presLayoutVars>
          <dgm:chPref val="3"/>
        </dgm:presLayoutVars>
      </dgm:prSet>
      <dgm:spPr/>
    </dgm:pt>
    <dgm:pt modelId="{F05C5F15-262F-445B-A30B-70D8DD51E7E2}" type="pres">
      <dgm:prSet presAssocID="{B78B0671-4555-48A3-8D1D-369FE98ED9D7}" presName="horzFour" presStyleCnt="0"/>
      <dgm:spPr/>
    </dgm:pt>
    <dgm:pt modelId="{B1D6D11C-6524-4160-B30E-942C9B759A9A}" type="pres">
      <dgm:prSet presAssocID="{BE025AB5-8298-4AF0-846E-A680B275E8DF}" presName="sibSpaceFour" presStyleCnt="0"/>
      <dgm:spPr/>
    </dgm:pt>
    <dgm:pt modelId="{8FC24681-0073-4808-A44D-A2605F33B505}" type="pres">
      <dgm:prSet presAssocID="{FCCEB222-BEE1-49AB-84BC-1E357E21AB3A}" presName="vertFour" presStyleCnt="0">
        <dgm:presLayoutVars>
          <dgm:chPref val="3"/>
        </dgm:presLayoutVars>
      </dgm:prSet>
      <dgm:spPr/>
    </dgm:pt>
    <dgm:pt modelId="{26683232-2110-47E0-B8B0-0735FE0C8DB7}" type="pres">
      <dgm:prSet presAssocID="{FCCEB222-BEE1-49AB-84BC-1E357E21AB3A}" presName="txFour" presStyleLbl="node4" presStyleIdx="2" presStyleCnt="3">
        <dgm:presLayoutVars>
          <dgm:chPref val="3"/>
        </dgm:presLayoutVars>
      </dgm:prSet>
      <dgm:spPr/>
    </dgm:pt>
    <dgm:pt modelId="{3D1B50C2-3A09-4CCB-A128-B69E3C88C919}" type="pres">
      <dgm:prSet presAssocID="{FCCEB222-BEE1-49AB-84BC-1E357E21AB3A}" presName="horzFour" presStyleCnt="0"/>
      <dgm:spPr/>
    </dgm:pt>
  </dgm:ptLst>
  <dgm:cxnLst>
    <dgm:cxn modelId="{1967B10D-9AE5-4403-874C-72E3DAFED59C}" srcId="{AD361C2B-B747-43CB-A089-929253487BB0}" destId="{FCCEB222-BEE1-49AB-84BC-1E357E21AB3A}" srcOrd="1" destOrd="0" parTransId="{833B056E-33A5-4E51-9309-DEBA2A9A1C81}" sibTransId="{64074616-0ADE-4279-81EA-C4722786C3D5}"/>
    <dgm:cxn modelId="{FAF53E13-A21A-430D-807B-DBF18347A737}" type="presOf" srcId="{B78B0671-4555-48A3-8D1D-369FE98ED9D7}" destId="{D82A096F-D234-438F-B403-B37742FC421F}" srcOrd="0" destOrd="0" presId="urn:microsoft.com/office/officeart/2005/8/layout/hierarchy4"/>
    <dgm:cxn modelId="{7E79DA22-9832-4460-8136-0898B64D52F3}" srcId="{69EB13F0-2250-4EDC-8421-1ECCC7475442}" destId="{58001493-C69D-4D8C-BD67-A9929F14E408}" srcOrd="0" destOrd="0" parTransId="{90A9A614-F272-4CDD-ADE9-67B3210875BE}" sibTransId="{33AFF73A-81C9-406D-BB61-C18F168BA763}"/>
    <dgm:cxn modelId="{D1728A61-CDA8-4CEA-914A-202EB45CF39A}" type="presOf" srcId="{FCCEB222-BEE1-49AB-84BC-1E357E21AB3A}" destId="{26683232-2110-47E0-B8B0-0735FE0C8DB7}" srcOrd="0" destOrd="0" presId="urn:microsoft.com/office/officeart/2005/8/layout/hierarchy4"/>
    <dgm:cxn modelId="{E7C7C067-E0B6-4894-B6A4-C573F14F3BF3}" type="presOf" srcId="{AD361C2B-B747-43CB-A089-929253487BB0}" destId="{5575C818-99B9-4DA1-995B-CADD3B21926A}" srcOrd="0" destOrd="0" presId="urn:microsoft.com/office/officeart/2005/8/layout/hierarchy4"/>
    <dgm:cxn modelId="{6B79F46D-AFB5-4B14-912D-21BC689252D6}" srcId="{58001493-C69D-4D8C-BD67-A9929F14E408}" destId="{AD361C2B-B747-43CB-A089-929253487BB0}" srcOrd="0" destOrd="0" parTransId="{51C33D7C-1BCD-43D5-87C5-337B7908F279}" sibTransId="{0E9BE488-F745-4C83-8A6D-865470D8A4B8}"/>
    <dgm:cxn modelId="{96B2A77D-307B-4300-8ABE-2F016E0C0944}" type="presOf" srcId="{45247755-B885-4F0E-AA7D-9950AE402DFE}" destId="{112ACCF9-E317-44BC-AB43-1A9EF7293183}" srcOrd="0" destOrd="0" presId="urn:microsoft.com/office/officeart/2005/8/layout/hierarchy4"/>
    <dgm:cxn modelId="{6A4CF59B-D106-46A4-AC06-33B4AF8290F0}" type="presOf" srcId="{69EB13F0-2250-4EDC-8421-1ECCC7475442}" destId="{7E097FDC-5AB6-45AB-B99A-5002CB7482A4}" srcOrd="0" destOrd="0" presId="urn:microsoft.com/office/officeart/2005/8/layout/hierarchy4"/>
    <dgm:cxn modelId="{5D8D5CB5-3B59-49D1-89F8-FA2614915A41}" srcId="{45247755-B885-4F0E-AA7D-9950AE402DFE}" destId="{69EB13F0-2250-4EDC-8421-1ECCC7475442}" srcOrd="0" destOrd="0" parTransId="{FB78C6EB-DB6D-4546-B11C-BC30EBAB63E6}" sibTransId="{F44A88EC-A5C6-4C40-A4A9-5CC1E6B0C21E}"/>
    <dgm:cxn modelId="{8411B7BE-D492-44DE-81CB-1C4F9AE26DCC}" srcId="{013D9790-D4CF-4916-964C-7DDEFE01212D}" destId="{45247755-B885-4F0E-AA7D-9950AE402DFE}" srcOrd="0" destOrd="0" parTransId="{C5AC0D09-0F41-46ED-90E6-5844AE131530}" sibTransId="{F4795548-DFF9-47CB-82FB-362685DEA8F0}"/>
    <dgm:cxn modelId="{E3561FF1-BBD7-46C8-AAD0-0E6160B53DEF}" type="presOf" srcId="{013D9790-D4CF-4916-964C-7DDEFE01212D}" destId="{D5B7A2CC-B092-432E-8542-CF4964A6BB03}" srcOrd="0" destOrd="0" presId="urn:microsoft.com/office/officeart/2005/8/layout/hierarchy4"/>
    <dgm:cxn modelId="{589CB1FD-17F4-4AEF-A35E-71DDFF57D144}" srcId="{AD361C2B-B747-43CB-A089-929253487BB0}" destId="{B78B0671-4555-48A3-8D1D-369FE98ED9D7}" srcOrd="0" destOrd="0" parTransId="{B7D9E753-2322-423D-BA38-93D268BF0A92}" sibTransId="{BE025AB5-8298-4AF0-846E-A680B275E8DF}"/>
    <dgm:cxn modelId="{DAE56EFF-F312-4ECF-861D-4679D3397260}" type="presOf" srcId="{58001493-C69D-4D8C-BD67-A9929F14E408}" destId="{E4AB2956-2926-4667-9F19-1D571BEE4431}" srcOrd="0" destOrd="0" presId="urn:microsoft.com/office/officeart/2005/8/layout/hierarchy4"/>
    <dgm:cxn modelId="{B2AB041C-0066-45AC-AEAE-2675F0DF921A}" type="presParOf" srcId="{D5B7A2CC-B092-432E-8542-CF4964A6BB03}" destId="{A78AE9C6-D32F-4227-9CEB-3A86563CB50C}" srcOrd="0" destOrd="0" presId="urn:microsoft.com/office/officeart/2005/8/layout/hierarchy4"/>
    <dgm:cxn modelId="{3EC68B06-8FC6-44EE-9D89-38EAB2A20A8C}" type="presParOf" srcId="{A78AE9C6-D32F-4227-9CEB-3A86563CB50C}" destId="{112ACCF9-E317-44BC-AB43-1A9EF7293183}" srcOrd="0" destOrd="0" presId="urn:microsoft.com/office/officeart/2005/8/layout/hierarchy4"/>
    <dgm:cxn modelId="{781405CB-836B-4B64-BFC4-8B68ED6EE736}" type="presParOf" srcId="{A78AE9C6-D32F-4227-9CEB-3A86563CB50C}" destId="{78FD52F6-57E6-46AB-BC68-A9866FF7FE5A}" srcOrd="1" destOrd="0" presId="urn:microsoft.com/office/officeart/2005/8/layout/hierarchy4"/>
    <dgm:cxn modelId="{BB7AAE3D-BC24-488E-8681-0B370AEFB12E}" type="presParOf" srcId="{A78AE9C6-D32F-4227-9CEB-3A86563CB50C}" destId="{4328E2DE-B80A-479B-88ED-74DF11C57AEB}" srcOrd="2" destOrd="0" presId="urn:microsoft.com/office/officeart/2005/8/layout/hierarchy4"/>
    <dgm:cxn modelId="{B2B13BCC-85A9-40AE-ACFF-43415BB60B8D}" type="presParOf" srcId="{4328E2DE-B80A-479B-88ED-74DF11C57AEB}" destId="{4CB40FFC-3F66-47C1-A49E-CDA708D5D776}" srcOrd="0" destOrd="0" presId="urn:microsoft.com/office/officeart/2005/8/layout/hierarchy4"/>
    <dgm:cxn modelId="{52401AF4-7798-4AF9-9ED6-1A578E37CBB9}" type="presParOf" srcId="{4CB40FFC-3F66-47C1-A49E-CDA708D5D776}" destId="{7E097FDC-5AB6-45AB-B99A-5002CB7482A4}" srcOrd="0" destOrd="0" presId="urn:microsoft.com/office/officeart/2005/8/layout/hierarchy4"/>
    <dgm:cxn modelId="{10FF16AD-56EF-47DC-9692-2A6B3DC51C59}" type="presParOf" srcId="{4CB40FFC-3F66-47C1-A49E-CDA708D5D776}" destId="{A9926EBA-91CC-4888-8C30-09121BBD5B1F}" srcOrd="1" destOrd="0" presId="urn:microsoft.com/office/officeart/2005/8/layout/hierarchy4"/>
    <dgm:cxn modelId="{967E8819-E92C-4817-826C-94F23FD65205}" type="presParOf" srcId="{4CB40FFC-3F66-47C1-A49E-CDA708D5D776}" destId="{20F1013F-84E8-41D7-8FA0-A700AC43FF37}" srcOrd="2" destOrd="0" presId="urn:microsoft.com/office/officeart/2005/8/layout/hierarchy4"/>
    <dgm:cxn modelId="{033CF17C-FF5E-4F62-8088-D436C37F893B}" type="presParOf" srcId="{20F1013F-84E8-41D7-8FA0-A700AC43FF37}" destId="{E19C3394-689C-4B53-882B-E34F3C9E19F7}" srcOrd="0" destOrd="0" presId="urn:microsoft.com/office/officeart/2005/8/layout/hierarchy4"/>
    <dgm:cxn modelId="{643E389E-C29F-4137-BF0B-948D2E014605}" type="presParOf" srcId="{E19C3394-689C-4B53-882B-E34F3C9E19F7}" destId="{E4AB2956-2926-4667-9F19-1D571BEE4431}" srcOrd="0" destOrd="0" presId="urn:microsoft.com/office/officeart/2005/8/layout/hierarchy4"/>
    <dgm:cxn modelId="{F71DB0E5-4CF7-46CC-8CBC-C30DC5428135}" type="presParOf" srcId="{E19C3394-689C-4B53-882B-E34F3C9E19F7}" destId="{A2C362A4-23E6-49EE-907F-949598B3D018}" srcOrd="1" destOrd="0" presId="urn:microsoft.com/office/officeart/2005/8/layout/hierarchy4"/>
    <dgm:cxn modelId="{6784B077-F5D3-4066-AA6A-161024183DF1}" type="presParOf" srcId="{E19C3394-689C-4B53-882B-E34F3C9E19F7}" destId="{FDE9313F-DA9D-40E0-B1CB-C976D3AD4091}" srcOrd="2" destOrd="0" presId="urn:microsoft.com/office/officeart/2005/8/layout/hierarchy4"/>
    <dgm:cxn modelId="{A5CB21C1-5987-43FE-9419-190DFE12B34A}" type="presParOf" srcId="{FDE9313F-DA9D-40E0-B1CB-C976D3AD4091}" destId="{8365B5A7-1113-4AA7-B35A-1B9A81098BBE}" srcOrd="0" destOrd="0" presId="urn:microsoft.com/office/officeart/2005/8/layout/hierarchy4"/>
    <dgm:cxn modelId="{7738507F-993C-4E4F-B899-44E83A3854B2}" type="presParOf" srcId="{8365B5A7-1113-4AA7-B35A-1B9A81098BBE}" destId="{5575C818-99B9-4DA1-995B-CADD3B21926A}" srcOrd="0" destOrd="0" presId="urn:microsoft.com/office/officeart/2005/8/layout/hierarchy4"/>
    <dgm:cxn modelId="{CAAFC210-7DD7-4E7B-B613-7E538F1FCD81}" type="presParOf" srcId="{8365B5A7-1113-4AA7-B35A-1B9A81098BBE}" destId="{272FE7AD-272C-4BF0-A074-DBA24F8C736C}" srcOrd="1" destOrd="0" presId="urn:microsoft.com/office/officeart/2005/8/layout/hierarchy4"/>
    <dgm:cxn modelId="{89B99851-A144-49C5-AC5A-61E23FB2E167}" type="presParOf" srcId="{8365B5A7-1113-4AA7-B35A-1B9A81098BBE}" destId="{276157C8-1160-4DF1-86B4-537C094A3960}" srcOrd="2" destOrd="0" presId="urn:microsoft.com/office/officeart/2005/8/layout/hierarchy4"/>
    <dgm:cxn modelId="{4A385661-2E60-4B73-A91E-352188A51BA7}" type="presParOf" srcId="{276157C8-1160-4DF1-86B4-537C094A3960}" destId="{CE8C394D-3615-4A24-B799-960F4AD53116}" srcOrd="0" destOrd="0" presId="urn:microsoft.com/office/officeart/2005/8/layout/hierarchy4"/>
    <dgm:cxn modelId="{B67D1EBD-D8F4-42B6-9E95-283A95EEF1F7}" type="presParOf" srcId="{CE8C394D-3615-4A24-B799-960F4AD53116}" destId="{D82A096F-D234-438F-B403-B37742FC421F}" srcOrd="0" destOrd="0" presId="urn:microsoft.com/office/officeart/2005/8/layout/hierarchy4"/>
    <dgm:cxn modelId="{71E4AB4A-559A-40C2-B0EF-5F7F9A0A6863}" type="presParOf" srcId="{CE8C394D-3615-4A24-B799-960F4AD53116}" destId="{F05C5F15-262F-445B-A30B-70D8DD51E7E2}" srcOrd="1" destOrd="0" presId="urn:microsoft.com/office/officeart/2005/8/layout/hierarchy4"/>
    <dgm:cxn modelId="{80F4B66B-A417-4862-B26D-3EBA4AF823F7}" type="presParOf" srcId="{276157C8-1160-4DF1-86B4-537C094A3960}" destId="{B1D6D11C-6524-4160-B30E-942C9B759A9A}" srcOrd="1" destOrd="0" presId="urn:microsoft.com/office/officeart/2005/8/layout/hierarchy4"/>
    <dgm:cxn modelId="{D937E345-10B9-4B6C-9F74-CB0D344D5315}" type="presParOf" srcId="{276157C8-1160-4DF1-86B4-537C094A3960}" destId="{8FC24681-0073-4808-A44D-A2605F33B505}" srcOrd="2" destOrd="0" presId="urn:microsoft.com/office/officeart/2005/8/layout/hierarchy4"/>
    <dgm:cxn modelId="{072291C7-61EE-45FE-B4BD-5E9DE0E00113}" type="presParOf" srcId="{8FC24681-0073-4808-A44D-A2605F33B505}" destId="{26683232-2110-47E0-B8B0-0735FE0C8DB7}" srcOrd="0" destOrd="0" presId="urn:microsoft.com/office/officeart/2005/8/layout/hierarchy4"/>
    <dgm:cxn modelId="{20A03A49-A7D1-4E1A-8D84-239EB8A013E0}" type="presParOf" srcId="{8FC24681-0073-4808-A44D-A2605F33B505}" destId="{3D1B50C2-3A09-4CCB-A128-B69E3C88C91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2ACCF9-E317-44BC-AB43-1A9EF7293183}">
      <dsp:nvSpPr>
        <dsp:cNvPr id="0" name=""/>
        <dsp:cNvSpPr/>
      </dsp:nvSpPr>
      <dsp:spPr>
        <a:xfrm>
          <a:off x="950" y="1823"/>
          <a:ext cx="5354062" cy="89844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Overall Base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41.5 MN</a:t>
          </a:r>
        </a:p>
      </dsp:txBody>
      <dsp:txXfrm>
        <a:off x="27264" y="28137"/>
        <a:ext cx="5301434" cy="845814"/>
      </dsp:txXfrm>
    </dsp:sp>
    <dsp:sp modelId="{7E097FDC-5AB6-45AB-B99A-5002CB7482A4}">
      <dsp:nvSpPr>
        <dsp:cNvPr id="0" name=""/>
        <dsp:cNvSpPr/>
      </dsp:nvSpPr>
      <dsp:spPr>
        <a:xfrm>
          <a:off x="950" y="957308"/>
          <a:ext cx="5354062" cy="89844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Consumer Type = “Consumer”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35.3 MN</a:t>
          </a:r>
        </a:p>
      </dsp:txBody>
      <dsp:txXfrm>
        <a:off x="27264" y="983622"/>
        <a:ext cx="5301434" cy="845814"/>
      </dsp:txXfrm>
    </dsp:sp>
    <dsp:sp modelId="{E4AB2956-2926-4667-9F19-1D571BEE4431}">
      <dsp:nvSpPr>
        <dsp:cNvPr id="0" name=""/>
        <dsp:cNvSpPr/>
      </dsp:nvSpPr>
      <dsp:spPr>
        <a:xfrm>
          <a:off x="950" y="1912793"/>
          <a:ext cx="5354062" cy="89844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Subscriber Type = “Prepaid“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33.3 MN</a:t>
          </a:r>
        </a:p>
      </dsp:txBody>
      <dsp:txXfrm>
        <a:off x="27264" y="1939107"/>
        <a:ext cx="5301434" cy="845814"/>
      </dsp:txXfrm>
    </dsp:sp>
    <dsp:sp modelId="{5575C818-99B9-4DA1-995B-CADD3B21926A}">
      <dsp:nvSpPr>
        <dsp:cNvPr id="0" name=""/>
        <dsp:cNvSpPr/>
      </dsp:nvSpPr>
      <dsp:spPr>
        <a:xfrm>
          <a:off x="950" y="2868278"/>
          <a:ext cx="5354062" cy="89844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Status = “Active”  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25.0 MN</a:t>
          </a:r>
        </a:p>
      </dsp:txBody>
      <dsp:txXfrm>
        <a:off x="27264" y="2894592"/>
        <a:ext cx="5301434" cy="845814"/>
      </dsp:txXfrm>
    </dsp:sp>
    <dsp:sp modelId="{D82A096F-D234-438F-B403-B37742FC421F}">
      <dsp:nvSpPr>
        <dsp:cNvPr id="0" name=""/>
        <dsp:cNvSpPr/>
      </dsp:nvSpPr>
      <dsp:spPr>
        <a:xfrm>
          <a:off x="950" y="3823763"/>
          <a:ext cx="2649214" cy="89844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Tenure &gt;= 90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 19.3 MN</a:t>
          </a:r>
        </a:p>
      </dsp:txBody>
      <dsp:txXfrm>
        <a:off x="27264" y="3850077"/>
        <a:ext cx="2596586" cy="845814"/>
      </dsp:txXfrm>
    </dsp:sp>
    <dsp:sp modelId="{26683232-2110-47E0-B8B0-0735FE0C8DB7}">
      <dsp:nvSpPr>
        <dsp:cNvPr id="0" name=""/>
        <dsp:cNvSpPr/>
      </dsp:nvSpPr>
      <dsp:spPr>
        <a:xfrm>
          <a:off x="2705798" y="3823763"/>
          <a:ext cx="2649214" cy="89844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Tenure &lt; 90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 5.7 MN</a:t>
          </a:r>
        </a:p>
      </dsp:txBody>
      <dsp:txXfrm>
        <a:off x="2732112" y="3850077"/>
        <a:ext cx="2596586" cy="845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0.36716</cdr:x>
      <cdr:y>0.55556</cdr:y>
    </cdr:from>
    <cdr:to>
      <cdr:x>0.40498</cdr:x>
      <cdr:y>0.78836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37F4DD2D-21D5-4255-B0AA-C490ADEC2935}"/>
            </a:ext>
          </a:extLst>
        </cdr:cNvPr>
        <cdr:cNvSpPr/>
      </cdr:nvSpPr>
      <cdr:spPr>
        <a:xfrm xmlns:a="http://schemas.openxmlformats.org/drawingml/2006/main">
          <a:off x="3667538" y="2087219"/>
          <a:ext cx="377687" cy="87464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31750">
          <a:solidFill>
            <a:schemeClr val="accent3"/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0.23276</cdr:x>
      <cdr:y>0.16352</cdr:y>
    </cdr:from>
    <cdr:to>
      <cdr:x>0.47989</cdr:x>
      <cdr:y>0.89308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A18BCBF9-11AE-4F4D-A48E-D33103ACC8EF}"/>
            </a:ext>
          </a:extLst>
        </cdr:cNvPr>
        <cdr:cNvSpPr/>
      </cdr:nvSpPr>
      <cdr:spPr>
        <a:xfrm xmlns:a="http://schemas.openxmlformats.org/drawingml/2006/main">
          <a:off x="2267340" y="485192"/>
          <a:ext cx="2407298" cy="216470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25400">
          <a:solidFill>
            <a:schemeClr val="accent2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58B57-EB07-46E2-A2F3-DBD968061374}" type="datetimeFigureOut">
              <a:rPr lang="en-IN" smtClean="0"/>
              <a:t>15-11-2021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3386F-AFEE-4FC4-BB24-177323E44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62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BF320-818D-4B5C-BC07-35DF5D7714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31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BF320-818D-4B5C-BC07-35DF5D7714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90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BF320-818D-4B5C-BC07-35DF5D7714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16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535B612-D7D9-4C0A-84A0-40CB39399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01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3386F-AFEE-4FC4-BB24-177323E4464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524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84E7631-3A41-40D8-949B-313D5A7A71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94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2E195ECA-2305-49BF-87D4-1B53AC3DD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148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7329C270-A9DC-4171-8A47-D430CBBA9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534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7329C270-A9DC-4171-8A47-D430CBBA9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069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30.xml"/><Relationship Id="rId7" Type="http://schemas.openxmlformats.org/officeDocument/2006/relationships/image" Target="../media/image8.png"/><Relationship Id="rId2" Type="http://schemas.openxmlformats.org/officeDocument/2006/relationships/tags" Target="../tags/tag29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title no descrip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9B11EA-C6D0-4AEF-8280-8974D69A3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400" y="2593447"/>
            <a:ext cx="4689764" cy="1110338"/>
          </a:xfrm>
        </p:spPr>
        <p:txBody>
          <a:bodyPr numCol="1" anchor="ctr"/>
          <a:lstStyle>
            <a:lvl1pPr>
              <a:spcBef>
                <a:spcPts val="0"/>
              </a:spcBef>
              <a:defRPr sz="2800"/>
            </a:lvl1pPr>
          </a:lstStyle>
          <a:p>
            <a:r>
              <a:rPr lang="en-US"/>
              <a:t>Add presentation title</a:t>
            </a:r>
            <a:endParaRPr lang="en-GB" altLang="en-GB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FAD6190-E2A1-4B8A-B7E6-F74781C2D0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7400" y="3712109"/>
            <a:ext cx="4689452" cy="415781"/>
          </a:xfrm>
          <a:prstGeom prst="rect">
            <a:avLst/>
          </a:prstGeom>
        </p:spPr>
        <p:txBody>
          <a:bodyPr numCol="1" anchor="t"/>
          <a:lstStyle>
            <a:lvl1pPr marL="0" indent="0">
              <a:spcBef>
                <a:spcPts val="0"/>
              </a:spcBef>
              <a:buNone/>
              <a:defRPr sz="1800" i="1"/>
            </a:lvl1pPr>
          </a:lstStyle>
          <a:p>
            <a:pPr lvl="0"/>
            <a:r>
              <a:rPr lang="en-US"/>
              <a:t>Add subtitle</a:t>
            </a:r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3837861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 yellow oval with descrip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452BA5D-0243-47AE-A1DB-459E7316522C}"/>
              </a:ext>
            </a:extLst>
          </p:cNvPr>
          <p:cNvGrpSpPr/>
          <p:nvPr userDrawn="1"/>
        </p:nvGrpSpPr>
        <p:grpSpPr>
          <a:xfrm>
            <a:off x="1" y="677021"/>
            <a:ext cx="11798299" cy="5784424"/>
            <a:chOff x="1" y="677021"/>
            <a:chExt cx="11798299" cy="5784424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3488EC-74B9-4DE3-80BB-E1CBC85C36AF}"/>
                </a:ext>
              </a:extLst>
            </p:cNvPr>
            <p:cNvSpPr/>
            <p:nvPr userDrawn="1"/>
          </p:nvSpPr>
          <p:spPr>
            <a:xfrm>
              <a:off x="1" y="677021"/>
              <a:ext cx="6668655" cy="5490104"/>
            </a:xfrm>
            <a:custGeom>
              <a:avLst/>
              <a:gdLst>
                <a:gd name="connsiteX0" fmla="*/ 0 w 6668655"/>
                <a:gd name="connsiteY0" fmla="*/ 0 h 5490104"/>
                <a:gd name="connsiteX1" fmla="*/ 560043 w 6668655"/>
                <a:gd name="connsiteY1" fmla="*/ 11421 h 5490104"/>
                <a:gd name="connsiteX2" fmla="*/ 6668655 w 6668655"/>
                <a:gd name="connsiteY2" fmla="*/ 2745052 h 5490104"/>
                <a:gd name="connsiteX3" fmla="*/ 560043 w 6668655"/>
                <a:gd name="connsiteY3" fmla="*/ 5478684 h 5490104"/>
                <a:gd name="connsiteX4" fmla="*/ 0 w 6668655"/>
                <a:gd name="connsiteY4" fmla="*/ 5490104 h 5490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8655" h="5490104">
                  <a:moveTo>
                    <a:pt x="0" y="0"/>
                  </a:moveTo>
                  <a:lnTo>
                    <a:pt x="560043" y="11421"/>
                  </a:lnTo>
                  <a:cubicBezTo>
                    <a:pt x="3991160" y="152137"/>
                    <a:pt x="6668655" y="1322323"/>
                    <a:pt x="6668655" y="2745052"/>
                  </a:cubicBezTo>
                  <a:cubicBezTo>
                    <a:pt x="6668655" y="4167782"/>
                    <a:pt x="3991160" y="5337968"/>
                    <a:pt x="560043" y="5478684"/>
                  </a:cubicBezTo>
                  <a:lnTo>
                    <a:pt x="0" y="5490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615AAC-41D2-434C-9428-BF63EA896291}"/>
                </a:ext>
              </a:extLst>
            </p:cNvPr>
            <p:cNvGrpSpPr/>
            <p:nvPr userDrawn="1"/>
          </p:nvGrpSpPr>
          <p:grpSpPr>
            <a:xfrm>
              <a:off x="7813964" y="5310073"/>
              <a:ext cx="3984336" cy="1151372"/>
              <a:chOff x="7813964" y="5310073"/>
              <a:chExt cx="3984336" cy="115137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F458BA2-8A46-4581-B19B-9D2D867A6C80}"/>
                  </a:ext>
                </a:extLst>
              </p:cNvPr>
              <p:cNvGrpSpPr/>
              <p:nvPr userDrawn="1"/>
            </p:nvGrpSpPr>
            <p:grpSpPr>
              <a:xfrm>
                <a:off x="7813964" y="5788335"/>
                <a:ext cx="2358245" cy="226732"/>
                <a:chOff x="19621500" y="3297238"/>
                <a:chExt cx="3170238" cy="304801"/>
              </a:xfrm>
            </p:grpSpPr>
            <p:sp>
              <p:nvSpPr>
                <p:cNvPr id="29" name="Freeform 5">
                  <a:extLst>
                    <a:ext uri="{FF2B5EF4-FFF2-40B4-BE49-F238E27FC236}">
                      <a16:creationId xmlns:a16="http://schemas.microsoft.com/office/drawing/2014/main" id="{90492846-68C3-4A06-9BBB-C31EE41839E1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19621500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4 w 115"/>
                    <a:gd name="T3" fmla="*/ 106 h 106"/>
                    <a:gd name="T4" fmla="*/ 4 w 115"/>
                    <a:gd name="T5" fmla="*/ 55 h 106"/>
                    <a:gd name="T6" fmla="*/ 69 w 115"/>
                    <a:gd name="T7" fmla="*/ 0 h 106"/>
                    <a:gd name="T8" fmla="*/ 111 w 115"/>
                    <a:gd name="T9" fmla="*/ 44 h 106"/>
                    <a:gd name="T10" fmla="*/ 105 w 115"/>
                    <a:gd name="T11" fmla="*/ 61 h 106"/>
                    <a:gd name="T12" fmla="*/ 36 w 115"/>
                    <a:gd name="T13" fmla="*/ 61 h 106"/>
                    <a:gd name="T14" fmla="*/ 65 w 115"/>
                    <a:gd name="T15" fmla="*/ 81 h 106"/>
                    <a:gd name="T16" fmla="*/ 97 w 115"/>
                    <a:gd name="T17" fmla="*/ 72 h 106"/>
                    <a:gd name="T18" fmla="*/ 106 w 115"/>
                    <a:gd name="T19" fmla="*/ 88 h 106"/>
                    <a:gd name="T20" fmla="*/ 38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8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5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5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2" name="Freeform 6">
                  <a:extLst>
                    <a:ext uri="{FF2B5EF4-FFF2-40B4-BE49-F238E27FC236}">
                      <a16:creationId xmlns:a16="http://schemas.microsoft.com/office/drawing/2014/main" id="{707CE0B4-2D6D-4971-8AF0-3042F22B8223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19829463" y="3370263"/>
                  <a:ext cx="190500" cy="161925"/>
                </a:xfrm>
                <a:custGeom>
                  <a:avLst/>
                  <a:gdLst>
                    <a:gd name="T0" fmla="*/ 120 w 120"/>
                    <a:gd name="T1" fmla="*/ 0 h 102"/>
                    <a:gd name="T2" fmla="*/ 62 w 120"/>
                    <a:gd name="T3" fmla="*/ 102 h 102"/>
                    <a:gd name="T4" fmla="*/ 29 w 120"/>
                    <a:gd name="T5" fmla="*/ 102 h 102"/>
                    <a:gd name="T6" fmla="*/ 0 w 120"/>
                    <a:gd name="T7" fmla="*/ 0 h 102"/>
                    <a:gd name="T8" fmla="*/ 35 w 120"/>
                    <a:gd name="T9" fmla="*/ 0 h 102"/>
                    <a:gd name="T10" fmla="*/ 52 w 120"/>
                    <a:gd name="T11" fmla="*/ 67 h 102"/>
                    <a:gd name="T12" fmla="*/ 87 w 120"/>
                    <a:gd name="T13" fmla="*/ 0 h 102"/>
                    <a:gd name="T14" fmla="*/ 120 w 120"/>
                    <a:gd name="T15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0" h="102">
                      <a:moveTo>
                        <a:pt x="120" y="0"/>
                      </a:moveTo>
                      <a:lnTo>
                        <a:pt x="62" y="102"/>
                      </a:lnTo>
                      <a:lnTo>
                        <a:pt x="29" y="102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52" y="67"/>
                      </a:lnTo>
                      <a:lnTo>
                        <a:pt x="87" y="0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3" name="Freeform 7">
                  <a:extLst>
                    <a:ext uri="{FF2B5EF4-FFF2-40B4-BE49-F238E27FC236}">
                      <a16:creationId xmlns:a16="http://schemas.microsoft.com/office/drawing/2014/main" id="{68C03181-FF55-4636-9D8E-96B2FC865CF7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0013613" y="3363913"/>
                  <a:ext cx="188913" cy="176213"/>
                </a:xfrm>
                <a:custGeom>
                  <a:avLst/>
                  <a:gdLst>
                    <a:gd name="T0" fmla="*/ 106 w 114"/>
                    <a:gd name="T1" fmla="*/ 88 h 106"/>
                    <a:gd name="T2" fmla="*/ 54 w 114"/>
                    <a:gd name="T3" fmla="*/ 106 h 106"/>
                    <a:gd name="T4" fmla="*/ 4 w 114"/>
                    <a:gd name="T5" fmla="*/ 55 h 106"/>
                    <a:gd name="T6" fmla="*/ 69 w 114"/>
                    <a:gd name="T7" fmla="*/ 0 h 106"/>
                    <a:gd name="T8" fmla="*/ 111 w 114"/>
                    <a:gd name="T9" fmla="*/ 44 h 106"/>
                    <a:gd name="T10" fmla="*/ 105 w 114"/>
                    <a:gd name="T11" fmla="*/ 61 h 106"/>
                    <a:gd name="T12" fmla="*/ 35 w 114"/>
                    <a:gd name="T13" fmla="*/ 61 h 106"/>
                    <a:gd name="T14" fmla="*/ 64 w 114"/>
                    <a:gd name="T15" fmla="*/ 81 h 106"/>
                    <a:gd name="T16" fmla="*/ 97 w 114"/>
                    <a:gd name="T17" fmla="*/ 72 h 106"/>
                    <a:gd name="T18" fmla="*/ 106 w 114"/>
                    <a:gd name="T19" fmla="*/ 88 h 106"/>
                    <a:gd name="T20" fmla="*/ 38 w 114"/>
                    <a:gd name="T21" fmla="*/ 40 h 106"/>
                    <a:gd name="T22" fmla="*/ 83 w 114"/>
                    <a:gd name="T23" fmla="*/ 40 h 106"/>
                    <a:gd name="T24" fmla="*/ 66 w 114"/>
                    <a:gd name="T25" fmla="*/ 22 h 106"/>
                    <a:gd name="T26" fmla="*/ 38 w 114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4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4" y="18"/>
                        <a:pt x="111" y="44"/>
                      </a:cubicBezTo>
                      <a:cubicBezTo>
                        <a:pt x="110" y="51"/>
                        <a:pt x="107" y="57"/>
                        <a:pt x="105" y="61"/>
                      </a:cubicBezTo>
                      <a:cubicBezTo>
                        <a:pt x="35" y="61"/>
                        <a:pt x="35" y="61"/>
                        <a:pt x="35" y="61"/>
                      </a:cubicBezTo>
                      <a:cubicBezTo>
                        <a:pt x="37" y="74"/>
                        <a:pt x="47" y="81"/>
                        <a:pt x="64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3" y="40"/>
                        <a:pt x="83" y="40"/>
                        <a:pt x="83" y="40"/>
                      </a:cubicBezTo>
                      <a:cubicBezTo>
                        <a:pt x="84" y="29"/>
                        <a:pt x="77" y="22"/>
                        <a:pt x="66" y="22"/>
                      </a:cubicBezTo>
                      <a:cubicBezTo>
                        <a:pt x="55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4" name="Freeform 8">
                  <a:extLst>
                    <a:ext uri="{FF2B5EF4-FFF2-40B4-BE49-F238E27FC236}">
                      <a16:creationId xmlns:a16="http://schemas.microsoft.com/office/drawing/2014/main" id="{56402EF2-1D73-40A4-935D-876F9D5A62A4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219988" y="3365501"/>
                  <a:ext cx="146050" cy="166688"/>
                </a:xfrm>
                <a:custGeom>
                  <a:avLst/>
                  <a:gdLst>
                    <a:gd name="T0" fmla="*/ 89 w 89"/>
                    <a:gd name="T1" fmla="*/ 2 h 100"/>
                    <a:gd name="T2" fmla="*/ 84 w 89"/>
                    <a:gd name="T3" fmla="*/ 32 h 100"/>
                    <a:gd name="T4" fmla="*/ 70 w 89"/>
                    <a:gd name="T5" fmla="*/ 30 h 100"/>
                    <a:gd name="T6" fmla="*/ 40 w 89"/>
                    <a:gd name="T7" fmla="*/ 46 h 100"/>
                    <a:gd name="T8" fmla="*/ 32 w 89"/>
                    <a:gd name="T9" fmla="*/ 100 h 100"/>
                    <a:gd name="T10" fmla="*/ 0 w 89"/>
                    <a:gd name="T11" fmla="*/ 100 h 100"/>
                    <a:gd name="T12" fmla="*/ 14 w 89"/>
                    <a:gd name="T13" fmla="*/ 6 h 100"/>
                    <a:gd name="T14" fmla="*/ 45 w 89"/>
                    <a:gd name="T15" fmla="*/ 0 h 100"/>
                    <a:gd name="T16" fmla="*/ 42 w 89"/>
                    <a:gd name="T17" fmla="*/ 22 h 100"/>
                    <a:gd name="T18" fmla="*/ 77 w 89"/>
                    <a:gd name="T19" fmla="*/ 0 h 100"/>
                    <a:gd name="T20" fmla="*/ 89 w 89"/>
                    <a:gd name="T21" fmla="*/ 2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9" h="100">
                      <a:moveTo>
                        <a:pt x="89" y="2"/>
                      </a:moveTo>
                      <a:cubicBezTo>
                        <a:pt x="84" y="32"/>
                        <a:pt x="84" y="32"/>
                        <a:pt x="84" y="32"/>
                      </a:cubicBezTo>
                      <a:cubicBezTo>
                        <a:pt x="80" y="31"/>
                        <a:pt x="75" y="30"/>
                        <a:pt x="70" y="30"/>
                      </a:cubicBezTo>
                      <a:cubicBezTo>
                        <a:pt x="56" y="30"/>
                        <a:pt x="47" y="37"/>
                        <a:pt x="40" y="46"/>
                      </a:cubicBezTo>
                      <a:cubicBezTo>
                        <a:pt x="32" y="100"/>
                        <a:pt x="32" y="100"/>
                        <a:pt x="32" y="100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52" y="8"/>
                        <a:pt x="65" y="0"/>
                        <a:pt x="77" y="0"/>
                      </a:cubicBezTo>
                      <a:cubicBezTo>
                        <a:pt x="80" y="0"/>
                        <a:pt x="85" y="1"/>
                        <a:pt x="89" y="2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5" name="Freeform 9">
                  <a:extLst>
                    <a:ext uri="{FF2B5EF4-FFF2-40B4-BE49-F238E27FC236}">
                      <a16:creationId xmlns:a16="http://schemas.microsoft.com/office/drawing/2014/main" id="{4359D712-C209-4C72-970A-117E75D0BAA9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369213" y="3370263"/>
                  <a:ext cx="187325" cy="228600"/>
                </a:xfrm>
                <a:custGeom>
                  <a:avLst/>
                  <a:gdLst>
                    <a:gd name="T0" fmla="*/ 118 w 118"/>
                    <a:gd name="T1" fmla="*/ 0 h 144"/>
                    <a:gd name="T2" fmla="*/ 38 w 118"/>
                    <a:gd name="T3" fmla="*/ 144 h 144"/>
                    <a:gd name="T4" fmla="*/ 5 w 118"/>
                    <a:gd name="T5" fmla="*/ 144 h 144"/>
                    <a:gd name="T6" fmla="*/ 31 w 118"/>
                    <a:gd name="T7" fmla="*/ 102 h 144"/>
                    <a:gd name="T8" fmla="*/ 0 w 118"/>
                    <a:gd name="T9" fmla="*/ 0 h 144"/>
                    <a:gd name="T10" fmla="*/ 37 w 118"/>
                    <a:gd name="T11" fmla="*/ 0 h 144"/>
                    <a:gd name="T12" fmla="*/ 53 w 118"/>
                    <a:gd name="T13" fmla="*/ 64 h 144"/>
                    <a:gd name="T14" fmla="*/ 86 w 118"/>
                    <a:gd name="T15" fmla="*/ 0 h 144"/>
                    <a:gd name="T16" fmla="*/ 118 w 118"/>
                    <a:gd name="T17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8" h="144">
                      <a:moveTo>
                        <a:pt x="118" y="0"/>
                      </a:moveTo>
                      <a:lnTo>
                        <a:pt x="38" y="144"/>
                      </a:lnTo>
                      <a:lnTo>
                        <a:pt x="5" y="144"/>
                      </a:lnTo>
                      <a:lnTo>
                        <a:pt x="31" y="102"/>
                      </a:lnTo>
                      <a:lnTo>
                        <a:pt x="0" y="0"/>
                      </a:lnTo>
                      <a:lnTo>
                        <a:pt x="37" y="0"/>
                      </a:lnTo>
                      <a:lnTo>
                        <a:pt x="53" y="64"/>
                      </a:lnTo>
                      <a:lnTo>
                        <a:pt x="86" y="0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6" name="Freeform 10">
                  <a:extLst>
                    <a:ext uri="{FF2B5EF4-FFF2-40B4-BE49-F238E27FC236}">
                      <a16:creationId xmlns:a16="http://schemas.microsoft.com/office/drawing/2014/main" id="{5F8E8045-DC85-4D6A-9BA8-A90825E6C393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561300" y="3370263"/>
                  <a:ext cx="266700" cy="161925"/>
                </a:xfrm>
                <a:custGeom>
                  <a:avLst/>
                  <a:gdLst>
                    <a:gd name="T0" fmla="*/ 168 w 168"/>
                    <a:gd name="T1" fmla="*/ 0 h 102"/>
                    <a:gd name="T2" fmla="*/ 119 w 168"/>
                    <a:gd name="T3" fmla="*/ 102 h 102"/>
                    <a:gd name="T4" fmla="*/ 88 w 168"/>
                    <a:gd name="T5" fmla="*/ 102 h 102"/>
                    <a:gd name="T6" fmla="*/ 76 w 168"/>
                    <a:gd name="T7" fmla="*/ 45 h 102"/>
                    <a:gd name="T8" fmla="*/ 52 w 168"/>
                    <a:gd name="T9" fmla="*/ 102 h 102"/>
                    <a:gd name="T10" fmla="*/ 20 w 168"/>
                    <a:gd name="T11" fmla="*/ 102 h 102"/>
                    <a:gd name="T12" fmla="*/ 0 w 168"/>
                    <a:gd name="T13" fmla="*/ 0 h 102"/>
                    <a:gd name="T14" fmla="*/ 34 w 168"/>
                    <a:gd name="T15" fmla="*/ 0 h 102"/>
                    <a:gd name="T16" fmla="*/ 43 w 168"/>
                    <a:gd name="T17" fmla="*/ 67 h 102"/>
                    <a:gd name="T18" fmla="*/ 70 w 168"/>
                    <a:gd name="T19" fmla="*/ 0 h 102"/>
                    <a:gd name="T20" fmla="*/ 100 w 168"/>
                    <a:gd name="T21" fmla="*/ 0 h 102"/>
                    <a:gd name="T22" fmla="*/ 111 w 168"/>
                    <a:gd name="T23" fmla="*/ 67 h 102"/>
                    <a:gd name="T24" fmla="*/ 137 w 168"/>
                    <a:gd name="T25" fmla="*/ 0 h 102"/>
                    <a:gd name="T26" fmla="*/ 168 w 168"/>
                    <a:gd name="T27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8" h="102">
                      <a:moveTo>
                        <a:pt x="168" y="0"/>
                      </a:moveTo>
                      <a:lnTo>
                        <a:pt x="119" y="102"/>
                      </a:lnTo>
                      <a:lnTo>
                        <a:pt x="88" y="102"/>
                      </a:lnTo>
                      <a:lnTo>
                        <a:pt x="76" y="45"/>
                      </a:lnTo>
                      <a:lnTo>
                        <a:pt x="52" y="102"/>
                      </a:lnTo>
                      <a:lnTo>
                        <a:pt x="20" y="102"/>
                      </a:lnTo>
                      <a:lnTo>
                        <a:pt x="0" y="0"/>
                      </a:lnTo>
                      <a:lnTo>
                        <a:pt x="34" y="0"/>
                      </a:lnTo>
                      <a:lnTo>
                        <a:pt x="43" y="67"/>
                      </a:lnTo>
                      <a:lnTo>
                        <a:pt x="70" y="0"/>
                      </a:lnTo>
                      <a:lnTo>
                        <a:pt x="100" y="0"/>
                      </a:lnTo>
                      <a:lnTo>
                        <a:pt x="111" y="67"/>
                      </a:lnTo>
                      <a:lnTo>
                        <a:pt x="137" y="0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7" name="Freeform 11">
                  <a:extLst>
                    <a:ext uri="{FF2B5EF4-FFF2-40B4-BE49-F238E27FC236}">
                      <a16:creationId xmlns:a16="http://schemas.microsoft.com/office/drawing/2014/main" id="{EC4F783D-E46B-4B61-8614-6DBF131C2897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831175" y="3297238"/>
                  <a:ext cx="192088" cy="234950"/>
                </a:xfrm>
                <a:custGeom>
                  <a:avLst/>
                  <a:gdLst>
                    <a:gd name="T0" fmla="*/ 112 w 116"/>
                    <a:gd name="T1" fmla="*/ 84 h 142"/>
                    <a:gd name="T2" fmla="*/ 103 w 116"/>
                    <a:gd name="T3" fmla="*/ 142 h 142"/>
                    <a:gd name="T4" fmla="*/ 71 w 116"/>
                    <a:gd name="T5" fmla="*/ 142 h 142"/>
                    <a:gd name="T6" fmla="*/ 78 w 116"/>
                    <a:gd name="T7" fmla="*/ 94 h 142"/>
                    <a:gd name="T8" fmla="*/ 64 w 116"/>
                    <a:gd name="T9" fmla="*/ 69 h 142"/>
                    <a:gd name="T10" fmla="*/ 41 w 116"/>
                    <a:gd name="T11" fmla="*/ 81 h 142"/>
                    <a:gd name="T12" fmla="*/ 32 w 116"/>
                    <a:gd name="T13" fmla="*/ 142 h 142"/>
                    <a:gd name="T14" fmla="*/ 0 w 116"/>
                    <a:gd name="T15" fmla="*/ 142 h 142"/>
                    <a:gd name="T16" fmla="*/ 19 w 116"/>
                    <a:gd name="T17" fmla="*/ 6 h 142"/>
                    <a:gd name="T18" fmla="*/ 52 w 116"/>
                    <a:gd name="T19" fmla="*/ 0 h 142"/>
                    <a:gd name="T20" fmla="*/ 44 w 116"/>
                    <a:gd name="T21" fmla="*/ 57 h 142"/>
                    <a:gd name="T22" fmla="*/ 81 w 116"/>
                    <a:gd name="T23" fmla="*/ 42 h 142"/>
                    <a:gd name="T24" fmla="*/ 112 w 116"/>
                    <a:gd name="T25" fmla="*/ 84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6" h="142">
                      <a:moveTo>
                        <a:pt x="112" y="84"/>
                      </a:moveTo>
                      <a:cubicBezTo>
                        <a:pt x="103" y="142"/>
                        <a:pt x="103" y="142"/>
                        <a:pt x="103" y="142"/>
                      </a:cubicBezTo>
                      <a:cubicBezTo>
                        <a:pt x="71" y="142"/>
                        <a:pt x="71" y="142"/>
                        <a:pt x="71" y="142"/>
                      </a:cubicBezTo>
                      <a:cubicBezTo>
                        <a:pt x="78" y="94"/>
                        <a:pt x="78" y="94"/>
                        <a:pt x="78" y="94"/>
                      </a:cubicBezTo>
                      <a:cubicBezTo>
                        <a:pt x="80" y="78"/>
                        <a:pt x="76" y="69"/>
                        <a:pt x="64" y="69"/>
                      </a:cubicBezTo>
                      <a:cubicBezTo>
                        <a:pt x="56" y="69"/>
                        <a:pt x="47" y="74"/>
                        <a:pt x="41" y="81"/>
                      </a:cubicBezTo>
                      <a:cubicBezTo>
                        <a:pt x="32" y="142"/>
                        <a:pt x="32" y="142"/>
                        <a:pt x="32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19" y="6"/>
                        <a:pt x="19" y="6"/>
                        <a:pt x="19" y="6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4" y="47"/>
                        <a:pt x="68" y="42"/>
                        <a:pt x="81" y="42"/>
                      </a:cubicBezTo>
                      <a:cubicBezTo>
                        <a:pt x="101" y="42"/>
                        <a:pt x="116" y="56"/>
                        <a:pt x="112" y="8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546F6F1E-876A-4B5E-943C-F6A6469C2516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037550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5 w 115"/>
                    <a:gd name="T3" fmla="*/ 106 h 106"/>
                    <a:gd name="T4" fmla="*/ 5 w 115"/>
                    <a:gd name="T5" fmla="*/ 55 h 106"/>
                    <a:gd name="T6" fmla="*/ 70 w 115"/>
                    <a:gd name="T7" fmla="*/ 0 h 106"/>
                    <a:gd name="T8" fmla="*/ 111 w 115"/>
                    <a:gd name="T9" fmla="*/ 44 h 106"/>
                    <a:gd name="T10" fmla="*/ 106 w 115"/>
                    <a:gd name="T11" fmla="*/ 61 h 106"/>
                    <a:gd name="T12" fmla="*/ 36 w 115"/>
                    <a:gd name="T13" fmla="*/ 61 h 106"/>
                    <a:gd name="T14" fmla="*/ 65 w 115"/>
                    <a:gd name="T15" fmla="*/ 81 h 106"/>
                    <a:gd name="T16" fmla="*/ 98 w 115"/>
                    <a:gd name="T17" fmla="*/ 72 h 106"/>
                    <a:gd name="T18" fmla="*/ 106 w 115"/>
                    <a:gd name="T19" fmla="*/ 88 h 106"/>
                    <a:gd name="T20" fmla="*/ 39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9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4" y="97"/>
                        <a:pt x="76" y="106"/>
                        <a:pt x="55" y="106"/>
                      </a:cubicBezTo>
                      <a:cubicBezTo>
                        <a:pt x="21" y="106"/>
                        <a:pt x="0" y="86"/>
                        <a:pt x="5" y="55"/>
                      </a:cubicBez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6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5" y="81"/>
                      </a:cubicBezTo>
                      <a:cubicBezTo>
                        <a:pt x="76" y="81"/>
                        <a:pt x="88" y="77"/>
                        <a:pt x="98" y="72"/>
                      </a:cubicBezTo>
                      <a:lnTo>
                        <a:pt x="106" y="88"/>
                      </a:lnTo>
                      <a:close/>
                      <a:moveTo>
                        <a:pt x="39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9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CA9B1D36-957A-4BDA-B729-38E79B28D45C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1245513" y="3365501"/>
                  <a:ext cx="144463" cy="166688"/>
                </a:xfrm>
                <a:custGeom>
                  <a:avLst/>
                  <a:gdLst>
                    <a:gd name="T0" fmla="*/ 88 w 88"/>
                    <a:gd name="T1" fmla="*/ 2 h 100"/>
                    <a:gd name="T2" fmla="*/ 84 w 88"/>
                    <a:gd name="T3" fmla="*/ 32 h 100"/>
                    <a:gd name="T4" fmla="*/ 70 w 88"/>
                    <a:gd name="T5" fmla="*/ 30 h 100"/>
                    <a:gd name="T6" fmla="*/ 40 w 88"/>
                    <a:gd name="T7" fmla="*/ 46 h 100"/>
                    <a:gd name="T8" fmla="*/ 32 w 88"/>
                    <a:gd name="T9" fmla="*/ 100 h 100"/>
                    <a:gd name="T10" fmla="*/ 0 w 88"/>
                    <a:gd name="T11" fmla="*/ 100 h 100"/>
                    <a:gd name="T12" fmla="*/ 13 w 88"/>
                    <a:gd name="T13" fmla="*/ 6 h 100"/>
                    <a:gd name="T14" fmla="*/ 45 w 88"/>
                    <a:gd name="T15" fmla="*/ 0 h 100"/>
                    <a:gd name="T16" fmla="*/ 42 w 88"/>
                    <a:gd name="T17" fmla="*/ 22 h 100"/>
                    <a:gd name="T18" fmla="*/ 77 w 88"/>
                    <a:gd name="T19" fmla="*/ 0 h 100"/>
                    <a:gd name="T20" fmla="*/ 88 w 88"/>
                    <a:gd name="T21" fmla="*/ 2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8" h="100">
                      <a:moveTo>
                        <a:pt x="88" y="2"/>
                      </a:moveTo>
                      <a:cubicBezTo>
                        <a:pt x="84" y="32"/>
                        <a:pt x="84" y="32"/>
                        <a:pt x="84" y="32"/>
                      </a:cubicBezTo>
                      <a:cubicBezTo>
                        <a:pt x="80" y="31"/>
                        <a:pt x="74" y="30"/>
                        <a:pt x="70" y="30"/>
                      </a:cubicBezTo>
                      <a:cubicBezTo>
                        <a:pt x="56" y="30"/>
                        <a:pt x="47" y="37"/>
                        <a:pt x="40" y="46"/>
                      </a:cubicBezTo>
                      <a:cubicBezTo>
                        <a:pt x="32" y="100"/>
                        <a:pt x="32" y="100"/>
                        <a:pt x="32" y="100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52" y="8"/>
                        <a:pt x="65" y="0"/>
                        <a:pt x="77" y="0"/>
                      </a:cubicBezTo>
                      <a:cubicBezTo>
                        <a:pt x="80" y="0"/>
                        <a:pt x="85" y="1"/>
                        <a:pt x="88" y="2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21A37BB1-CBB1-4A15-979F-B7F58EF47171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389975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4 w 115"/>
                    <a:gd name="T3" fmla="*/ 106 h 106"/>
                    <a:gd name="T4" fmla="*/ 4 w 115"/>
                    <a:gd name="T5" fmla="*/ 55 h 106"/>
                    <a:gd name="T6" fmla="*/ 69 w 115"/>
                    <a:gd name="T7" fmla="*/ 0 h 106"/>
                    <a:gd name="T8" fmla="*/ 111 w 115"/>
                    <a:gd name="T9" fmla="*/ 44 h 106"/>
                    <a:gd name="T10" fmla="*/ 105 w 115"/>
                    <a:gd name="T11" fmla="*/ 61 h 106"/>
                    <a:gd name="T12" fmla="*/ 36 w 115"/>
                    <a:gd name="T13" fmla="*/ 61 h 106"/>
                    <a:gd name="T14" fmla="*/ 64 w 115"/>
                    <a:gd name="T15" fmla="*/ 81 h 106"/>
                    <a:gd name="T16" fmla="*/ 97 w 115"/>
                    <a:gd name="T17" fmla="*/ 72 h 106"/>
                    <a:gd name="T18" fmla="*/ 106 w 115"/>
                    <a:gd name="T19" fmla="*/ 88 h 106"/>
                    <a:gd name="T20" fmla="*/ 38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8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5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4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1" name="Freeform 15">
                  <a:extLst>
                    <a:ext uri="{FF2B5EF4-FFF2-40B4-BE49-F238E27FC236}">
                      <a16:creationId xmlns:a16="http://schemas.microsoft.com/office/drawing/2014/main" id="{CBD1D02E-59F5-46CB-B0C1-2184AF3D6432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1678900" y="3370263"/>
                  <a:ext cx="184150" cy="228600"/>
                </a:xfrm>
                <a:custGeom>
                  <a:avLst/>
                  <a:gdLst>
                    <a:gd name="T0" fmla="*/ 116 w 116"/>
                    <a:gd name="T1" fmla="*/ 0 h 144"/>
                    <a:gd name="T2" fmla="*/ 36 w 116"/>
                    <a:gd name="T3" fmla="*/ 144 h 144"/>
                    <a:gd name="T4" fmla="*/ 4 w 116"/>
                    <a:gd name="T5" fmla="*/ 144 h 144"/>
                    <a:gd name="T6" fmla="*/ 29 w 116"/>
                    <a:gd name="T7" fmla="*/ 102 h 144"/>
                    <a:gd name="T8" fmla="*/ 0 w 116"/>
                    <a:gd name="T9" fmla="*/ 0 h 144"/>
                    <a:gd name="T10" fmla="*/ 35 w 116"/>
                    <a:gd name="T11" fmla="*/ 0 h 144"/>
                    <a:gd name="T12" fmla="*/ 51 w 116"/>
                    <a:gd name="T13" fmla="*/ 64 h 144"/>
                    <a:gd name="T14" fmla="*/ 84 w 116"/>
                    <a:gd name="T15" fmla="*/ 0 h 144"/>
                    <a:gd name="T16" fmla="*/ 116 w 116"/>
                    <a:gd name="T17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6" h="144">
                      <a:moveTo>
                        <a:pt x="116" y="0"/>
                      </a:moveTo>
                      <a:lnTo>
                        <a:pt x="36" y="144"/>
                      </a:lnTo>
                      <a:lnTo>
                        <a:pt x="4" y="144"/>
                      </a:lnTo>
                      <a:lnTo>
                        <a:pt x="29" y="102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51" y="64"/>
                      </a:lnTo>
                      <a:lnTo>
                        <a:pt x="84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2" name="Freeform 16">
                  <a:extLst>
                    <a:ext uri="{FF2B5EF4-FFF2-40B4-BE49-F238E27FC236}">
                      <a16:creationId xmlns:a16="http://schemas.microsoft.com/office/drawing/2014/main" id="{2C8A47B0-E4E7-43CF-A7AB-94A1CB82BCA4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858288" y="3363913"/>
                  <a:ext cx="203200" cy="176213"/>
                </a:xfrm>
                <a:custGeom>
                  <a:avLst/>
                  <a:gdLst>
                    <a:gd name="T0" fmla="*/ 4 w 123"/>
                    <a:gd name="T1" fmla="*/ 55 h 106"/>
                    <a:gd name="T2" fmla="*/ 70 w 123"/>
                    <a:gd name="T3" fmla="*/ 0 h 106"/>
                    <a:gd name="T4" fmla="*/ 119 w 123"/>
                    <a:gd name="T5" fmla="*/ 51 h 106"/>
                    <a:gd name="T6" fmla="*/ 53 w 123"/>
                    <a:gd name="T7" fmla="*/ 106 h 106"/>
                    <a:gd name="T8" fmla="*/ 4 w 123"/>
                    <a:gd name="T9" fmla="*/ 55 h 106"/>
                    <a:gd name="T10" fmla="*/ 86 w 123"/>
                    <a:gd name="T11" fmla="*/ 54 h 106"/>
                    <a:gd name="T12" fmla="*/ 65 w 123"/>
                    <a:gd name="T13" fmla="*/ 24 h 106"/>
                    <a:gd name="T14" fmla="*/ 38 w 123"/>
                    <a:gd name="T15" fmla="*/ 52 h 106"/>
                    <a:gd name="T16" fmla="*/ 59 w 123"/>
                    <a:gd name="T17" fmla="*/ 82 h 106"/>
                    <a:gd name="T18" fmla="*/ 86 w 123"/>
                    <a:gd name="T19" fmla="*/ 54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106">
                      <a:moveTo>
                        <a:pt x="4" y="55"/>
                      </a:move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102" y="0"/>
                        <a:pt x="123" y="22"/>
                        <a:pt x="119" y="51"/>
                      </a:cubicBezTo>
                      <a:cubicBezTo>
                        <a:pt x="115" y="82"/>
                        <a:pt x="87" y="106"/>
                        <a:pt x="53" y="106"/>
                      </a:cubicBezTo>
                      <a:cubicBezTo>
                        <a:pt x="22" y="106"/>
                        <a:pt x="0" y="84"/>
                        <a:pt x="4" y="55"/>
                      </a:cubicBezTo>
                      <a:close/>
                      <a:moveTo>
                        <a:pt x="86" y="54"/>
                      </a:moveTo>
                      <a:cubicBezTo>
                        <a:pt x="89" y="36"/>
                        <a:pt x="80" y="24"/>
                        <a:pt x="65" y="24"/>
                      </a:cubicBezTo>
                      <a:cubicBezTo>
                        <a:pt x="50" y="24"/>
                        <a:pt x="40" y="35"/>
                        <a:pt x="38" y="52"/>
                      </a:cubicBezTo>
                      <a:cubicBezTo>
                        <a:pt x="35" y="70"/>
                        <a:pt x="43" y="82"/>
                        <a:pt x="59" y="82"/>
                      </a:cubicBezTo>
                      <a:cubicBezTo>
                        <a:pt x="73" y="82"/>
                        <a:pt x="84" y="71"/>
                        <a:pt x="86" y="5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3" name="Freeform 17">
                  <a:extLst>
                    <a:ext uri="{FF2B5EF4-FFF2-40B4-BE49-F238E27FC236}">
                      <a16:creationId xmlns:a16="http://schemas.microsoft.com/office/drawing/2014/main" id="{90062D4D-D9B7-4280-8CF6-A1100ABBF420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2078950" y="3365501"/>
                  <a:ext cx="190500" cy="171450"/>
                </a:xfrm>
                <a:custGeom>
                  <a:avLst/>
                  <a:gdLst>
                    <a:gd name="T0" fmla="*/ 115 w 115"/>
                    <a:gd name="T1" fmla="*/ 0 h 103"/>
                    <a:gd name="T2" fmla="*/ 101 w 115"/>
                    <a:gd name="T3" fmla="*/ 100 h 103"/>
                    <a:gd name="T4" fmla="*/ 70 w 115"/>
                    <a:gd name="T5" fmla="*/ 100 h 103"/>
                    <a:gd name="T6" fmla="*/ 72 w 115"/>
                    <a:gd name="T7" fmla="*/ 88 h 103"/>
                    <a:gd name="T8" fmla="*/ 35 w 115"/>
                    <a:gd name="T9" fmla="*/ 103 h 103"/>
                    <a:gd name="T10" fmla="*/ 4 w 115"/>
                    <a:gd name="T11" fmla="*/ 61 h 103"/>
                    <a:gd name="T12" fmla="*/ 12 w 115"/>
                    <a:gd name="T13" fmla="*/ 6 h 103"/>
                    <a:gd name="T14" fmla="*/ 45 w 115"/>
                    <a:gd name="T15" fmla="*/ 0 h 103"/>
                    <a:gd name="T16" fmla="*/ 38 w 115"/>
                    <a:gd name="T17" fmla="*/ 51 h 103"/>
                    <a:gd name="T18" fmla="*/ 51 w 115"/>
                    <a:gd name="T19" fmla="*/ 77 h 103"/>
                    <a:gd name="T20" fmla="*/ 74 w 115"/>
                    <a:gd name="T21" fmla="*/ 66 h 103"/>
                    <a:gd name="T22" fmla="*/ 82 w 115"/>
                    <a:gd name="T23" fmla="*/ 6 h 103"/>
                    <a:gd name="T24" fmla="*/ 115 w 115"/>
                    <a:gd name="T25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5" h="103">
                      <a:moveTo>
                        <a:pt x="115" y="0"/>
                      </a:moveTo>
                      <a:cubicBezTo>
                        <a:pt x="101" y="100"/>
                        <a:pt x="101" y="100"/>
                        <a:pt x="101" y="100"/>
                      </a:cubicBezTo>
                      <a:cubicBezTo>
                        <a:pt x="70" y="100"/>
                        <a:pt x="70" y="100"/>
                        <a:pt x="70" y="100"/>
                      </a:cubicBezTo>
                      <a:cubicBezTo>
                        <a:pt x="72" y="88"/>
                        <a:pt x="72" y="88"/>
                        <a:pt x="72" y="88"/>
                      </a:cubicBezTo>
                      <a:cubicBezTo>
                        <a:pt x="62" y="98"/>
                        <a:pt x="48" y="103"/>
                        <a:pt x="35" y="103"/>
                      </a:cubicBezTo>
                      <a:cubicBezTo>
                        <a:pt x="14" y="103"/>
                        <a:pt x="0" y="89"/>
                        <a:pt x="4" y="61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38" y="51"/>
                        <a:pt x="38" y="51"/>
                        <a:pt x="38" y="51"/>
                      </a:cubicBezTo>
                      <a:cubicBezTo>
                        <a:pt x="35" y="68"/>
                        <a:pt x="40" y="77"/>
                        <a:pt x="51" y="77"/>
                      </a:cubicBezTo>
                      <a:cubicBezTo>
                        <a:pt x="59" y="77"/>
                        <a:pt x="67" y="73"/>
                        <a:pt x="74" y="66"/>
                      </a:cubicBezTo>
                      <a:cubicBezTo>
                        <a:pt x="82" y="6"/>
                        <a:pt x="82" y="6"/>
                        <a:pt x="82" y="6"/>
                      </a:cubicBezTo>
                      <a:lnTo>
                        <a:pt x="115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4" name="Freeform 18">
                  <a:extLst>
                    <a:ext uri="{FF2B5EF4-FFF2-40B4-BE49-F238E27FC236}">
                      <a16:creationId xmlns:a16="http://schemas.microsoft.com/office/drawing/2014/main" id="{0D6AE653-B3B6-4267-A48B-02EFADC760C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2353588" y="3365501"/>
                  <a:ext cx="233363" cy="236538"/>
                </a:xfrm>
                <a:custGeom>
                  <a:avLst/>
                  <a:gdLst>
                    <a:gd name="T0" fmla="*/ 138 w 141"/>
                    <a:gd name="T1" fmla="*/ 30 h 143"/>
                    <a:gd name="T2" fmla="*/ 114 w 141"/>
                    <a:gd name="T3" fmla="*/ 29 h 143"/>
                    <a:gd name="T4" fmla="*/ 117 w 141"/>
                    <a:gd name="T5" fmla="*/ 47 h 143"/>
                    <a:gd name="T6" fmla="*/ 59 w 141"/>
                    <a:gd name="T7" fmla="*/ 88 h 143"/>
                    <a:gd name="T8" fmla="*/ 54 w 141"/>
                    <a:gd name="T9" fmla="*/ 88 h 143"/>
                    <a:gd name="T10" fmla="*/ 35 w 141"/>
                    <a:gd name="T11" fmla="*/ 113 h 143"/>
                    <a:gd name="T12" fmla="*/ 84 w 141"/>
                    <a:gd name="T13" fmla="*/ 98 h 143"/>
                    <a:gd name="T14" fmla="*/ 118 w 141"/>
                    <a:gd name="T15" fmla="*/ 139 h 143"/>
                    <a:gd name="T16" fmla="*/ 84 w 141"/>
                    <a:gd name="T17" fmla="*/ 143 h 143"/>
                    <a:gd name="T18" fmla="*/ 66 w 141"/>
                    <a:gd name="T19" fmla="*/ 125 h 143"/>
                    <a:gd name="T20" fmla="*/ 18 w 141"/>
                    <a:gd name="T21" fmla="*/ 139 h 143"/>
                    <a:gd name="T22" fmla="*/ 0 w 141"/>
                    <a:gd name="T23" fmla="*/ 127 h 143"/>
                    <a:gd name="T24" fmla="*/ 27 w 141"/>
                    <a:gd name="T25" fmla="*/ 79 h 143"/>
                    <a:gd name="T26" fmla="*/ 11 w 141"/>
                    <a:gd name="T27" fmla="*/ 45 h 143"/>
                    <a:gd name="T28" fmla="*/ 71 w 141"/>
                    <a:gd name="T29" fmla="*/ 0 h 143"/>
                    <a:gd name="T30" fmla="*/ 91 w 141"/>
                    <a:gd name="T31" fmla="*/ 3 h 143"/>
                    <a:gd name="T32" fmla="*/ 141 w 141"/>
                    <a:gd name="T33" fmla="*/ 3 h 143"/>
                    <a:gd name="T34" fmla="*/ 138 w 141"/>
                    <a:gd name="T35" fmla="*/ 30 h 143"/>
                    <a:gd name="T36" fmla="*/ 87 w 141"/>
                    <a:gd name="T37" fmla="*/ 45 h 143"/>
                    <a:gd name="T38" fmla="*/ 67 w 141"/>
                    <a:gd name="T39" fmla="*/ 23 h 143"/>
                    <a:gd name="T40" fmla="*/ 42 w 141"/>
                    <a:gd name="T41" fmla="*/ 44 h 143"/>
                    <a:gd name="T42" fmla="*/ 62 w 141"/>
                    <a:gd name="T43" fmla="*/ 66 h 143"/>
                    <a:gd name="T44" fmla="*/ 87 w 141"/>
                    <a:gd name="T45" fmla="*/ 45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41" h="143">
                      <a:moveTo>
                        <a:pt x="138" y="30"/>
                      </a:moveTo>
                      <a:cubicBezTo>
                        <a:pt x="114" y="29"/>
                        <a:pt x="114" y="29"/>
                        <a:pt x="114" y="29"/>
                      </a:cubicBezTo>
                      <a:cubicBezTo>
                        <a:pt x="117" y="34"/>
                        <a:pt x="118" y="40"/>
                        <a:pt x="117" y="47"/>
                      </a:cubicBezTo>
                      <a:cubicBezTo>
                        <a:pt x="114" y="70"/>
                        <a:pt x="90" y="88"/>
                        <a:pt x="59" y="88"/>
                      </a:cubicBezTo>
                      <a:cubicBezTo>
                        <a:pt x="58" y="88"/>
                        <a:pt x="56" y="88"/>
                        <a:pt x="54" y="88"/>
                      </a:cubicBezTo>
                      <a:cubicBezTo>
                        <a:pt x="35" y="113"/>
                        <a:pt x="35" y="113"/>
                        <a:pt x="35" y="113"/>
                      </a:cubicBezTo>
                      <a:cubicBezTo>
                        <a:pt x="49" y="105"/>
                        <a:pt x="67" y="98"/>
                        <a:pt x="84" y="98"/>
                      </a:cubicBezTo>
                      <a:cubicBezTo>
                        <a:pt x="102" y="98"/>
                        <a:pt x="120" y="106"/>
                        <a:pt x="118" y="139"/>
                      </a:cubicBezTo>
                      <a:cubicBezTo>
                        <a:pt x="84" y="143"/>
                        <a:pt x="84" y="143"/>
                        <a:pt x="84" y="143"/>
                      </a:cubicBezTo>
                      <a:cubicBezTo>
                        <a:pt x="84" y="128"/>
                        <a:pt x="77" y="125"/>
                        <a:pt x="66" y="125"/>
                      </a:cubicBezTo>
                      <a:cubicBezTo>
                        <a:pt x="53" y="125"/>
                        <a:pt x="34" y="130"/>
                        <a:pt x="18" y="139"/>
                      </a:cubicBezTo>
                      <a:cubicBezTo>
                        <a:pt x="0" y="127"/>
                        <a:pt x="0" y="127"/>
                        <a:pt x="0" y="127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15" y="72"/>
                        <a:pt x="9" y="59"/>
                        <a:pt x="11" y="45"/>
                      </a:cubicBezTo>
                      <a:cubicBezTo>
                        <a:pt x="15" y="21"/>
                        <a:pt x="40" y="0"/>
                        <a:pt x="71" y="0"/>
                      </a:cubicBezTo>
                      <a:cubicBezTo>
                        <a:pt x="78" y="0"/>
                        <a:pt x="85" y="1"/>
                        <a:pt x="91" y="3"/>
                      </a:cubicBezTo>
                      <a:cubicBezTo>
                        <a:pt x="141" y="3"/>
                        <a:pt x="141" y="3"/>
                        <a:pt x="141" y="3"/>
                      </a:cubicBezTo>
                      <a:lnTo>
                        <a:pt x="138" y="30"/>
                      </a:lnTo>
                      <a:close/>
                      <a:moveTo>
                        <a:pt x="87" y="45"/>
                      </a:moveTo>
                      <a:cubicBezTo>
                        <a:pt x="89" y="31"/>
                        <a:pt x="79" y="23"/>
                        <a:pt x="67" y="23"/>
                      </a:cubicBezTo>
                      <a:cubicBezTo>
                        <a:pt x="55" y="23"/>
                        <a:pt x="44" y="31"/>
                        <a:pt x="42" y="44"/>
                      </a:cubicBezTo>
                      <a:cubicBezTo>
                        <a:pt x="40" y="57"/>
                        <a:pt x="50" y="66"/>
                        <a:pt x="62" y="66"/>
                      </a:cubicBezTo>
                      <a:cubicBezTo>
                        <a:pt x="74" y="66"/>
                        <a:pt x="85" y="58"/>
                        <a:pt x="87" y="45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5" name="Freeform 19">
                  <a:extLst>
                    <a:ext uri="{FF2B5EF4-FFF2-40B4-BE49-F238E27FC236}">
                      <a16:creationId xmlns:a16="http://schemas.microsoft.com/office/drawing/2014/main" id="{6D6C2AA0-1C75-49B5-937D-B2B43533C96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2588538" y="3363913"/>
                  <a:ext cx="203200" cy="176213"/>
                </a:xfrm>
                <a:custGeom>
                  <a:avLst/>
                  <a:gdLst>
                    <a:gd name="T0" fmla="*/ 4 w 123"/>
                    <a:gd name="T1" fmla="*/ 55 h 106"/>
                    <a:gd name="T2" fmla="*/ 70 w 123"/>
                    <a:gd name="T3" fmla="*/ 0 h 106"/>
                    <a:gd name="T4" fmla="*/ 119 w 123"/>
                    <a:gd name="T5" fmla="*/ 51 h 106"/>
                    <a:gd name="T6" fmla="*/ 53 w 123"/>
                    <a:gd name="T7" fmla="*/ 106 h 106"/>
                    <a:gd name="T8" fmla="*/ 4 w 123"/>
                    <a:gd name="T9" fmla="*/ 55 h 106"/>
                    <a:gd name="T10" fmla="*/ 86 w 123"/>
                    <a:gd name="T11" fmla="*/ 54 h 106"/>
                    <a:gd name="T12" fmla="*/ 65 w 123"/>
                    <a:gd name="T13" fmla="*/ 24 h 106"/>
                    <a:gd name="T14" fmla="*/ 38 w 123"/>
                    <a:gd name="T15" fmla="*/ 52 h 106"/>
                    <a:gd name="T16" fmla="*/ 59 w 123"/>
                    <a:gd name="T17" fmla="*/ 82 h 106"/>
                    <a:gd name="T18" fmla="*/ 86 w 123"/>
                    <a:gd name="T19" fmla="*/ 54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106">
                      <a:moveTo>
                        <a:pt x="4" y="55"/>
                      </a:move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102" y="0"/>
                        <a:pt x="123" y="22"/>
                        <a:pt x="119" y="51"/>
                      </a:cubicBezTo>
                      <a:cubicBezTo>
                        <a:pt x="115" y="82"/>
                        <a:pt x="87" y="106"/>
                        <a:pt x="53" y="106"/>
                      </a:cubicBezTo>
                      <a:cubicBezTo>
                        <a:pt x="21" y="106"/>
                        <a:pt x="0" y="84"/>
                        <a:pt x="4" y="55"/>
                      </a:cubicBezTo>
                      <a:close/>
                      <a:moveTo>
                        <a:pt x="86" y="54"/>
                      </a:moveTo>
                      <a:cubicBezTo>
                        <a:pt x="88" y="36"/>
                        <a:pt x="80" y="24"/>
                        <a:pt x="65" y="24"/>
                      </a:cubicBezTo>
                      <a:cubicBezTo>
                        <a:pt x="50" y="24"/>
                        <a:pt x="40" y="35"/>
                        <a:pt x="38" y="52"/>
                      </a:cubicBezTo>
                      <a:cubicBezTo>
                        <a:pt x="35" y="70"/>
                        <a:pt x="43" y="82"/>
                        <a:pt x="59" y="82"/>
                      </a:cubicBezTo>
                      <a:cubicBezTo>
                        <a:pt x="73" y="82"/>
                        <a:pt x="83" y="71"/>
                        <a:pt x="86" y="5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</p:grpSp>
          <p:sp>
            <p:nvSpPr>
              <p:cNvPr id="22" name="Rectangle 20">
                <a:extLst>
                  <a:ext uri="{FF2B5EF4-FFF2-40B4-BE49-F238E27FC236}">
                    <a16:creationId xmlns:a16="http://schemas.microsoft.com/office/drawing/2014/main" id="{05921760-FF02-4211-9312-1EF01D129C5B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3" name="Rectangle 21">
                <a:extLst>
                  <a:ext uri="{FF2B5EF4-FFF2-40B4-BE49-F238E27FC236}">
                    <a16:creationId xmlns:a16="http://schemas.microsoft.com/office/drawing/2014/main" id="{D1EB718E-4FB5-44D3-9D75-8E4EDCCB6DD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4" name="Oval 22">
                <a:extLst>
                  <a:ext uri="{FF2B5EF4-FFF2-40B4-BE49-F238E27FC236}">
                    <a16:creationId xmlns:a16="http://schemas.microsoft.com/office/drawing/2014/main" id="{D4C3DF61-087D-4DEE-9481-6BBAA7AF8EC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5" name="Freeform 23">
                <a:extLst>
                  <a:ext uri="{FF2B5EF4-FFF2-40B4-BE49-F238E27FC236}">
                    <a16:creationId xmlns:a16="http://schemas.microsoft.com/office/drawing/2014/main" id="{D6089907-968E-486F-815E-32BC2ADF57F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6" name="Freeform 24">
                <a:extLst>
                  <a:ext uri="{FF2B5EF4-FFF2-40B4-BE49-F238E27FC236}">
                    <a16:creationId xmlns:a16="http://schemas.microsoft.com/office/drawing/2014/main" id="{ABB4F9CE-4504-4B00-B81F-CD733572D06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7" name="Freeform 25">
                <a:extLst>
                  <a:ext uri="{FF2B5EF4-FFF2-40B4-BE49-F238E27FC236}">
                    <a16:creationId xmlns:a16="http://schemas.microsoft.com/office/drawing/2014/main" id="{11B4364D-4839-4496-A92F-B7B2425A0EAC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8" name="Freeform 26">
                <a:extLst>
                  <a:ext uri="{FF2B5EF4-FFF2-40B4-BE49-F238E27FC236}">
                    <a16:creationId xmlns:a16="http://schemas.microsoft.com/office/drawing/2014/main" id="{554B7D1D-8A06-4651-9877-6704029F613F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DF4E762-8EE1-4ABB-BA5B-2057AAB0CB2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648109 w 12192000"/>
              <a:gd name="connsiteY0" fmla="*/ 5310073 h 6858000"/>
              <a:gd name="connsiteX1" fmla="*/ 10648109 w 12192000"/>
              <a:gd name="connsiteY1" fmla="*/ 6461445 h 6858000"/>
              <a:gd name="connsiteX2" fmla="*/ 11798300 w 12192000"/>
              <a:gd name="connsiteY2" fmla="*/ 6461445 h 6858000"/>
              <a:gd name="connsiteX3" fmla="*/ 11798300 w 12192000"/>
              <a:gd name="connsiteY3" fmla="*/ 5310073 h 6858000"/>
              <a:gd name="connsiteX4" fmla="*/ 1 w 12192000"/>
              <a:gd name="connsiteY4" fmla="*/ 677021 h 6858000"/>
              <a:gd name="connsiteX5" fmla="*/ 1 w 12192000"/>
              <a:gd name="connsiteY5" fmla="*/ 6167125 h 6858000"/>
              <a:gd name="connsiteX6" fmla="*/ 560044 w 12192000"/>
              <a:gd name="connsiteY6" fmla="*/ 6155705 h 6858000"/>
              <a:gd name="connsiteX7" fmla="*/ 6668656 w 12192000"/>
              <a:gd name="connsiteY7" fmla="*/ 3422073 h 6858000"/>
              <a:gd name="connsiteX8" fmla="*/ 560044 w 12192000"/>
              <a:gd name="connsiteY8" fmla="*/ 688442 h 6858000"/>
              <a:gd name="connsiteX9" fmla="*/ 0 w 12192000"/>
              <a:gd name="connsiteY9" fmla="*/ 0 h 6858000"/>
              <a:gd name="connsiteX10" fmla="*/ 12192000 w 12192000"/>
              <a:gd name="connsiteY10" fmla="*/ 0 h 6858000"/>
              <a:gd name="connsiteX11" fmla="*/ 12192000 w 12192000"/>
              <a:gd name="connsiteY11" fmla="*/ 6858000 h 6858000"/>
              <a:gd name="connsiteX12" fmla="*/ 0 w 12192000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8000">
                <a:moveTo>
                  <a:pt x="10648109" y="5310073"/>
                </a:moveTo>
                <a:lnTo>
                  <a:pt x="10648109" y="6461445"/>
                </a:lnTo>
                <a:lnTo>
                  <a:pt x="11798300" y="6461445"/>
                </a:lnTo>
                <a:lnTo>
                  <a:pt x="11798300" y="5310073"/>
                </a:lnTo>
                <a:close/>
                <a:moveTo>
                  <a:pt x="1" y="677021"/>
                </a:moveTo>
                <a:lnTo>
                  <a:pt x="1" y="6167125"/>
                </a:lnTo>
                <a:lnTo>
                  <a:pt x="560044" y="6155705"/>
                </a:lnTo>
                <a:cubicBezTo>
                  <a:pt x="3991161" y="6014989"/>
                  <a:pt x="6668656" y="4844803"/>
                  <a:pt x="6668656" y="3422073"/>
                </a:cubicBezTo>
                <a:cubicBezTo>
                  <a:pt x="6668656" y="1999344"/>
                  <a:pt x="3991161" y="829158"/>
                  <a:pt x="560044" y="68844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txBody>
          <a:bodyPr wrap="square" numCol="1" anchor="t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altLang="en-GB"/>
              <a:t>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9B11EA-C6D0-4AEF-8280-8974D69A3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6215" y="2920181"/>
            <a:ext cx="5133322" cy="1110338"/>
          </a:xfrm>
          <a:prstGeom prst="rect">
            <a:avLst/>
          </a:prstGeom>
        </p:spPr>
        <p:txBody>
          <a:bodyPr vert="horz" lIns="0" tIns="0" rIns="0" bIns="0" numCol="1" rtlCol="0" anchor="ctr">
            <a:noAutofit/>
          </a:bodyPr>
          <a:lstStyle>
            <a:lvl1pPr>
              <a:defRPr lang="en-GB" altLang="en-GB" sz="4400" dirty="0"/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Thank you</a:t>
            </a:r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426701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USE: Title, subtitle &amp;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think-cell Slide" r:id="rId4" imgW="475" imgH="476" progId="TCLayout.ActiveDocument.1">
                  <p:embed/>
                </p:oleObj>
              </mc:Choice>
              <mc:Fallback>
                <p:oleObj name="think-cell Slide" r:id="rId4" imgW="475" imgH="47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EDB6370-E20D-4356-B639-0E4B5C5A89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4EE004D-1AF6-41A3-BF99-D3478A36E5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F096E9-BE84-4A01-9215-548EB123A1B2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75B60A-3FD8-433F-B673-8E39468D824E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D91074-7CA5-412D-B392-79970843071F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12" name="Rectangle 20">
                <a:extLst>
                  <a:ext uri="{FF2B5EF4-FFF2-40B4-BE49-F238E27FC236}">
                    <a16:creationId xmlns:a16="http://schemas.microsoft.com/office/drawing/2014/main" id="{55A50798-BA63-4054-97C6-E78D398F12B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Rectangle 21">
                <a:extLst>
                  <a:ext uri="{FF2B5EF4-FFF2-40B4-BE49-F238E27FC236}">
                    <a16:creationId xmlns:a16="http://schemas.microsoft.com/office/drawing/2014/main" id="{0C6F2B01-29ED-4CE4-899F-DCC088A6D1E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Oval 22">
                <a:extLst>
                  <a:ext uri="{FF2B5EF4-FFF2-40B4-BE49-F238E27FC236}">
                    <a16:creationId xmlns:a16="http://schemas.microsoft.com/office/drawing/2014/main" id="{F763AC27-B5E4-468D-8F3E-FCE3B099F87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3">
                <a:extLst>
                  <a:ext uri="{FF2B5EF4-FFF2-40B4-BE49-F238E27FC236}">
                    <a16:creationId xmlns:a16="http://schemas.microsoft.com/office/drawing/2014/main" id="{54DB9D8A-E0DD-4E8E-837F-77B574F62A9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6" name="Freeform 24">
                <a:extLst>
                  <a:ext uri="{FF2B5EF4-FFF2-40B4-BE49-F238E27FC236}">
                    <a16:creationId xmlns:a16="http://schemas.microsoft.com/office/drawing/2014/main" id="{8F9267D3-6CF4-4003-98E0-1DF062FCC29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7" name="Freeform 25">
                <a:extLst>
                  <a:ext uri="{FF2B5EF4-FFF2-40B4-BE49-F238E27FC236}">
                    <a16:creationId xmlns:a16="http://schemas.microsoft.com/office/drawing/2014/main" id="{FC34D197-C04B-4FC2-8FC0-3D74CBBB9FB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8" name="Freeform 26">
                <a:extLst>
                  <a:ext uri="{FF2B5EF4-FFF2-40B4-BE49-F238E27FC236}">
                    <a16:creationId xmlns:a16="http://schemas.microsoft.com/office/drawing/2014/main" id="{88F51C54-07D2-4CDD-9DE3-40BF4DD0088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400277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419CE86-68BF-4542-A10A-767F245CDF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9A2767A-79AE-491E-9B88-A383D77717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5C5AF9C-82BE-4803-B6E2-4756DD838F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94411231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: Title, subtitle &amp;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think-cell Slide" r:id="rId4" imgW="475" imgH="476" progId="TCLayout.ActiveDocument.1">
                  <p:embed/>
                </p:oleObj>
              </mc:Choice>
              <mc:Fallback>
                <p:oleObj name="think-cell Slide" r:id="rId4" imgW="475" imgH="47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EDB6370-E20D-4356-B639-0E4B5C5A89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4EE004D-1AF6-41A3-BF99-D3478A36E5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F096E9-BE84-4A01-9215-548EB123A1B2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75B60A-3FD8-433F-B673-8E39468D824E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D91074-7CA5-412D-B392-79970843071F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12" name="Rectangle 20">
                <a:extLst>
                  <a:ext uri="{FF2B5EF4-FFF2-40B4-BE49-F238E27FC236}">
                    <a16:creationId xmlns:a16="http://schemas.microsoft.com/office/drawing/2014/main" id="{55A50798-BA63-4054-97C6-E78D398F12B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Rectangle 21">
                <a:extLst>
                  <a:ext uri="{FF2B5EF4-FFF2-40B4-BE49-F238E27FC236}">
                    <a16:creationId xmlns:a16="http://schemas.microsoft.com/office/drawing/2014/main" id="{0C6F2B01-29ED-4CE4-899F-DCC088A6D1E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Oval 22">
                <a:extLst>
                  <a:ext uri="{FF2B5EF4-FFF2-40B4-BE49-F238E27FC236}">
                    <a16:creationId xmlns:a16="http://schemas.microsoft.com/office/drawing/2014/main" id="{F763AC27-B5E4-468D-8F3E-FCE3B099F87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3">
                <a:extLst>
                  <a:ext uri="{FF2B5EF4-FFF2-40B4-BE49-F238E27FC236}">
                    <a16:creationId xmlns:a16="http://schemas.microsoft.com/office/drawing/2014/main" id="{54DB9D8A-E0DD-4E8E-837F-77B574F62A9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6" name="Freeform 24">
                <a:extLst>
                  <a:ext uri="{FF2B5EF4-FFF2-40B4-BE49-F238E27FC236}">
                    <a16:creationId xmlns:a16="http://schemas.microsoft.com/office/drawing/2014/main" id="{8F9267D3-6CF4-4003-98E0-1DF062FCC29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7" name="Freeform 25">
                <a:extLst>
                  <a:ext uri="{FF2B5EF4-FFF2-40B4-BE49-F238E27FC236}">
                    <a16:creationId xmlns:a16="http://schemas.microsoft.com/office/drawing/2014/main" id="{FC34D197-C04B-4FC2-8FC0-3D74CBBB9FB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8" name="Freeform 26">
                <a:extLst>
                  <a:ext uri="{FF2B5EF4-FFF2-40B4-BE49-F238E27FC236}">
                    <a16:creationId xmlns:a16="http://schemas.microsoft.com/office/drawing/2014/main" id="{88F51C54-07D2-4CDD-9DE3-40BF4DD0088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223552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think-cell Slide" r:id="rId4" imgW="495" imgH="496" progId="TCLayout.ActiveDocument.1">
                  <p:embed/>
                </p:oleObj>
              </mc:Choice>
              <mc:Fallback>
                <p:oleObj name="think-cell Slide" r:id="rId4" imgW="495" imgH="4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4400" y="6019800"/>
            <a:ext cx="1016000" cy="228600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9CBAE0-C9DC-48E5-BC21-54F13D4EB4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769600" cy="48736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914401"/>
            <a:ext cx="10972800" cy="52117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951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18" y="514351"/>
            <a:ext cx="11127316" cy="2587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29167" y="944564"/>
            <a:ext cx="11127317" cy="9048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3"/>
          <p:cNvSpPr/>
          <p:nvPr userDrawn="1"/>
        </p:nvSpPr>
        <p:spPr>
          <a:xfrm>
            <a:off x="5868160" y="6557187"/>
            <a:ext cx="46679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t>- </a:t>
            </a:r>
            <a:fld id="{86C77FDF-45C5-4665-AAEE-45520AE6BEA9}" type="slidenum">
              <a:rPr lang="en-US" sz="900" b="0" smtClean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r>
              <a:rPr lang="en-US" sz="900" b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t> -</a:t>
            </a:r>
            <a:endParaRPr lang="en-US" sz="900" b="0">
              <a:solidFill>
                <a:srgbClr val="040707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29167" y="773113"/>
            <a:ext cx="11127317" cy="0"/>
          </a:xfrm>
          <a:prstGeom prst="line">
            <a:avLst/>
          </a:prstGeom>
          <a:ln w="25400">
            <a:solidFill>
              <a:srgbClr val="7FC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00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  <a:endParaRPr lang="en-ZA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0471" y="1000259"/>
            <a:ext cx="11422062" cy="339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n-lt"/>
              </a:defRPr>
            </a:lvl1pPr>
            <a:lvl2pPr marL="268287" indent="0">
              <a:buNone/>
              <a:defRPr sz="2000">
                <a:solidFill>
                  <a:schemeClr val="bg2"/>
                </a:solidFill>
                <a:latin typeface="+mn-lt"/>
              </a:defRPr>
            </a:lvl2pPr>
            <a:lvl3pPr marL="625475" indent="0">
              <a:buNone/>
              <a:defRPr sz="2000">
                <a:solidFill>
                  <a:schemeClr val="bg2"/>
                </a:solidFill>
                <a:latin typeface="+mn-lt"/>
              </a:defRPr>
            </a:lvl3pPr>
            <a:lvl4pPr marL="893763" indent="0">
              <a:buNone/>
              <a:defRPr sz="2000">
                <a:solidFill>
                  <a:schemeClr val="bg2"/>
                </a:solidFill>
                <a:latin typeface="+mn-lt"/>
              </a:defRPr>
            </a:lvl4pPr>
            <a:lvl5pPr marL="1163637" indent="0">
              <a:buNone/>
              <a:defRPr sz="20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  <a:endParaRPr lang="en-ZA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65125" y="857473"/>
            <a:ext cx="11441641" cy="0"/>
          </a:xfrm>
          <a:prstGeom prst="line">
            <a:avLst/>
          </a:prstGeom>
          <a:ln w="317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23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7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11175" y="1279083"/>
            <a:ext cx="11071225" cy="6477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0492" y="2212900"/>
            <a:ext cx="11071907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806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7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11175" y="1279083"/>
            <a:ext cx="11071225" cy="6477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0492" y="2212900"/>
            <a:ext cx="11071907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27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W lab rep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 b="1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7559002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782626"/>
            <a:ext cx="11216640" cy="757255"/>
          </a:xfrm>
        </p:spPr>
        <p:txBody>
          <a:bodyPr>
            <a:noAutofit/>
          </a:bodyPr>
          <a:lstStyle>
            <a:lvl1pPr marL="0" indent="0">
              <a:buNone/>
              <a:defRPr sz="15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7680" y="295687"/>
            <a:ext cx="1121664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4678106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668432" y="0"/>
            <a:ext cx="523568" cy="268287"/>
          </a:xfrm>
        </p:spPr>
        <p:txBody>
          <a:bodyPr/>
          <a:lstStyle/>
          <a:p>
            <a:fld id="{6C9EDA83-5074-4C24-8467-F331177C9D01}" type="slidenum">
              <a:rPr lang="en-ZA" smtClean="0">
                <a:solidFill>
                  <a:prstClr val="black"/>
                </a:solidFill>
              </a:rPr>
              <a:pPr/>
              <a:t>‹#›</a:t>
            </a:fld>
            <a:endParaRPr lang="en-Z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753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96844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01292" y="861355"/>
            <a:ext cx="10706100" cy="221599"/>
          </a:xfrm>
        </p:spPr>
        <p:txBody>
          <a:bodyPr/>
          <a:lstStyle>
            <a:lvl1pPr>
              <a:lnSpc>
                <a:spcPct val="90000"/>
              </a:lnSpc>
              <a:defRPr sz="1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noProof="0"/>
              <a:t>Tagline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8217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8856-1A9E-4118-A2D8-1A0DF57D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BF16A-5356-4BCD-9115-437609C3A0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0350" y="972000"/>
            <a:ext cx="11160001" cy="5189538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4760D34-E739-4E1A-8081-304461B62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24433" y="4"/>
            <a:ext cx="2867571" cy="226591"/>
          </a:xfrm>
          <a:noFill/>
        </p:spPr>
        <p:txBody>
          <a:bodyPr wrap="none" lIns="0" tIns="72000" rIns="72000" bIns="0">
            <a:spAutoFit/>
          </a:bodyPr>
          <a:lstStyle>
            <a:lvl1pPr algn="r">
              <a:defRPr lang="en-US" sz="1000" b="1" cap="small" spc="267" baseline="0" smtClean="0"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ZA"/>
            </a:lvl5pPr>
          </a:lstStyle>
          <a:p>
            <a:pPr lvl="0" algn="r"/>
            <a:r>
              <a:rPr lang="en-US"/>
              <a:t>Click to edit Master text styles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433487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title no descrip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9B11EA-C6D0-4AEF-8280-8974D69A3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400" y="2593447"/>
            <a:ext cx="4689764" cy="1110338"/>
          </a:xfrm>
        </p:spPr>
        <p:txBody>
          <a:bodyPr numCol="1" anchor="ctr"/>
          <a:lstStyle>
            <a:lvl1pPr>
              <a:spcBef>
                <a:spcPts val="0"/>
              </a:spcBef>
              <a:defRPr sz="2800"/>
            </a:lvl1pPr>
          </a:lstStyle>
          <a:p>
            <a:r>
              <a:rPr lang="en-US"/>
              <a:t>Add presentation title</a:t>
            </a:r>
            <a:endParaRPr lang="en-GB" altLang="en-GB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FAD6190-E2A1-4B8A-B7E6-F74781C2D0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7400" y="3712109"/>
            <a:ext cx="4689452" cy="415781"/>
          </a:xfrm>
          <a:prstGeom prst="rect">
            <a:avLst/>
          </a:prstGeom>
        </p:spPr>
        <p:txBody>
          <a:bodyPr numCol="1" anchor="t"/>
          <a:lstStyle>
            <a:lvl1pPr marL="0" indent="0">
              <a:spcBef>
                <a:spcPts val="0"/>
              </a:spcBef>
              <a:buNone/>
              <a:defRPr sz="1800" i="1"/>
            </a:lvl1pPr>
          </a:lstStyle>
          <a:p>
            <a:pPr lvl="0"/>
            <a:r>
              <a:rPr lang="en-US"/>
              <a:t>Add subtitle</a:t>
            </a:r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783476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 yellow oval with descrip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452BA5D-0243-47AE-A1DB-459E7316522C}"/>
              </a:ext>
            </a:extLst>
          </p:cNvPr>
          <p:cNvGrpSpPr/>
          <p:nvPr userDrawn="1"/>
        </p:nvGrpSpPr>
        <p:grpSpPr>
          <a:xfrm>
            <a:off x="1" y="677021"/>
            <a:ext cx="11798299" cy="5784424"/>
            <a:chOff x="1" y="677021"/>
            <a:chExt cx="11798299" cy="5784424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3488EC-74B9-4DE3-80BB-E1CBC85C36AF}"/>
                </a:ext>
              </a:extLst>
            </p:cNvPr>
            <p:cNvSpPr/>
            <p:nvPr userDrawn="1"/>
          </p:nvSpPr>
          <p:spPr>
            <a:xfrm>
              <a:off x="1" y="677021"/>
              <a:ext cx="6668655" cy="5490104"/>
            </a:xfrm>
            <a:custGeom>
              <a:avLst/>
              <a:gdLst>
                <a:gd name="connsiteX0" fmla="*/ 0 w 6668655"/>
                <a:gd name="connsiteY0" fmla="*/ 0 h 5490104"/>
                <a:gd name="connsiteX1" fmla="*/ 560043 w 6668655"/>
                <a:gd name="connsiteY1" fmla="*/ 11421 h 5490104"/>
                <a:gd name="connsiteX2" fmla="*/ 6668655 w 6668655"/>
                <a:gd name="connsiteY2" fmla="*/ 2745052 h 5490104"/>
                <a:gd name="connsiteX3" fmla="*/ 560043 w 6668655"/>
                <a:gd name="connsiteY3" fmla="*/ 5478684 h 5490104"/>
                <a:gd name="connsiteX4" fmla="*/ 0 w 6668655"/>
                <a:gd name="connsiteY4" fmla="*/ 5490104 h 5490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8655" h="5490104">
                  <a:moveTo>
                    <a:pt x="0" y="0"/>
                  </a:moveTo>
                  <a:lnTo>
                    <a:pt x="560043" y="11421"/>
                  </a:lnTo>
                  <a:cubicBezTo>
                    <a:pt x="3991160" y="152137"/>
                    <a:pt x="6668655" y="1322323"/>
                    <a:pt x="6668655" y="2745052"/>
                  </a:cubicBezTo>
                  <a:cubicBezTo>
                    <a:pt x="6668655" y="4167782"/>
                    <a:pt x="3991160" y="5337968"/>
                    <a:pt x="560043" y="5478684"/>
                  </a:cubicBezTo>
                  <a:lnTo>
                    <a:pt x="0" y="5490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615AAC-41D2-434C-9428-BF63EA896291}"/>
                </a:ext>
              </a:extLst>
            </p:cNvPr>
            <p:cNvGrpSpPr/>
            <p:nvPr userDrawn="1"/>
          </p:nvGrpSpPr>
          <p:grpSpPr>
            <a:xfrm>
              <a:off x="7813964" y="5310073"/>
              <a:ext cx="3984336" cy="1151372"/>
              <a:chOff x="7813964" y="5310073"/>
              <a:chExt cx="3984336" cy="115137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F458BA2-8A46-4581-B19B-9D2D867A6C80}"/>
                  </a:ext>
                </a:extLst>
              </p:cNvPr>
              <p:cNvGrpSpPr/>
              <p:nvPr userDrawn="1"/>
            </p:nvGrpSpPr>
            <p:grpSpPr>
              <a:xfrm>
                <a:off x="7813964" y="5788335"/>
                <a:ext cx="2358245" cy="226732"/>
                <a:chOff x="19621500" y="3297238"/>
                <a:chExt cx="3170238" cy="304801"/>
              </a:xfrm>
            </p:grpSpPr>
            <p:sp>
              <p:nvSpPr>
                <p:cNvPr id="29" name="Freeform 5">
                  <a:extLst>
                    <a:ext uri="{FF2B5EF4-FFF2-40B4-BE49-F238E27FC236}">
                      <a16:creationId xmlns:a16="http://schemas.microsoft.com/office/drawing/2014/main" id="{90492846-68C3-4A06-9BBB-C31EE41839E1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19621500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4 w 115"/>
                    <a:gd name="T3" fmla="*/ 106 h 106"/>
                    <a:gd name="T4" fmla="*/ 4 w 115"/>
                    <a:gd name="T5" fmla="*/ 55 h 106"/>
                    <a:gd name="T6" fmla="*/ 69 w 115"/>
                    <a:gd name="T7" fmla="*/ 0 h 106"/>
                    <a:gd name="T8" fmla="*/ 111 w 115"/>
                    <a:gd name="T9" fmla="*/ 44 h 106"/>
                    <a:gd name="T10" fmla="*/ 105 w 115"/>
                    <a:gd name="T11" fmla="*/ 61 h 106"/>
                    <a:gd name="T12" fmla="*/ 36 w 115"/>
                    <a:gd name="T13" fmla="*/ 61 h 106"/>
                    <a:gd name="T14" fmla="*/ 65 w 115"/>
                    <a:gd name="T15" fmla="*/ 81 h 106"/>
                    <a:gd name="T16" fmla="*/ 97 w 115"/>
                    <a:gd name="T17" fmla="*/ 72 h 106"/>
                    <a:gd name="T18" fmla="*/ 106 w 115"/>
                    <a:gd name="T19" fmla="*/ 88 h 106"/>
                    <a:gd name="T20" fmla="*/ 38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8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5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5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2" name="Freeform 6">
                  <a:extLst>
                    <a:ext uri="{FF2B5EF4-FFF2-40B4-BE49-F238E27FC236}">
                      <a16:creationId xmlns:a16="http://schemas.microsoft.com/office/drawing/2014/main" id="{707CE0B4-2D6D-4971-8AF0-3042F22B8223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19829463" y="3370263"/>
                  <a:ext cx="190500" cy="161925"/>
                </a:xfrm>
                <a:custGeom>
                  <a:avLst/>
                  <a:gdLst>
                    <a:gd name="T0" fmla="*/ 120 w 120"/>
                    <a:gd name="T1" fmla="*/ 0 h 102"/>
                    <a:gd name="T2" fmla="*/ 62 w 120"/>
                    <a:gd name="T3" fmla="*/ 102 h 102"/>
                    <a:gd name="T4" fmla="*/ 29 w 120"/>
                    <a:gd name="T5" fmla="*/ 102 h 102"/>
                    <a:gd name="T6" fmla="*/ 0 w 120"/>
                    <a:gd name="T7" fmla="*/ 0 h 102"/>
                    <a:gd name="T8" fmla="*/ 35 w 120"/>
                    <a:gd name="T9" fmla="*/ 0 h 102"/>
                    <a:gd name="T10" fmla="*/ 52 w 120"/>
                    <a:gd name="T11" fmla="*/ 67 h 102"/>
                    <a:gd name="T12" fmla="*/ 87 w 120"/>
                    <a:gd name="T13" fmla="*/ 0 h 102"/>
                    <a:gd name="T14" fmla="*/ 120 w 120"/>
                    <a:gd name="T15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0" h="102">
                      <a:moveTo>
                        <a:pt x="120" y="0"/>
                      </a:moveTo>
                      <a:lnTo>
                        <a:pt x="62" y="102"/>
                      </a:lnTo>
                      <a:lnTo>
                        <a:pt x="29" y="102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52" y="67"/>
                      </a:lnTo>
                      <a:lnTo>
                        <a:pt x="87" y="0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3" name="Freeform 7">
                  <a:extLst>
                    <a:ext uri="{FF2B5EF4-FFF2-40B4-BE49-F238E27FC236}">
                      <a16:creationId xmlns:a16="http://schemas.microsoft.com/office/drawing/2014/main" id="{68C03181-FF55-4636-9D8E-96B2FC865CF7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0013613" y="3363913"/>
                  <a:ext cx="188913" cy="176213"/>
                </a:xfrm>
                <a:custGeom>
                  <a:avLst/>
                  <a:gdLst>
                    <a:gd name="T0" fmla="*/ 106 w 114"/>
                    <a:gd name="T1" fmla="*/ 88 h 106"/>
                    <a:gd name="T2" fmla="*/ 54 w 114"/>
                    <a:gd name="T3" fmla="*/ 106 h 106"/>
                    <a:gd name="T4" fmla="*/ 4 w 114"/>
                    <a:gd name="T5" fmla="*/ 55 h 106"/>
                    <a:gd name="T6" fmla="*/ 69 w 114"/>
                    <a:gd name="T7" fmla="*/ 0 h 106"/>
                    <a:gd name="T8" fmla="*/ 111 w 114"/>
                    <a:gd name="T9" fmla="*/ 44 h 106"/>
                    <a:gd name="T10" fmla="*/ 105 w 114"/>
                    <a:gd name="T11" fmla="*/ 61 h 106"/>
                    <a:gd name="T12" fmla="*/ 35 w 114"/>
                    <a:gd name="T13" fmla="*/ 61 h 106"/>
                    <a:gd name="T14" fmla="*/ 64 w 114"/>
                    <a:gd name="T15" fmla="*/ 81 h 106"/>
                    <a:gd name="T16" fmla="*/ 97 w 114"/>
                    <a:gd name="T17" fmla="*/ 72 h 106"/>
                    <a:gd name="T18" fmla="*/ 106 w 114"/>
                    <a:gd name="T19" fmla="*/ 88 h 106"/>
                    <a:gd name="T20" fmla="*/ 38 w 114"/>
                    <a:gd name="T21" fmla="*/ 40 h 106"/>
                    <a:gd name="T22" fmla="*/ 83 w 114"/>
                    <a:gd name="T23" fmla="*/ 40 h 106"/>
                    <a:gd name="T24" fmla="*/ 66 w 114"/>
                    <a:gd name="T25" fmla="*/ 22 h 106"/>
                    <a:gd name="T26" fmla="*/ 38 w 114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4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4" y="18"/>
                        <a:pt x="111" y="44"/>
                      </a:cubicBezTo>
                      <a:cubicBezTo>
                        <a:pt x="110" y="51"/>
                        <a:pt x="107" y="57"/>
                        <a:pt x="105" y="61"/>
                      </a:cubicBezTo>
                      <a:cubicBezTo>
                        <a:pt x="35" y="61"/>
                        <a:pt x="35" y="61"/>
                        <a:pt x="35" y="61"/>
                      </a:cubicBezTo>
                      <a:cubicBezTo>
                        <a:pt x="37" y="74"/>
                        <a:pt x="47" y="81"/>
                        <a:pt x="64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3" y="40"/>
                        <a:pt x="83" y="40"/>
                        <a:pt x="83" y="40"/>
                      </a:cubicBezTo>
                      <a:cubicBezTo>
                        <a:pt x="84" y="29"/>
                        <a:pt x="77" y="22"/>
                        <a:pt x="66" y="22"/>
                      </a:cubicBezTo>
                      <a:cubicBezTo>
                        <a:pt x="55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4" name="Freeform 8">
                  <a:extLst>
                    <a:ext uri="{FF2B5EF4-FFF2-40B4-BE49-F238E27FC236}">
                      <a16:creationId xmlns:a16="http://schemas.microsoft.com/office/drawing/2014/main" id="{56402EF2-1D73-40A4-935D-876F9D5A62A4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219988" y="3365501"/>
                  <a:ext cx="146050" cy="166688"/>
                </a:xfrm>
                <a:custGeom>
                  <a:avLst/>
                  <a:gdLst>
                    <a:gd name="T0" fmla="*/ 89 w 89"/>
                    <a:gd name="T1" fmla="*/ 2 h 100"/>
                    <a:gd name="T2" fmla="*/ 84 w 89"/>
                    <a:gd name="T3" fmla="*/ 32 h 100"/>
                    <a:gd name="T4" fmla="*/ 70 w 89"/>
                    <a:gd name="T5" fmla="*/ 30 h 100"/>
                    <a:gd name="T6" fmla="*/ 40 w 89"/>
                    <a:gd name="T7" fmla="*/ 46 h 100"/>
                    <a:gd name="T8" fmla="*/ 32 w 89"/>
                    <a:gd name="T9" fmla="*/ 100 h 100"/>
                    <a:gd name="T10" fmla="*/ 0 w 89"/>
                    <a:gd name="T11" fmla="*/ 100 h 100"/>
                    <a:gd name="T12" fmla="*/ 14 w 89"/>
                    <a:gd name="T13" fmla="*/ 6 h 100"/>
                    <a:gd name="T14" fmla="*/ 45 w 89"/>
                    <a:gd name="T15" fmla="*/ 0 h 100"/>
                    <a:gd name="T16" fmla="*/ 42 w 89"/>
                    <a:gd name="T17" fmla="*/ 22 h 100"/>
                    <a:gd name="T18" fmla="*/ 77 w 89"/>
                    <a:gd name="T19" fmla="*/ 0 h 100"/>
                    <a:gd name="T20" fmla="*/ 89 w 89"/>
                    <a:gd name="T21" fmla="*/ 2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9" h="100">
                      <a:moveTo>
                        <a:pt x="89" y="2"/>
                      </a:moveTo>
                      <a:cubicBezTo>
                        <a:pt x="84" y="32"/>
                        <a:pt x="84" y="32"/>
                        <a:pt x="84" y="32"/>
                      </a:cubicBezTo>
                      <a:cubicBezTo>
                        <a:pt x="80" y="31"/>
                        <a:pt x="75" y="30"/>
                        <a:pt x="70" y="30"/>
                      </a:cubicBezTo>
                      <a:cubicBezTo>
                        <a:pt x="56" y="30"/>
                        <a:pt x="47" y="37"/>
                        <a:pt x="40" y="46"/>
                      </a:cubicBezTo>
                      <a:cubicBezTo>
                        <a:pt x="32" y="100"/>
                        <a:pt x="32" y="100"/>
                        <a:pt x="32" y="100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52" y="8"/>
                        <a:pt x="65" y="0"/>
                        <a:pt x="77" y="0"/>
                      </a:cubicBezTo>
                      <a:cubicBezTo>
                        <a:pt x="80" y="0"/>
                        <a:pt x="85" y="1"/>
                        <a:pt x="89" y="2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5" name="Freeform 9">
                  <a:extLst>
                    <a:ext uri="{FF2B5EF4-FFF2-40B4-BE49-F238E27FC236}">
                      <a16:creationId xmlns:a16="http://schemas.microsoft.com/office/drawing/2014/main" id="{4359D712-C209-4C72-970A-117E75D0BAA9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369213" y="3370263"/>
                  <a:ext cx="187325" cy="228600"/>
                </a:xfrm>
                <a:custGeom>
                  <a:avLst/>
                  <a:gdLst>
                    <a:gd name="T0" fmla="*/ 118 w 118"/>
                    <a:gd name="T1" fmla="*/ 0 h 144"/>
                    <a:gd name="T2" fmla="*/ 38 w 118"/>
                    <a:gd name="T3" fmla="*/ 144 h 144"/>
                    <a:gd name="T4" fmla="*/ 5 w 118"/>
                    <a:gd name="T5" fmla="*/ 144 h 144"/>
                    <a:gd name="T6" fmla="*/ 31 w 118"/>
                    <a:gd name="T7" fmla="*/ 102 h 144"/>
                    <a:gd name="T8" fmla="*/ 0 w 118"/>
                    <a:gd name="T9" fmla="*/ 0 h 144"/>
                    <a:gd name="T10" fmla="*/ 37 w 118"/>
                    <a:gd name="T11" fmla="*/ 0 h 144"/>
                    <a:gd name="T12" fmla="*/ 53 w 118"/>
                    <a:gd name="T13" fmla="*/ 64 h 144"/>
                    <a:gd name="T14" fmla="*/ 86 w 118"/>
                    <a:gd name="T15" fmla="*/ 0 h 144"/>
                    <a:gd name="T16" fmla="*/ 118 w 118"/>
                    <a:gd name="T17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8" h="144">
                      <a:moveTo>
                        <a:pt x="118" y="0"/>
                      </a:moveTo>
                      <a:lnTo>
                        <a:pt x="38" y="144"/>
                      </a:lnTo>
                      <a:lnTo>
                        <a:pt x="5" y="144"/>
                      </a:lnTo>
                      <a:lnTo>
                        <a:pt x="31" y="102"/>
                      </a:lnTo>
                      <a:lnTo>
                        <a:pt x="0" y="0"/>
                      </a:lnTo>
                      <a:lnTo>
                        <a:pt x="37" y="0"/>
                      </a:lnTo>
                      <a:lnTo>
                        <a:pt x="53" y="64"/>
                      </a:lnTo>
                      <a:lnTo>
                        <a:pt x="86" y="0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6" name="Freeform 10">
                  <a:extLst>
                    <a:ext uri="{FF2B5EF4-FFF2-40B4-BE49-F238E27FC236}">
                      <a16:creationId xmlns:a16="http://schemas.microsoft.com/office/drawing/2014/main" id="{5F8E8045-DC85-4D6A-9BA8-A90825E6C393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561300" y="3370263"/>
                  <a:ext cx="266700" cy="161925"/>
                </a:xfrm>
                <a:custGeom>
                  <a:avLst/>
                  <a:gdLst>
                    <a:gd name="T0" fmla="*/ 168 w 168"/>
                    <a:gd name="T1" fmla="*/ 0 h 102"/>
                    <a:gd name="T2" fmla="*/ 119 w 168"/>
                    <a:gd name="T3" fmla="*/ 102 h 102"/>
                    <a:gd name="T4" fmla="*/ 88 w 168"/>
                    <a:gd name="T5" fmla="*/ 102 h 102"/>
                    <a:gd name="T6" fmla="*/ 76 w 168"/>
                    <a:gd name="T7" fmla="*/ 45 h 102"/>
                    <a:gd name="T8" fmla="*/ 52 w 168"/>
                    <a:gd name="T9" fmla="*/ 102 h 102"/>
                    <a:gd name="T10" fmla="*/ 20 w 168"/>
                    <a:gd name="T11" fmla="*/ 102 h 102"/>
                    <a:gd name="T12" fmla="*/ 0 w 168"/>
                    <a:gd name="T13" fmla="*/ 0 h 102"/>
                    <a:gd name="T14" fmla="*/ 34 w 168"/>
                    <a:gd name="T15" fmla="*/ 0 h 102"/>
                    <a:gd name="T16" fmla="*/ 43 w 168"/>
                    <a:gd name="T17" fmla="*/ 67 h 102"/>
                    <a:gd name="T18" fmla="*/ 70 w 168"/>
                    <a:gd name="T19" fmla="*/ 0 h 102"/>
                    <a:gd name="T20" fmla="*/ 100 w 168"/>
                    <a:gd name="T21" fmla="*/ 0 h 102"/>
                    <a:gd name="T22" fmla="*/ 111 w 168"/>
                    <a:gd name="T23" fmla="*/ 67 h 102"/>
                    <a:gd name="T24" fmla="*/ 137 w 168"/>
                    <a:gd name="T25" fmla="*/ 0 h 102"/>
                    <a:gd name="T26" fmla="*/ 168 w 168"/>
                    <a:gd name="T27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8" h="102">
                      <a:moveTo>
                        <a:pt x="168" y="0"/>
                      </a:moveTo>
                      <a:lnTo>
                        <a:pt x="119" y="102"/>
                      </a:lnTo>
                      <a:lnTo>
                        <a:pt x="88" y="102"/>
                      </a:lnTo>
                      <a:lnTo>
                        <a:pt x="76" y="45"/>
                      </a:lnTo>
                      <a:lnTo>
                        <a:pt x="52" y="102"/>
                      </a:lnTo>
                      <a:lnTo>
                        <a:pt x="20" y="102"/>
                      </a:lnTo>
                      <a:lnTo>
                        <a:pt x="0" y="0"/>
                      </a:lnTo>
                      <a:lnTo>
                        <a:pt x="34" y="0"/>
                      </a:lnTo>
                      <a:lnTo>
                        <a:pt x="43" y="67"/>
                      </a:lnTo>
                      <a:lnTo>
                        <a:pt x="70" y="0"/>
                      </a:lnTo>
                      <a:lnTo>
                        <a:pt x="100" y="0"/>
                      </a:lnTo>
                      <a:lnTo>
                        <a:pt x="111" y="67"/>
                      </a:lnTo>
                      <a:lnTo>
                        <a:pt x="137" y="0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7" name="Freeform 11">
                  <a:extLst>
                    <a:ext uri="{FF2B5EF4-FFF2-40B4-BE49-F238E27FC236}">
                      <a16:creationId xmlns:a16="http://schemas.microsoft.com/office/drawing/2014/main" id="{EC4F783D-E46B-4B61-8614-6DBF131C2897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831175" y="3297238"/>
                  <a:ext cx="192088" cy="234950"/>
                </a:xfrm>
                <a:custGeom>
                  <a:avLst/>
                  <a:gdLst>
                    <a:gd name="T0" fmla="*/ 112 w 116"/>
                    <a:gd name="T1" fmla="*/ 84 h 142"/>
                    <a:gd name="T2" fmla="*/ 103 w 116"/>
                    <a:gd name="T3" fmla="*/ 142 h 142"/>
                    <a:gd name="T4" fmla="*/ 71 w 116"/>
                    <a:gd name="T5" fmla="*/ 142 h 142"/>
                    <a:gd name="T6" fmla="*/ 78 w 116"/>
                    <a:gd name="T7" fmla="*/ 94 h 142"/>
                    <a:gd name="T8" fmla="*/ 64 w 116"/>
                    <a:gd name="T9" fmla="*/ 69 h 142"/>
                    <a:gd name="T10" fmla="*/ 41 w 116"/>
                    <a:gd name="T11" fmla="*/ 81 h 142"/>
                    <a:gd name="T12" fmla="*/ 32 w 116"/>
                    <a:gd name="T13" fmla="*/ 142 h 142"/>
                    <a:gd name="T14" fmla="*/ 0 w 116"/>
                    <a:gd name="T15" fmla="*/ 142 h 142"/>
                    <a:gd name="T16" fmla="*/ 19 w 116"/>
                    <a:gd name="T17" fmla="*/ 6 h 142"/>
                    <a:gd name="T18" fmla="*/ 52 w 116"/>
                    <a:gd name="T19" fmla="*/ 0 h 142"/>
                    <a:gd name="T20" fmla="*/ 44 w 116"/>
                    <a:gd name="T21" fmla="*/ 57 h 142"/>
                    <a:gd name="T22" fmla="*/ 81 w 116"/>
                    <a:gd name="T23" fmla="*/ 42 h 142"/>
                    <a:gd name="T24" fmla="*/ 112 w 116"/>
                    <a:gd name="T25" fmla="*/ 84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6" h="142">
                      <a:moveTo>
                        <a:pt x="112" y="84"/>
                      </a:moveTo>
                      <a:cubicBezTo>
                        <a:pt x="103" y="142"/>
                        <a:pt x="103" y="142"/>
                        <a:pt x="103" y="142"/>
                      </a:cubicBezTo>
                      <a:cubicBezTo>
                        <a:pt x="71" y="142"/>
                        <a:pt x="71" y="142"/>
                        <a:pt x="71" y="142"/>
                      </a:cubicBezTo>
                      <a:cubicBezTo>
                        <a:pt x="78" y="94"/>
                        <a:pt x="78" y="94"/>
                        <a:pt x="78" y="94"/>
                      </a:cubicBezTo>
                      <a:cubicBezTo>
                        <a:pt x="80" y="78"/>
                        <a:pt x="76" y="69"/>
                        <a:pt x="64" y="69"/>
                      </a:cubicBezTo>
                      <a:cubicBezTo>
                        <a:pt x="56" y="69"/>
                        <a:pt x="47" y="74"/>
                        <a:pt x="41" y="81"/>
                      </a:cubicBezTo>
                      <a:cubicBezTo>
                        <a:pt x="32" y="142"/>
                        <a:pt x="32" y="142"/>
                        <a:pt x="32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19" y="6"/>
                        <a:pt x="19" y="6"/>
                        <a:pt x="19" y="6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4" y="47"/>
                        <a:pt x="68" y="42"/>
                        <a:pt x="81" y="42"/>
                      </a:cubicBezTo>
                      <a:cubicBezTo>
                        <a:pt x="101" y="42"/>
                        <a:pt x="116" y="56"/>
                        <a:pt x="112" y="8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546F6F1E-876A-4B5E-943C-F6A6469C2516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037550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5 w 115"/>
                    <a:gd name="T3" fmla="*/ 106 h 106"/>
                    <a:gd name="T4" fmla="*/ 5 w 115"/>
                    <a:gd name="T5" fmla="*/ 55 h 106"/>
                    <a:gd name="T6" fmla="*/ 70 w 115"/>
                    <a:gd name="T7" fmla="*/ 0 h 106"/>
                    <a:gd name="T8" fmla="*/ 111 w 115"/>
                    <a:gd name="T9" fmla="*/ 44 h 106"/>
                    <a:gd name="T10" fmla="*/ 106 w 115"/>
                    <a:gd name="T11" fmla="*/ 61 h 106"/>
                    <a:gd name="T12" fmla="*/ 36 w 115"/>
                    <a:gd name="T13" fmla="*/ 61 h 106"/>
                    <a:gd name="T14" fmla="*/ 65 w 115"/>
                    <a:gd name="T15" fmla="*/ 81 h 106"/>
                    <a:gd name="T16" fmla="*/ 98 w 115"/>
                    <a:gd name="T17" fmla="*/ 72 h 106"/>
                    <a:gd name="T18" fmla="*/ 106 w 115"/>
                    <a:gd name="T19" fmla="*/ 88 h 106"/>
                    <a:gd name="T20" fmla="*/ 39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9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4" y="97"/>
                        <a:pt x="76" y="106"/>
                        <a:pt x="55" y="106"/>
                      </a:cubicBezTo>
                      <a:cubicBezTo>
                        <a:pt x="21" y="106"/>
                        <a:pt x="0" y="86"/>
                        <a:pt x="5" y="55"/>
                      </a:cubicBez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6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5" y="81"/>
                      </a:cubicBezTo>
                      <a:cubicBezTo>
                        <a:pt x="76" y="81"/>
                        <a:pt x="88" y="77"/>
                        <a:pt x="98" y="72"/>
                      </a:cubicBezTo>
                      <a:lnTo>
                        <a:pt x="106" y="88"/>
                      </a:lnTo>
                      <a:close/>
                      <a:moveTo>
                        <a:pt x="39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9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CA9B1D36-957A-4BDA-B729-38E79B28D45C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1245513" y="3365501"/>
                  <a:ext cx="144463" cy="166688"/>
                </a:xfrm>
                <a:custGeom>
                  <a:avLst/>
                  <a:gdLst>
                    <a:gd name="T0" fmla="*/ 88 w 88"/>
                    <a:gd name="T1" fmla="*/ 2 h 100"/>
                    <a:gd name="T2" fmla="*/ 84 w 88"/>
                    <a:gd name="T3" fmla="*/ 32 h 100"/>
                    <a:gd name="T4" fmla="*/ 70 w 88"/>
                    <a:gd name="T5" fmla="*/ 30 h 100"/>
                    <a:gd name="T6" fmla="*/ 40 w 88"/>
                    <a:gd name="T7" fmla="*/ 46 h 100"/>
                    <a:gd name="T8" fmla="*/ 32 w 88"/>
                    <a:gd name="T9" fmla="*/ 100 h 100"/>
                    <a:gd name="T10" fmla="*/ 0 w 88"/>
                    <a:gd name="T11" fmla="*/ 100 h 100"/>
                    <a:gd name="T12" fmla="*/ 13 w 88"/>
                    <a:gd name="T13" fmla="*/ 6 h 100"/>
                    <a:gd name="T14" fmla="*/ 45 w 88"/>
                    <a:gd name="T15" fmla="*/ 0 h 100"/>
                    <a:gd name="T16" fmla="*/ 42 w 88"/>
                    <a:gd name="T17" fmla="*/ 22 h 100"/>
                    <a:gd name="T18" fmla="*/ 77 w 88"/>
                    <a:gd name="T19" fmla="*/ 0 h 100"/>
                    <a:gd name="T20" fmla="*/ 88 w 88"/>
                    <a:gd name="T21" fmla="*/ 2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8" h="100">
                      <a:moveTo>
                        <a:pt x="88" y="2"/>
                      </a:moveTo>
                      <a:cubicBezTo>
                        <a:pt x="84" y="32"/>
                        <a:pt x="84" y="32"/>
                        <a:pt x="84" y="32"/>
                      </a:cubicBezTo>
                      <a:cubicBezTo>
                        <a:pt x="80" y="31"/>
                        <a:pt x="74" y="30"/>
                        <a:pt x="70" y="30"/>
                      </a:cubicBezTo>
                      <a:cubicBezTo>
                        <a:pt x="56" y="30"/>
                        <a:pt x="47" y="37"/>
                        <a:pt x="40" y="46"/>
                      </a:cubicBezTo>
                      <a:cubicBezTo>
                        <a:pt x="32" y="100"/>
                        <a:pt x="32" y="100"/>
                        <a:pt x="32" y="100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52" y="8"/>
                        <a:pt x="65" y="0"/>
                        <a:pt x="77" y="0"/>
                      </a:cubicBezTo>
                      <a:cubicBezTo>
                        <a:pt x="80" y="0"/>
                        <a:pt x="85" y="1"/>
                        <a:pt x="88" y="2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21A37BB1-CBB1-4A15-979F-B7F58EF47171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389975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4 w 115"/>
                    <a:gd name="T3" fmla="*/ 106 h 106"/>
                    <a:gd name="T4" fmla="*/ 4 w 115"/>
                    <a:gd name="T5" fmla="*/ 55 h 106"/>
                    <a:gd name="T6" fmla="*/ 69 w 115"/>
                    <a:gd name="T7" fmla="*/ 0 h 106"/>
                    <a:gd name="T8" fmla="*/ 111 w 115"/>
                    <a:gd name="T9" fmla="*/ 44 h 106"/>
                    <a:gd name="T10" fmla="*/ 105 w 115"/>
                    <a:gd name="T11" fmla="*/ 61 h 106"/>
                    <a:gd name="T12" fmla="*/ 36 w 115"/>
                    <a:gd name="T13" fmla="*/ 61 h 106"/>
                    <a:gd name="T14" fmla="*/ 64 w 115"/>
                    <a:gd name="T15" fmla="*/ 81 h 106"/>
                    <a:gd name="T16" fmla="*/ 97 w 115"/>
                    <a:gd name="T17" fmla="*/ 72 h 106"/>
                    <a:gd name="T18" fmla="*/ 106 w 115"/>
                    <a:gd name="T19" fmla="*/ 88 h 106"/>
                    <a:gd name="T20" fmla="*/ 38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8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5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4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1" name="Freeform 15">
                  <a:extLst>
                    <a:ext uri="{FF2B5EF4-FFF2-40B4-BE49-F238E27FC236}">
                      <a16:creationId xmlns:a16="http://schemas.microsoft.com/office/drawing/2014/main" id="{CBD1D02E-59F5-46CB-B0C1-2184AF3D6432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1678900" y="3370263"/>
                  <a:ext cx="184150" cy="228600"/>
                </a:xfrm>
                <a:custGeom>
                  <a:avLst/>
                  <a:gdLst>
                    <a:gd name="T0" fmla="*/ 116 w 116"/>
                    <a:gd name="T1" fmla="*/ 0 h 144"/>
                    <a:gd name="T2" fmla="*/ 36 w 116"/>
                    <a:gd name="T3" fmla="*/ 144 h 144"/>
                    <a:gd name="T4" fmla="*/ 4 w 116"/>
                    <a:gd name="T5" fmla="*/ 144 h 144"/>
                    <a:gd name="T6" fmla="*/ 29 w 116"/>
                    <a:gd name="T7" fmla="*/ 102 h 144"/>
                    <a:gd name="T8" fmla="*/ 0 w 116"/>
                    <a:gd name="T9" fmla="*/ 0 h 144"/>
                    <a:gd name="T10" fmla="*/ 35 w 116"/>
                    <a:gd name="T11" fmla="*/ 0 h 144"/>
                    <a:gd name="T12" fmla="*/ 51 w 116"/>
                    <a:gd name="T13" fmla="*/ 64 h 144"/>
                    <a:gd name="T14" fmla="*/ 84 w 116"/>
                    <a:gd name="T15" fmla="*/ 0 h 144"/>
                    <a:gd name="T16" fmla="*/ 116 w 116"/>
                    <a:gd name="T17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6" h="144">
                      <a:moveTo>
                        <a:pt x="116" y="0"/>
                      </a:moveTo>
                      <a:lnTo>
                        <a:pt x="36" y="144"/>
                      </a:lnTo>
                      <a:lnTo>
                        <a:pt x="4" y="144"/>
                      </a:lnTo>
                      <a:lnTo>
                        <a:pt x="29" y="102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51" y="64"/>
                      </a:lnTo>
                      <a:lnTo>
                        <a:pt x="84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2" name="Freeform 16">
                  <a:extLst>
                    <a:ext uri="{FF2B5EF4-FFF2-40B4-BE49-F238E27FC236}">
                      <a16:creationId xmlns:a16="http://schemas.microsoft.com/office/drawing/2014/main" id="{2C8A47B0-E4E7-43CF-A7AB-94A1CB82BCA4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858288" y="3363913"/>
                  <a:ext cx="203200" cy="176213"/>
                </a:xfrm>
                <a:custGeom>
                  <a:avLst/>
                  <a:gdLst>
                    <a:gd name="T0" fmla="*/ 4 w 123"/>
                    <a:gd name="T1" fmla="*/ 55 h 106"/>
                    <a:gd name="T2" fmla="*/ 70 w 123"/>
                    <a:gd name="T3" fmla="*/ 0 h 106"/>
                    <a:gd name="T4" fmla="*/ 119 w 123"/>
                    <a:gd name="T5" fmla="*/ 51 h 106"/>
                    <a:gd name="T6" fmla="*/ 53 w 123"/>
                    <a:gd name="T7" fmla="*/ 106 h 106"/>
                    <a:gd name="T8" fmla="*/ 4 w 123"/>
                    <a:gd name="T9" fmla="*/ 55 h 106"/>
                    <a:gd name="T10" fmla="*/ 86 w 123"/>
                    <a:gd name="T11" fmla="*/ 54 h 106"/>
                    <a:gd name="T12" fmla="*/ 65 w 123"/>
                    <a:gd name="T13" fmla="*/ 24 h 106"/>
                    <a:gd name="T14" fmla="*/ 38 w 123"/>
                    <a:gd name="T15" fmla="*/ 52 h 106"/>
                    <a:gd name="T16" fmla="*/ 59 w 123"/>
                    <a:gd name="T17" fmla="*/ 82 h 106"/>
                    <a:gd name="T18" fmla="*/ 86 w 123"/>
                    <a:gd name="T19" fmla="*/ 54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106">
                      <a:moveTo>
                        <a:pt x="4" y="55"/>
                      </a:move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102" y="0"/>
                        <a:pt x="123" y="22"/>
                        <a:pt x="119" y="51"/>
                      </a:cubicBezTo>
                      <a:cubicBezTo>
                        <a:pt x="115" y="82"/>
                        <a:pt x="87" y="106"/>
                        <a:pt x="53" y="106"/>
                      </a:cubicBezTo>
                      <a:cubicBezTo>
                        <a:pt x="22" y="106"/>
                        <a:pt x="0" y="84"/>
                        <a:pt x="4" y="55"/>
                      </a:cubicBezTo>
                      <a:close/>
                      <a:moveTo>
                        <a:pt x="86" y="54"/>
                      </a:moveTo>
                      <a:cubicBezTo>
                        <a:pt x="89" y="36"/>
                        <a:pt x="80" y="24"/>
                        <a:pt x="65" y="24"/>
                      </a:cubicBezTo>
                      <a:cubicBezTo>
                        <a:pt x="50" y="24"/>
                        <a:pt x="40" y="35"/>
                        <a:pt x="38" y="52"/>
                      </a:cubicBezTo>
                      <a:cubicBezTo>
                        <a:pt x="35" y="70"/>
                        <a:pt x="43" y="82"/>
                        <a:pt x="59" y="82"/>
                      </a:cubicBezTo>
                      <a:cubicBezTo>
                        <a:pt x="73" y="82"/>
                        <a:pt x="84" y="71"/>
                        <a:pt x="86" y="5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3" name="Freeform 17">
                  <a:extLst>
                    <a:ext uri="{FF2B5EF4-FFF2-40B4-BE49-F238E27FC236}">
                      <a16:creationId xmlns:a16="http://schemas.microsoft.com/office/drawing/2014/main" id="{90062D4D-D9B7-4280-8CF6-A1100ABBF420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2078950" y="3365501"/>
                  <a:ext cx="190500" cy="171450"/>
                </a:xfrm>
                <a:custGeom>
                  <a:avLst/>
                  <a:gdLst>
                    <a:gd name="T0" fmla="*/ 115 w 115"/>
                    <a:gd name="T1" fmla="*/ 0 h 103"/>
                    <a:gd name="T2" fmla="*/ 101 w 115"/>
                    <a:gd name="T3" fmla="*/ 100 h 103"/>
                    <a:gd name="T4" fmla="*/ 70 w 115"/>
                    <a:gd name="T5" fmla="*/ 100 h 103"/>
                    <a:gd name="T6" fmla="*/ 72 w 115"/>
                    <a:gd name="T7" fmla="*/ 88 h 103"/>
                    <a:gd name="T8" fmla="*/ 35 w 115"/>
                    <a:gd name="T9" fmla="*/ 103 h 103"/>
                    <a:gd name="T10" fmla="*/ 4 w 115"/>
                    <a:gd name="T11" fmla="*/ 61 h 103"/>
                    <a:gd name="T12" fmla="*/ 12 w 115"/>
                    <a:gd name="T13" fmla="*/ 6 h 103"/>
                    <a:gd name="T14" fmla="*/ 45 w 115"/>
                    <a:gd name="T15" fmla="*/ 0 h 103"/>
                    <a:gd name="T16" fmla="*/ 38 w 115"/>
                    <a:gd name="T17" fmla="*/ 51 h 103"/>
                    <a:gd name="T18" fmla="*/ 51 w 115"/>
                    <a:gd name="T19" fmla="*/ 77 h 103"/>
                    <a:gd name="T20" fmla="*/ 74 w 115"/>
                    <a:gd name="T21" fmla="*/ 66 h 103"/>
                    <a:gd name="T22" fmla="*/ 82 w 115"/>
                    <a:gd name="T23" fmla="*/ 6 h 103"/>
                    <a:gd name="T24" fmla="*/ 115 w 115"/>
                    <a:gd name="T25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5" h="103">
                      <a:moveTo>
                        <a:pt x="115" y="0"/>
                      </a:moveTo>
                      <a:cubicBezTo>
                        <a:pt x="101" y="100"/>
                        <a:pt x="101" y="100"/>
                        <a:pt x="101" y="100"/>
                      </a:cubicBezTo>
                      <a:cubicBezTo>
                        <a:pt x="70" y="100"/>
                        <a:pt x="70" y="100"/>
                        <a:pt x="70" y="100"/>
                      </a:cubicBezTo>
                      <a:cubicBezTo>
                        <a:pt x="72" y="88"/>
                        <a:pt x="72" y="88"/>
                        <a:pt x="72" y="88"/>
                      </a:cubicBezTo>
                      <a:cubicBezTo>
                        <a:pt x="62" y="98"/>
                        <a:pt x="48" y="103"/>
                        <a:pt x="35" y="103"/>
                      </a:cubicBezTo>
                      <a:cubicBezTo>
                        <a:pt x="14" y="103"/>
                        <a:pt x="0" y="89"/>
                        <a:pt x="4" y="61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38" y="51"/>
                        <a:pt x="38" y="51"/>
                        <a:pt x="38" y="51"/>
                      </a:cubicBezTo>
                      <a:cubicBezTo>
                        <a:pt x="35" y="68"/>
                        <a:pt x="40" y="77"/>
                        <a:pt x="51" y="77"/>
                      </a:cubicBezTo>
                      <a:cubicBezTo>
                        <a:pt x="59" y="77"/>
                        <a:pt x="67" y="73"/>
                        <a:pt x="74" y="66"/>
                      </a:cubicBezTo>
                      <a:cubicBezTo>
                        <a:pt x="82" y="6"/>
                        <a:pt x="82" y="6"/>
                        <a:pt x="82" y="6"/>
                      </a:cubicBezTo>
                      <a:lnTo>
                        <a:pt x="115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4" name="Freeform 18">
                  <a:extLst>
                    <a:ext uri="{FF2B5EF4-FFF2-40B4-BE49-F238E27FC236}">
                      <a16:creationId xmlns:a16="http://schemas.microsoft.com/office/drawing/2014/main" id="{0D6AE653-B3B6-4267-A48B-02EFADC760C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2353588" y="3365501"/>
                  <a:ext cx="233363" cy="236538"/>
                </a:xfrm>
                <a:custGeom>
                  <a:avLst/>
                  <a:gdLst>
                    <a:gd name="T0" fmla="*/ 138 w 141"/>
                    <a:gd name="T1" fmla="*/ 30 h 143"/>
                    <a:gd name="T2" fmla="*/ 114 w 141"/>
                    <a:gd name="T3" fmla="*/ 29 h 143"/>
                    <a:gd name="T4" fmla="*/ 117 w 141"/>
                    <a:gd name="T5" fmla="*/ 47 h 143"/>
                    <a:gd name="T6" fmla="*/ 59 w 141"/>
                    <a:gd name="T7" fmla="*/ 88 h 143"/>
                    <a:gd name="T8" fmla="*/ 54 w 141"/>
                    <a:gd name="T9" fmla="*/ 88 h 143"/>
                    <a:gd name="T10" fmla="*/ 35 w 141"/>
                    <a:gd name="T11" fmla="*/ 113 h 143"/>
                    <a:gd name="T12" fmla="*/ 84 w 141"/>
                    <a:gd name="T13" fmla="*/ 98 h 143"/>
                    <a:gd name="T14" fmla="*/ 118 w 141"/>
                    <a:gd name="T15" fmla="*/ 139 h 143"/>
                    <a:gd name="T16" fmla="*/ 84 w 141"/>
                    <a:gd name="T17" fmla="*/ 143 h 143"/>
                    <a:gd name="T18" fmla="*/ 66 w 141"/>
                    <a:gd name="T19" fmla="*/ 125 h 143"/>
                    <a:gd name="T20" fmla="*/ 18 w 141"/>
                    <a:gd name="T21" fmla="*/ 139 h 143"/>
                    <a:gd name="T22" fmla="*/ 0 w 141"/>
                    <a:gd name="T23" fmla="*/ 127 h 143"/>
                    <a:gd name="T24" fmla="*/ 27 w 141"/>
                    <a:gd name="T25" fmla="*/ 79 h 143"/>
                    <a:gd name="T26" fmla="*/ 11 w 141"/>
                    <a:gd name="T27" fmla="*/ 45 h 143"/>
                    <a:gd name="T28" fmla="*/ 71 w 141"/>
                    <a:gd name="T29" fmla="*/ 0 h 143"/>
                    <a:gd name="T30" fmla="*/ 91 w 141"/>
                    <a:gd name="T31" fmla="*/ 3 h 143"/>
                    <a:gd name="T32" fmla="*/ 141 w 141"/>
                    <a:gd name="T33" fmla="*/ 3 h 143"/>
                    <a:gd name="T34" fmla="*/ 138 w 141"/>
                    <a:gd name="T35" fmla="*/ 30 h 143"/>
                    <a:gd name="T36" fmla="*/ 87 w 141"/>
                    <a:gd name="T37" fmla="*/ 45 h 143"/>
                    <a:gd name="T38" fmla="*/ 67 w 141"/>
                    <a:gd name="T39" fmla="*/ 23 h 143"/>
                    <a:gd name="T40" fmla="*/ 42 w 141"/>
                    <a:gd name="T41" fmla="*/ 44 h 143"/>
                    <a:gd name="T42" fmla="*/ 62 w 141"/>
                    <a:gd name="T43" fmla="*/ 66 h 143"/>
                    <a:gd name="T44" fmla="*/ 87 w 141"/>
                    <a:gd name="T45" fmla="*/ 45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41" h="143">
                      <a:moveTo>
                        <a:pt x="138" y="30"/>
                      </a:moveTo>
                      <a:cubicBezTo>
                        <a:pt x="114" y="29"/>
                        <a:pt x="114" y="29"/>
                        <a:pt x="114" y="29"/>
                      </a:cubicBezTo>
                      <a:cubicBezTo>
                        <a:pt x="117" y="34"/>
                        <a:pt x="118" y="40"/>
                        <a:pt x="117" y="47"/>
                      </a:cubicBezTo>
                      <a:cubicBezTo>
                        <a:pt x="114" y="70"/>
                        <a:pt x="90" y="88"/>
                        <a:pt x="59" y="88"/>
                      </a:cubicBezTo>
                      <a:cubicBezTo>
                        <a:pt x="58" y="88"/>
                        <a:pt x="56" y="88"/>
                        <a:pt x="54" y="88"/>
                      </a:cubicBezTo>
                      <a:cubicBezTo>
                        <a:pt x="35" y="113"/>
                        <a:pt x="35" y="113"/>
                        <a:pt x="35" y="113"/>
                      </a:cubicBezTo>
                      <a:cubicBezTo>
                        <a:pt x="49" y="105"/>
                        <a:pt x="67" y="98"/>
                        <a:pt x="84" y="98"/>
                      </a:cubicBezTo>
                      <a:cubicBezTo>
                        <a:pt x="102" y="98"/>
                        <a:pt x="120" y="106"/>
                        <a:pt x="118" y="139"/>
                      </a:cubicBezTo>
                      <a:cubicBezTo>
                        <a:pt x="84" y="143"/>
                        <a:pt x="84" y="143"/>
                        <a:pt x="84" y="143"/>
                      </a:cubicBezTo>
                      <a:cubicBezTo>
                        <a:pt x="84" y="128"/>
                        <a:pt x="77" y="125"/>
                        <a:pt x="66" y="125"/>
                      </a:cubicBezTo>
                      <a:cubicBezTo>
                        <a:pt x="53" y="125"/>
                        <a:pt x="34" y="130"/>
                        <a:pt x="18" y="139"/>
                      </a:cubicBezTo>
                      <a:cubicBezTo>
                        <a:pt x="0" y="127"/>
                        <a:pt x="0" y="127"/>
                        <a:pt x="0" y="127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15" y="72"/>
                        <a:pt x="9" y="59"/>
                        <a:pt x="11" y="45"/>
                      </a:cubicBezTo>
                      <a:cubicBezTo>
                        <a:pt x="15" y="21"/>
                        <a:pt x="40" y="0"/>
                        <a:pt x="71" y="0"/>
                      </a:cubicBezTo>
                      <a:cubicBezTo>
                        <a:pt x="78" y="0"/>
                        <a:pt x="85" y="1"/>
                        <a:pt x="91" y="3"/>
                      </a:cubicBezTo>
                      <a:cubicBezTo>
                        <a:pt x="141" y="3"/>
                        <a:pt x="141" y="3"/>
                        <a:pt x="141" y="3"/>
                      </a:cubicBezTo>
                      <a:lnTo>
                        <a:pt x="138" y="30"/>
                      </a:lnTo>
                      <a:close/>
                      <a:moveTo>
                        <a:pt x="87" y="45"/>
                      </a:moveTo>
                      <a:cubicBezTo>
                        <a:pt x="89" y="31"/>
                        <a:pt x="79" y="23"/>
                        <a:pt x="67" y="23"/>
                      </a:cubicBezTo>
                      <a:cubicBezTo>
                        <a:pt x="55" y="23"/>
                        <a:pt x="44" y="31"/>
                        <a:pt x="42" y="44"/>
                      </a:cubicBezTo>
                      <a:cubicBezTo>
                        <a:pt x="40" y="57"/>
                        <a:pt x="50" y="66"/>
                        <a:pt x="62" y="66"/>
                      </a:cubicBezTo>
                      <a:cubicBezTo>
                        <a:pt x="74" y="66"/>
                        <a:pt x="85" y="58"/>
                        <a:pt x="87" y="45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5" name="Freeform 19">
                  <a:extLst>
                    <a:ext uri="{FF2B5EF4-FFF2-40B4-BE49-F238E27FC236}">
                      <a16:creationId xmlns:a16="http://schemas.microsoft.com/office/drawing/2014/main" id="{6D6C2AA0-1C75-49B5-937D-B2B43533C96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2588538" y="3363913"/>
                  <a:ext cx="203200" cy="176213"/>
                </a:xfrm>
                <a:custGeom>
                  <a:avLst/>
                  <a:gdLst>
                    <a:gd name="T0" fmla="*/ 4 w 123"/>
                    <a:gd name="T1" fmla="*/ 55 h 106"/>
                    <a:gd name="T2" fmla="*/ 70 w 123"/>
                    <a:gd name="T3" fmla="*/ 0 h 106"/>
                    <a:gd name="T4" fmla="*/ 119 w 123"/>
                    <a:gd name="T5" fmla="*/ 51 h 106"/>
                    <a:gd name="T6" fmla="*/ 53 w 123"/>
                    <a:gd name="T7" fmla="*/ 106 h 106"/>
                    <a:gd name="T8" fmla="*/ 4 w 123"/>
                    <a:gd name="T9" fmla="*/ 55 h 106"/>
                    <a:gd name="T10" fmla="*/ 86 w 123"/>
                    <a:gd name="T11" fmla="*/ 54 h 106"/>
                    <a:gd name="T12" fmla="*/ 65 w 123"/>
                    <a:gd name="T13" fmla="*/ 24 h 106"/>
                    <a:gd name="T14" fmla="*/ 38 w 123"/>
                    <a:gd name="T15" fmla="*/ 52 h 106"/>
                    <a:gd name="T16" fmla="*/ 59 w 123"/>
                    <a:gd name="T17" fmla="*/ 82 h 106"/>
                    <a:gd name="T18" fmla="*/ 86 w 123"/>
                    <a:gd name="T19" fmla="*/ 54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106">
                      <a:moveTo>
                        <a:pt x="4" y="55"/>
                      </a:move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102" y="0"/>
                        <a:pt x="123" y="22"/>
                        <a:pt x="119" y="51"/>
                      </a:cubicBezTo>
                      <a:cubicBezTo>
                        <a:pt x="115" y="82"/>
                        <a:pt x="87" y="106"/>
                        <a:pt x="53" y="106"/>
                      </a:cubicBezTo>
                      <a:cubicBezTo>
                        <a:pt x="21" y="106"/>
                        <a:pt x="0" y="84"/>
                        <a:pt x="4" y="55"/>
                      </a:cubicBezTo>
                      <a:close/>
                      <a:moveTo>
                        <a:pt x="86" y="54"/>
                      </a:moveTo>
                      <a:cubicBezTo>
                        <a:pt x="88" y="36"/>
                        <a:pt x="80" y="24"/>
                        <a:pt x="65" y="24"/>
                      </a:cubicBezTo>
                      <a:cubicBezTo>
                        <a:pt x="50" y="24"/>
                        <a:pt x="40" y="35"/>
                        <a:pt x="38" y="52"/>
                      </a:cubicBezTo>
                      <a:cubicBezTo>
                        <a:pt x="35" y="70"/>
                        <a:pt x="43" y="82"/>
                        <a:pt x="59" y="82"/>
                      </a:cubicBezTo>
                      <a:cubicBezTo>
                        <a:pt x="73" y="82"/>
                        <a:pt x="83" y="71"/>
                        <a:pt x="86" y="5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</p:grpSp>
          <p:sp>
            <p:nvSpPr>
              <p:cNvPr id="22" name="Rectangle 20">
                <a:extLst>
                  <a:ext uri="{FF2B5EF4-FFF2-40B4-BE49-F238E27FC236}">
                    <a16:creationId xmlns:a16="http://schemas.microsoft.com/office/drawing/2014/main" id="{05921760-FF02-4211-9312-1EF01D129C5B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3" name="Rectangle 21">
                <a:extLst>
                  <a:ext uri="{FF2B5EF4-FFF2-40B4-BE49-F238E27FC236}">
                    <a16:creationId xmlns:a16="http://schemas.microsoft.com/office/drawing/2014/main" id="{D1EB718E-4FB5-44D3-9D75-8E4EDCCB6DD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4" name="Oval 22">
                <a:extLst>
                  <a:ext uri="{FF2B5EF4-FFF2-40B4-BE49-F238E27FC236}">
                    <a16:creationId xmlns:a16="http://schemas.microsoft.com/office/drawing/2014/main" id="{D4C3DF61-087D-4DEE-9481-6BBAA7AF8EC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5" name="Freeform 23">
                <a:extLst>
                  <a:ext uri="{FF2B5EF4-FFF2-40B4-BE49-F238E27FC236}">
                    <a16:creationId xmlns:a16="http://schemas.microsoft.com/office/drawing/2014/main" id="{D6089907-968E-486F-815E-32BC2ADF57F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6" name="Freeform 24">
                <a:extLst>
                  <a:ext uri="{FF2B5EF4-FFF2-40B4-BE49-F238E27FC236}">
                    <a16:creationId xmlns:a16="http://schemas.microsoft.com/office/drawing/2014/main" id="{ABB4F9CE-4504-4B00-B81F-CD733572D06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7" name="Freeform 25">
                <a:extLst>
                  <a:ext uri="{FF2B5EF4-FFF2-40B4-BE49-F238E27FC236}">
                    <a16:creationId xmlns:a16="http://schemas.microsoft.com/office/drawing/2014/main" id="{11B4364D-4839-4496-A92F-B7B2425A0EAC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8" name="Freeform 26">
                <a:extLst>
                  <a:ext uri="{FF2B5EF4-FFF2-40B4-BE49-F238E27FC236}">
                    <a16:creationId xmlns:a16="http://schemas.microsoft.com/office/drawing/2014/main" id="{554B7D1D-8A06-4651-9877-6704029F613F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DF4E762-8EE1-4ABB-BA5B-2057AAB0CB2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648109 w 12192000"/>
              <a:gd name="connsiteY0" fmla="*/ 5310073 h 6858000"/>
              <a:gd name="connsiteX1" fmla="*/ 10648109 w 12192000"/>
              <a:gd name="connsiteY1" fmla="*/ 6461445 h 6858000"/>
              <a:gd name="connsiteX2" fmla="*/ 11798300 w 12192000"/>
              <a:gd name="connsiteY2" fmla="*/ 6461445 h 6858000"/>
              <a:gd name="connsiteX3" fmla="*/ 11798300 w 12192000"/>
              <a:gd name="connsiteY3" fmla="*/ 5310073 h 6858000"/>
              <a:gd name="connsiteX4" fmla="*/ 1 w 12192000"/>
              <a:gd name="connsiteY4" fmla="*/ 677021 h 6858000"/>
              <a:gd name="connsiteX5" fmla="*/ 1 w 12192000"/>
              <a:gd name="connsiteY5" fmla="*/ 6167125 h 6858000"/>
              <a:gd name="connsiteX6" fmla="*/ 560044 w 12192000"/>
              <a:gd name="connsiteY6" fmla="*/ 6155705 h 6858000"/>
              <a:gd name="connsiteX7" fmla="*/ 6668656 w 12192000"/>
              <a:gd name="connsiteY7" fmla="*/ 3422073 h 6858000"/>
              <a:gd name="connsiteX8" fmla="*/ 560044 w 12192000"/>
              <a:gd name="connsiteY8" fmla="*/ 688442 h 6858000"/>
              <a:gd name="connsiteX9" fmla="*/ 0 w 12192000"/>
              <a:gd name="connsiteY9" fmla="*/ 0 h 6858000"/>
              <a:gd name="connsiteX10" fmla="*/ 12192000 w 12192000"/>
              <a:gd name="connsiteY10" fmla="*/ 0 h 6858000"/>
              <a:gd name="connsiteX11" fmla="*/ 12192000 w 12192000"/>
              <a:gd name="connsiteY11" fmla="*/ 6858000 h 6858000"/>
              <a:gd name="connsiteX12" fmla="*/ 0 w 12192000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8000">
                <a:moveTo>
                  <a:pt x="10648109" y="5310073"/>
                </a:moveTo>
                <a:lnTo>
                  <a:pt x="10648109" y="6461445"/>
                </a:lnTo>
                <a:lnTo>
                  <a:pt x="11798300" y="6461445"/>
                </a:lnTo>
                <a:lnTo>
                  <a:pt x="11798300" y="5310073"/>
                </a:lnTo>
                <a:close/>
                <a:moveTo>
                  <a:pt x="1" y="677021"/>
                </a:moveTo>
                <a:lnTo>
                  <a:pt x="1" y="6167125"/>
                </a:lnTo>
                <a:lnTo>
                  <a:pt x="560044" y="6155705"/>
                </a:lnTo>
                <a:cubicBezTo>
                  <a:pt x="3991161" y="6014989"/>
                  <a:pt x="6668656" y="4844803"/>
                  <a:pt x="6668656" y="3422073"/>
                </a:cubicBezTo>
                <a:cubicBezTo>
                  <a:pt x="6668656" y="1999344"/>
                  <a:pt x="3991161" y="829158"/>
                  <a:pt x="560044" y="68844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txBody>
          <a:bodyPr wrap="square" numCol="1" anchor="t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altLang="en-GB"/>
              <a:t>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9B11EA-C6D0-4AEF-8280-8974D69A3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6215" y="2920181"/>
            <a:ext cx="5133322" cy="1110338"/>
          </a:xfrm>
          <a:prstGeom prst="rect">
            <a:avLst/>
          </a:prstGeom>
        </p:spPr>
        <p:txBody>
          <a:bodyPr vert="horz" lIns="0" tIns="0" rIns="0" bIns="0" numCol="1" rtlCol="0" anchor="ctr">
            <a:noAutofit/>
          </a:bodyPr>
          <a:lstStyle>
            <a:lvl1pPr>
              <a:defRPr lang="en-GB" altLang="en-GB" sz="4400" dirty="0"/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Thank you</a:t>
            </a:r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1129172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: Title, subtitle &amp;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think-cell Slide" r:id="rId4" imgW="475" imgH="476" progId="TCLayout.ActiveDocument.1">
                  <p:embed/>
                </p:oleObj>
              </mc:Choice>
              <mc:Fallback>
                <p:oleObj name="think-cell Slide" r:id="rId4" imgW="475" imgH="47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EDB6370-E20D-4356-B639-0E4B5C5A89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4EE004D-1AF6-41A3-BF99-D3478A36E5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F096E9-BE84-4A01-9215-548EB123A1B2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75B60A-3FD8-433F-B673-8E39468D824E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D91074-7CA5-412D-B392-79970843071F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12" name="Rectangle 20">
                <a:extLst>
                  <a:ext uri="{FF2B5EF4-FFF2-40B4-BE49-F238E27FC236}">
                    <a16:creationId xmlns:a16="http://schemas.microsoft.com/office/drawing/2014/main" id="{55A50798-BA63-4054-97C6-E78D398F12B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Rectangle 21">
                <a:extLst>
                  <a:ext uri="{FF2B5EF4-FFF2-40B4-BE49-F238E27FC236}">
                    <a16:creationId xmlns:a16="http://schemas.microsoft.com/office/drawing/2014/main" id="{0C6F2B01-29ED-4CE4-899F-DCC088A6D1E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Oval 22">
                <a:extLst>
                  <a:ext uri="{FF2B5EF4-FFF2-40B4-BE49-F238E27FC236}">
                    <a16:creationId xmlns:a16="http://schemas.microsoft.com/office/drawing/2014/main" id="{F763AC27-B5E4-468D-8F3E-FCE3B099F87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3">
                <a:extLst>
                  <a:ext uri="{FF2B5EF4-FFF2-40B4-BE49-F238E27FC236}">
                    <a16:creationId xmlns:a16="http://schemas.microsoft.com/office/drawing/2014/main" id="{54DB9D8A-E0DD-4E8E-837F-77B574F62A9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6" name="Freeform 24">
                <a:extLst>
                  <a:ext uri="{FF2B5EF4-FFF2-40B4-BE49-F238E27FC236}">
                    <a16:creationId xmlns:a16="http://schemas.microsoft.com/office/drawing/2014/main" id="{8F9267D3-6CF4-4003-98E0-1DF062FCC29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7" name="Freeform 25">
                <a:extLst>
                  <a:ext uri="{FF2B5EF4-FFF2-40B4-BE49-F238E27FC236}">
                    <a16:creationId xmlns:a16="http://schemas.microsoft.com/office/drawing/2014/main" id="{FC34D197-C04B-4FC2-8FC0-3D74CBBB9FB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8" name="Freeform 26">
                <a:extLst>
                  <a:ext uri="{FF2B5EF4-FFF2-40B4-BE49-F238E27FC236}">
                    <a16:creationId xmlns:a16="http://schemas.microsoft.com/office/drawing/2014/main" id="{88F51C54-07D2-4CDD-9DE3-40BF4DD0088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1161299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BEB854-223F-445E-BCA9-D11AA1C45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45C209C-19A0-41E7-B855-D05308DAF8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0E9C47C-F1C8-4778-ACC4-836A1414A8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1377696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419CE86-68BF-4542-A10A-767F245CDF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9A2767A-79AE-491E-9B88-A383D77717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5C5AF9C-82BE-4803-B6E2-4756DD838F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119912271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14721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075269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823198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94200" y="651601"/>
            <a:ext cx="11201795" cy="75725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14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94200" y="317504"/>
            <a:ext cx="11201795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94200" y="1666261"/>
            <a:ext cx="11201795" cy="4712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C0C5A9-84DC-484B-97FF-220270BB1E87}"/>
              </a:ext>
            </a:extLst>
          </p:cNvPr>
          <p:cNvSpPr/>
          <p:nvPr userDrawn="1"/>
        </p:nvSpPr>
        <p:spPr bwMode="gray">
          <a:xfrm>
            <a:off x="10484938" y="6379205"/>
            <a:ext cx="753062" cy="349182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0648" tIns="80648" rIns="80648" bIns="80648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ZA" sz="1452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14069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think-cell Slide" r:id="rId4" imgW="495" imgH="496" progId="TCLayout.ActiveDocument.1">
                  <p:embed/>
                </p:oleObj>
              </mc:Choice>
              <mc:Fallback>
                <p:oleObj name="think-cell Slide" r:id="rId4" imgW="495" imgH="4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4400" y="6019800"/>
            <a:ext cx="1016000" cy="228600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9CBAE0-C9DC-48E5-BC21-54F13D4EB4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769600" cy="48736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914401"/>
            <a:ext cx="10972800" cy="52117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5418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18" y="514351"/>
            <a:ext cx="11127316" cy="2587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29167" y="944564"/>
            <a:ext cx="11127317" cy="9048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3"/>
          <p:cNvSpPr/>
          <p:nvPr userDrawn="1"/>
        </p:nvSpPr>
        <p:spPr>
          <a:xfrm>
            <a:off x="5868160" y="6557187"/>
            <a:ext cx="46679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t>- </a:t>
            </a:r>
            <a:fld id="{86C77FDF-45C5-4665-AAEE-45520AE6BEA9}" type="slidenum">
              <a:rPr lang="en-US" sz="900" b="0" smtClean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r>
              <a:rPr lang="en-US" sz="900" b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t> -</a:t>
            </a:r>
            <a:endParaRPr lang="en-US" sz="900" b="0">
              <a:solidFill>
                <a:srgbClr val="040707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29167" y="773113"/>
            <a:ext cx="11127317" cy="0"/>
          </a:xfrm>
          <a:prstGeom prst="line">
            <a:avLst/>
          </a:prstGeom>
          <a:ln w="25400">
            <a:solidFill>
              <a:srgbClr val="7FC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885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88700" cy="698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dirty="0" smtClean="0"/>
            </a:lvl1pPr>
            <a:lvl2pPr>
              <a:defRPr lang="en-US" b="0" dirty="0" smtClean="0"/>
            </a:lvl2pPr>
            <a:lvl3pPr>
              <a:defRPr lang="en-US" b="0" dirty="0" smtClean="0"/>
            </a:lvl3pPr>
            <a:lvl4pPr>
              <a:defRPr lang="en-US" b="0" dirty="0" smtClean="0"/>
            </a:lvl4pPr>
            <a:lvl5pPr>
              <a:defRPr lang="en-GB" b="0" dirty="0"/>
            </a:lvl5pPr>
          </a:lstStyle>
          <a:p>
            <a:pPr lvl="0">
              <a:spcBef>
                <a:spcPts val="1662"/>
              </a:spcBef>
              <a:buFontTx/>
            </a:pPr>
            <a:r>
              <a:rPr lang="en-US"/>
              <a:t>Click to edit Master text styles</a:t>
            </a:r>
          </a:p>
          <a:p>
            <a:pPr lvl="1">
              <a:spcBef>
                <a:spcPts val="1662"/>
              </a:spcBef>
              <a:buFontTx/>
            </a:pPr>
            <a:r>
              <a:rPr lang="en-US"/>
              <a:t>Second level</a:t>
            </a:r>
          </a:p>
          <a:p>
            <a:pPr lvl="2">
              <a:spcBef>
                <a:spcPts val="1662"/>
              </a:spcBef>
              <a:buFontTx/>
            </a:pPr>
            <a:r>
              <a:rPr lang="en-US"/>
              <a:t>Third level</a:t>
            </a:r>
          </a:p>
          <a:p>
            <a:pPr lvl="3">
              <a:spcBef>
                <a:spcPts val="1662"/>
              </a:spcBef>
              <a:buFontTx/>
            </a:pPr>
            <a:r>
              <a:rPr lang="en-US"/>
              <a:t>Fourth level</a:t>
            </a:r>
          </a:p>
          <a:p>
            <a:pPr lvl="4">
              <a:spcBef>
                <a:spcPts val="1662"/>
              </a:spcBef>
              <a:buFontTx/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28858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62" y="1625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2" y="1625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C517332-EED5-4E16-99A2-BAC6298501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ZA" sz="2858" b="1" i="0" baseline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EE430F-F251-4D01-AE83-20270CC558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0437"/>
            <a:ext cx="8733514" cy="6637124"/>
          </a:xfrm>
          <a:prstGeom prst="rect">
            <a:avLst/>
          </a:prstGeom>
        </p:spPr>
      </p:pic>
      <p:sp>
        <p:nvSpPr>
          <p:cNvPr id="13314" name="Title"/>
          <p:cNvSpPr>
            <a:spLocks noGrp="1" noChangeArrowheads="1"/>
          </p:cNvSpPr>
          <p:nvPr>
            <p:ph type="ctrTitle"/>
          </p:nvPr>
        </p:nvSpPr>
        <p:spPr>
          <a:xfrm>
            <a:off x="1515615" y="3347192"/>
            <a:ext cx="5292096" cy="4398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x-none" sz="2858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latinLnBrk="0"/>
            <a:r>
              <a:rPr lang="en-ZA" noProof="0"/>
              <a:t>Click to edit Master title style</a:t>
            </a:r>
          </a:p>
        </p:txBody>
      </p:sp>
      <p:sp>
        <p:nvSpPr>
          <p:cNvPr id="13315" name="Subtitle"/>
          <p:cNvSpPr>
            <a:spLocks noGrp="1" noChangeArrowheads="1"/>
          </p:cNvSpPr>
          <p:nvPr>
            <p:ph type="subTitle" idx="1"/>
          </p:nvPr>
        </p:nvSpPr>
        <p:spPr>
          <a:xfrm>
            <a:off x="1515615" y="4506052"/>
            <a:ext cx="5292096" cy="2197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x-none" sz="1428" cap="none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 latinLnBrk="0"/>
            <a:r>
              <a:rPr lang="en-ZA" noProof="0"/>
              <a:t>Click to edit Master subtitle style</a:t>
            </a:r>
          </a:p>
        </p:txBody>
      </p:sp>
      <p:sp>
        <p:nvSpPr>
          <p:cNvPr id="57" name="Document type" hidden="1"/>
          <p:cNvSpPr txBox="1">
            <a:spLocks noChangeArrowheads="1"/>
          </p:cNvSpPr>
          <p:nvPr/>
        </p:nvSpPr>
        <p:spPr bwMode="gray">
          <a:xfrm>
            <a:off x="1515615" y="5386862"/>
            <a:ext cx="2902754" cy="219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 lang="x-none"/>
            </a:pPr>
            <a:r>
              <a:rPr lang="en-ZA" sz="1428" baseline="0">
                <a:solidFill>
                  <a:schemeClr val="tx1"/>
                </a:solidFill>
                <a:latin typeface="+mn-lt"/>
              </a:rPr>
              <a:t>Document type | Date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4AE6288-4EB5-4C4F-AC54-AC1779B394E7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06" t="70163"/>
          <a:stretch/>
        </p:blipFill>
        <p:spPr bwMode="ltGray">
          <a:xfrm>
            <a:off x="8733516" y="5426378"/>
            <a:ext cx="3258049" cy="143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4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17">
          <p15:clr>
            <a:srgbClr val="FBAE40"/>
          </p15:clr>
        </p15:guide>
        <p15:guide id="2" pos="93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61" y="1624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think-cell Slide" r:id="rId5" imgW="347" imgH="346" progId="TCLayout.ActiveDocument.1">
                  <p:embed/>
                </p:oleObj>
              </mc:Choice>
              <mc:Fallback>
                <p:oleObj name="think-cell Slide" r:id="rId5" imgW="347" imgH="34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1" y="1624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72919EFC-3FAD-4A41-BE5E-DB8326F4F52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ZA" sz="2041" b="1" i="0" baseline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ZA"/>
              <a:t>Click to edit Master title style</a:t>
            </a: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auto">
          <a:xfrm>
            <a:off x="10995482" y="51836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72"/>
            <a:endParaRPr lang="en-ZA" sz="816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1492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571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1FD927F-4D52-485E-ADF8-45C2E000B88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61" y="1624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think-cell Slide" r:id="rId5" imgW="347" imgH="346" progId="TCLayout.ActiveDocument.1">
                  <p:embed/>
                </p:oleObj>
              </mc:Choice>
              <mc:Fallback>
                <p:oleObj name="think-cell Slide" r:id="rId5" imgW="347" imgH="34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1FD927F-4D52-485E-ADF8-45C2E000B8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1" y="1624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BB3D348-E23E-440A-996D-97FAEE331F1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ZA" sz="2041" b="1" i="0" baseline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596BB-22FB-4C9F-898F-93F56EF2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48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vmlDrawing" Target="../drawings/vmlDrawing6.v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7.xml"/><Relationship Id="rId16" Type="http://schemas.openxmlformats.org/officeDocument/2006/relationships/oleObject" Target="../embeddings/oleObject6.bin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ags" Target="../tags/tag9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ags" Target="../tags/tag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3" Type="http://schemas.openxmlformats.org/officeDocument/2006/relationships/slideLayout" Target="../slideLayouts/slideLayout29.xml"/><Relationship Id="rId21" Type="http://schemas.openxmlformats.org/officeDocument/2006/relationships/tags" Target="../tags/tag27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1" Type="http://schemas.openxmlformats.org/officeDocument/2006/relationships/slideLayout" Target="../slideLayouts/slideLayout2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image" Target="../media/image5.emf"/><Relationship Id="rId5" Type="http://schemas.openxmlformats.org/officeDocument/2006/relationships/vmlDrawing" Target="../drawings/vmlDrawing9.vml"/><Relationship Id="rId15" Type="http://schemas.openxmlformats.org/officeDocument/2006/relationships/tags" Target="../tags/tag21.xml"/><Relationship Id="rId23" Type="http://schemas.openxmlformats.org/officeDocument/2006/relationships/oleObject" Target="../embeddings/oleObject9.bin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4" Type="http://schemas.openxmlformats.org/officeDocument/2006/relationships/theme" Target="../theme/theme3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think-cell Slide" r:id="rId20" imgW="495" imgH="496" progId="TCLayout.ActiveDocument.1">
                  <p:embed/>
                </p:oleObj>
              </mc:Choice>
              <mc:Fallback>
                <p:oleObj name="think-cell Slide" r:id="rId20" imgW="495" imgH="49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latin typeface="MTN Brighter Sans Bold" panose="00000800000000000000"/>
              <a:ea typeface="+mj-ea"/>
              <a:cs typeface="+mj-cs"/>
              <a:sym typeface="MTN Brighter Sans Bold" panose="0000080000000000000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DAD24-AED6-4DFA-A5A6-32C68C04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514" y="354283"/>
            <a:ext cx="11404600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/>
          <a:p>
            <a:r>
              <a:rPr lang="en-US"/>
              <a:t>Add title</a:t>
            </a:r>
            <a:endParaRPr lang="en-GB" altLang="en-GB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39BBA4E4-9ED0-4AF1-97A2-1A44F92F4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520825"/>
            <a:ext cx="11404600" cy="4932362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/>
          <a:p>
            <a:pPr marL="207963" lvl="0" indent="-207963">
              <a:buSzPct val="80000"/>
              <a:buFontTx/>
              <a:buBlip>
                <a:blip r:embed="rId22"/>
              </a:buBlip>
            </a:pPr>
            <a:r>
              <a:rPr lang="en-US"/>
              <a:t>First level</a:t>
            </a:r>
          </a:p>
          <a:p>
            <a:pPr marL="361950" lvl="1" indent="-117475">
              <a:buFont typeface="Century Gothic" panose="020B0502020202020204" pitchFamily="34" charset="0"/>
              <a:buChar char="–"/>
            </a:pPr>
            <a:r>
              <a:rPr lang="en-US"/>
              <a:t>Second level</a:t>
            </a:r>
          </a:p>
          <a:p>
            <a:pPr marL="533400" lvl="2" indent="-180975"/>
            <a:r>
              <a:rPr lang="en-US"/>
              <a:t>Third level</a:t>
            </a:r>
          </a:p>
          <a:p>
            <a:pPr marL="679450" lvl="3" indent="-163513">
              <a:buFont typeface="Century Gothic" panose="020B0502020202020204" pitchFamily="34" charset="0"/>
              <a:buChar char="–"/>
            </a:pPr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alt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ED0FF97-3A79-427B-B3F2-771435D28F6B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7" name="Freeform: Shape 16">
              <a:extLst>
                <a:ext uri="{FF2B5EF4-FFF2-40B4-BE49-F238E27FC236}">
                  <a16:creationId xmlns:a16="http://schemas.microsoft.com/office/drawing/2014/main" id="{B6E0F481-118D-4206-965B-E8CE63FD2374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55B6095-D97D-4836-83AE-03217F15C9CD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9" name="Rectangle 20">
                <a:extLst>
                  <a:ext uri="{FF2B5EF4-FFF2-40B4-BE49-F238E27FC236}">
                    <a16:creationId xmlns:a16="http://schemas.microsoft.com/office/drawing/2014/main" id="{94DCF7C2-C372-4817-A4FA-118CE18A246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0" name="Rectangle 21">
                <a:extLst>
                  <a:ext uri="{FF2B5EF4-FFF2-40B4-BE49-F238E27FC236}">
                    <a16:creationId xmlns:a16="http://schemas.microsoft.com/office/drawing/2014/main" id="{2749F594-90BD-475B-AAC9-C16A7B8F8314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1" name="Oval 22">
                <a:extLst>
                  <a:ext uri="{FF2B5EF4-FFF2-40B4-BE49-F238E27FC236}">
                    <a16:creationId xmlns:a16="http://schemas.microsoft.com/office/drawing/2014/main" id="{637D4F4E-975D-4A77-AFC5-DF112ADF85A1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2" name="Freeform 23">
                <a:extLst>
                  <a:ext uri="{FF2B5EF4-FFF2-40B4-BE49-F238E27FC236}">
                    <a16:creationId xmlns:a16="http://schemas.microsoft.com/office/drawing/2014/main" id="{560F5823-4C2E-465C-9E69-954802247C0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Freeform 24">
                <a:extLst>
                  <a:ext uri="{FF2B5EF4-FFF2-40B4-BE49-F238E27FC236}">
                    <a16:creationId xmlns:a16="http://schemas.microsoft.com/office/drawing/2014/main" id="{A312D850-129E-4BB2-BC06-35889DC96FD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Freeform 25">
                <a:extLst>
                  <a:ext uri="{FF2B5EF4-FFF2-40B4-BE49-F238E27FC236}">
                    <a16:creationId xmlns:a16="http://schemas.microsoft.com/office/drawing/2014/main" id="{9FFC8DFA-0242-486E-B2A3-75D78FF4DB93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6">
                <a:extLst>
                  <a:ext uri="{FF2B5EF4-FFF2-40B4-BE49-F238E27FC236}">
                    <a16:creationId xmlns:a16="http://schemas.microsoft.com/office/drawing/2014/main" id="{98C00431-59FD-4A98-AA47-26D4F6093F7B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560EFCDF-3CF2-4901-85B6-291B32087FC0}"/>
              </a:ext>
            </a:extLst>
          </p:cNvPr>
          <p:cNvSpPr/>
          <p:nvPr userDrawn="1"/>
        </p:nvSpPr>
        <p:spPr>
          <a:xfrm>
            <a:off x="11572875" y="6541227"/>
            <a:ext cx="619125" cy="24622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numCol="1" rtlCol="0" anchor="ctr"/>
          <a:lstStyle/>
          <a:p>
            <a:pPr algn="ctr"/>
            <a:fld id="{DA70226B-C0E4-43BB-9549-8E089DB1098E}" type="slidenum">
              <a:rPr lang="en-GB" altLang="en-GB" sz="900" b="1" smtClean="0">
                <a:solidFill>
                  <a:schemeClr val="tx1"/>
                </a:solidFill>
              </a:rPr>
              <a:pPr algn="ctr"/>
              <a:t>‹#›</a:t>
            </a:fld>
            <a:endParaRPr lang="en-GB" altLang="en-GB" sz="9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6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1" r:id="rId2"/>
    <p:sldLayoutId id="2147483779" r:id="rId3"/>
    <p:sldLayoutId id="2147483781" r:id="rId4"/>
    <p:sldLayoutId id="2147483752" r:id="rId5"/>
    <p:sldLayoutId id="2147483760" r:id="rId6"/>
    <p:sldLayoutId id="2147483761" r:id="rId7"/>
    <p:sldLayoutId id="2147483777" r:id="rId8"/>
    <p:sldLayoutId id="2147483791" r:id="rId9"/>
    <p:sldLayoutId id="2147483790" r:id="rId10"/>
    <p:sldLayoutId id="2147483787" r:id="rId11"/>
    <p:sldLayoutId id="2147483792" r:id="rId12"/>
    <p:sldLayoutId id="2147483798" r:id="rId13"/>
    <p:sldLayoutId id="2147483801" r:id="rId14"/>
    <p:sldLayoutId id="214748380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0" indent="-152400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2263" indent="-160338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93713" indent="-161925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654050" indent="-160338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5975" indent="-152400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GB" altLang="en-GB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8">
          <p15:clr>
            <a:srgbClr val="F26B43"/>
          </p15:clr>
        </p15:guide>
        <p15:guide id="2" pos="248">
          <p15:clr>
            <a:srgbClr val="F26B43"/>
          </p15:clr>
        </p15:guide>
        <p15:guide id="3" pos="7432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3716">
          <p15:clr>
            <a:srgbClr val="F26B43"/>
          </p15:clr>
        </p15:guide>
        <p15:guide id="6" pos="3964">
          <p15:clr>
            <a:srgbClr val="F26B43"/>
          </p15:clr>
        </p15:guide>
        <p15:guide id="9" orient="horz" pos="890">
          <p15:clr>
            <a:srgbClr val="F26B43"/>
          </p15:clr>
        </p15:guide>
        <p15:guide id="10" orient="horz" pos="1207">
          <p15:clr>
            <a:srgbClr val="F26B43"/>
          </p15:clr>
        </p15:guide>
        <p15:guide id="11" orient="horz" pos="1230">
          <p15:clr>
            <a:srgbClr val="F26B43"/>
          </p15:clr>
        </p15:guide>
        <p15:guide id="1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think-cell Slide" r:id="rId16" imgW="495" imgH="496" progId="TCLayout.ActiveDocument.1">
                  <p:embed/>
                </p:oleObj>
              </mc:Choice>
              <mc:Fallback>
                <p:oleObj name="think-cell Slide" r:id="rId16" imgW="495" imgH="49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latin typeface="MTN Brighter Sans Bold" panose="00000800000000000000"/>
              <a:ea typeface="+mj-ea"/>
              <a:cs typeface="+mj-cs"/>
              <a:sym typeface="MTN Brighter Sans Bold" panose="0000080000000000000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DAD24-AED6-4DFA-A5A6-32C68C04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514" y="354283"/>
            <a:ext cx="11404600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/>
          <a:p>
            <a:r>
              <a:rPr lang="en-US"/>
              <a:t>Add title</a:t>
            </a:r>
            <a:endParaRPr lang="en-GB" altLang="en-GB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39BBA4E4-9ED0-4AF1-97A2-1A44F92F4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520825"/>
            <a:ext cx="11404600" cy="4932362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/>
          <a:p>
            <a:pPr marL="207963" lvl="0" indent="-207963">
              <a:buSzPct val="80000"/>
              <a:buFontTx/>
              <a:buBlip>
                <a:blip r:embed="rId18"/>
              </a:buBlip>
            </a:pPr>
            <a:r>
              <a:rPr lang="en-US"/>
              <a:t>First level</a:t>
            </a:r>
          </a:p>
          <a:p>
            <a:pPr marL="361950" lvl="1" indent="-117475">
              <a:buFont typeface="Century Gothic" panose="020B0502020202020204" pitchFamily="34" charset="0"/>
              <a:buChar char="–"/>
            </a:pPr>
            <a:r>
              <a:rPr lang="en-US"/>
              <a:t>Second level</a:t>
            </a:r>
          </a:p>
          <a:p>
            <a:pPr marL="533400" lvl="2" indent="-180975"/>
            <a:r>
              <a:rPr lang="en-US"/>
              <a:t>Third level</a:t>
            </a:r>
          </a:p>
          <a:p>
            <a:pPr marL="679450" lvl="3" indent="-163513">
              <a:buFont typeface="Century Gothic" panose="020B0502020202020204" pitchFamily="34" charset="0"/>
              <a:buChar char="–"/>
            </a:pPr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alt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ED0FF97-3A79-427B-B3F2-771435D28F6B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7" name="Freeform: Shape 16">
              <a:extLst>
                <a:ext uri="{FF2B5EF4-FFF2-40B4-BE49-F238E27FC236}">
                  <a16:creationId xmlns:a16="http://schemas.microsoft.com/office/drawing/2014/main" id="{B6E0F481-118D-4206-965B-E8CE63FD2374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55B6095-D97D-4836-83AE-03217F15C9CD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9" name="Rectangle 20">
                <a:extLst>
                  <a:ext uri="{FF2B5EF4-FFF2-40B4-BE49-F238E27FC236}">
                    <a16:creationId xmlns:a16="http://schemas.microsoft.com/office/drawing/2014/main" id="{94DCF7C2-C372-4817-A4FA-118CE18A246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0" name="Rectangle 21">
                <a:extLst>
                  <a:ext uri="{FF2B5EF4-FFF2-40B4-BE49-F238E27FC236}">
                    <a16:creationId xmlns:a16="http://schemas.microsoft.com/office/drawing/2014/main" id="{2749F594-90BD-475B-AAC9-C16A7B8F8314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1" name="Oval 22">
                <a:extLst>
                  <a:ext uri="{FF2B5EF4-FFF2-40B4-BE49-F238E27FC236}">
                    <a16:creationId xmlns:a16="http://schemas.microsoft.com/office/drawing/2014/main" id="{637D4F4E-975D-4A77-AFC5-DF112ADF85A1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2" name="Freeform 23">
                <a:extLst>
                  <a:ext uri="{FF2B5EF4-FFF2-40B4-BE49-F238E27FC236}">
                    <a16:creationId xmlns:a16="http://schemas.microsoft.com/office/drawing/2014/main" id="{560F5823-4C2E-465C-9E69-954802247C0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Freeform 24">
                <a:extLst>
                  <a:ext uri="{FF2B5EF4-FFF2-40B4-BE49-F238E27FC236}">
                    <a16:creationId xmlns:a16="http://schemas.microsoft.com/office/drawing/2014/main" id="{A312D850-129E-4BB2-BC06-35889DC96FD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Freeform 25">
                <a:extLst>
                  <a:ext uri="{FF2B5EF4-FFF2-40B4-BE49-F238E27FC236}">
                    <a16:creationId xmlns:a16="http://schemas.microsoft.com/office/drawing/2014/main" id="{9FFC8DFA-0242-486E-B2A3-75D78FF4DB93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6">
                <a:extLst>
                  <a:ext uri="{FF2B5EF4-FFF2-40B4-BE49-F238E27FC236}">
                    <a16:creationId xmlns:a16="http://schemas.microsoft.com/office/drawing/2014/main" id="{98C00431-59FD-4A98-AA47-26D4F6093F7B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560EFCDF-3CF2-4901-85B6-291B32087FC0}"/>
              </a:ext>
            </a:extLst>
          </p:cNvPr>
          <p:cNvSpPr/>
          <p:nvPr userDrawn="1"/>
        </p:nvSpPr>
        <p:spPr>
          <a:xfrm>
            <a:off x="11572875" y="6541227"/>
            <a:ext cx="619125" cy="24622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numCol="1" rtlCol="0" anchor="ctr"/>
          <a:lstStyle/>
          <a:p>
            <a:pPr algn="ctr"/>
            <a:fld id="{DA70226B-C0E4-43BB-9549-8E089DB1098E}" type="slidenum">
              <a:rPr lang="en-GB" altLang="en-GB" sz="900" b="1" smtClean="0">
                <a:solidFill>
                  <a:schemeClr val="tx1"/>
                </a:solidFill>
              </a:rPr>
              <a:pPr algn="ctr"/>
              <a:t>‹#›</a:t>
            </a:fld>
            <a:endParaRPr lang="en-GB" altLang="en-GB" sz="9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91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0" indent="-152400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2263" indent="-160338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93713" indent="-161925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654050" indent="-160338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5975" indent="-152400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GB" altLang="en-GB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8">
          <p15:clr>
            <a:srgbClr val="F26B43"/>
          </p15:clr>
        </p15:guide>
        <p15:guide id="2" pos="248">
          <p15:clr>
            <a:srgbClr val="F26B43"/>
          </p15:clr>
        </p15:guide>
        <p15:guide id="3" pos="7432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3716">
          <p15:clr>
            <a:srgbClr val="F26B43"/>
          </p15:clr>
        </p15:guide>
        <p15:guide id="6" pos="3964">
          <p15:clr>
            <a:srgbClr val="F26B43"/>
          </p15:clr>
        </p15:guide>
        <p15:guide id="9" orient="horz" pos="890">
          <p15:clr>
            <a:srgbClr val="F26B43"/>
          </p15:clr>
        </p15:guide>
        <p15:guide id="10" orient="horz" pos="1207">
          <p15:clr>
            <a:srgbClr val="F26B43"/>
          </p15:clr>
        </p15:guide>
        <p15:guide id="11" orient="horz" pos="1230">
          <p15:clr>
            <a:srgbClr val="F26B43"/>
          </p15:clr>
        </p15:guide>
        <p15:guide id="1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05439012"/>
              </p:ext>
            </p:ext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7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ZA" sz="2041" b="1" i="0" baseline="0">
              <a:solidFill>
                <a:srgbClr val="000000"/>
              </a:solidFill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233262" y="234867"/>
            <a:ext cx="11725484" cy="314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latinLnBrk="0"/>
            <a:r>
              <a:rPr lang="en-ZA"/>
              <a:t>Click to edit Master title style</a:t>
            </a:r>
            <a:endParaRPr lang="en-ZA" noProof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233262" y="77306"/>
            <a:ext cx="453650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ZA" sz="816" cap="all" baseline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233262" y="566141"/>
            <a:ext cx="11725484" cy="251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lang="x-none"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lang="x-none"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lang="x-none"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lang="x-none"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lang="x-none"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 lang="x-none"/>
            </a:pPr>
            <a:r>
              <a:rPr lang="en-ZA" sz="1632" baseline="0">
                <a:solidFill>
                  <a:schemeClr val="accent6"/>
                </a:solidFill>
                <a:latin typeface="+mn-lt"/>
                <a:ea typeface="+mn-ea"/>
              </a:rPr>
              <a:t>Unit of measure</a:t>
            </a:r>
          </a:p>
        </p:txBody>
      </p:sp>
      <p:sp>
        <p:nvSpPr>
          <p:cNvPr id="13" name="4. Footnote" hidden="1"/>
          <p:cNvSpPr txBox="1">
            <a:spLocks noChangeArrowheads="1"/>
          </p:cNvSpPr>
          <p:nvPr/>
        </p:nvSpPr>
        <p:spPr bwMode="gray">
          <a:xfrm>
            <a:off x="233261" y="6434821"/>
            <a:ext cx="10353022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104775" indent="-104775" defTabSz="895350">
              <a:defRPr lang="x-none"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lang="x-none"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lang="x-none"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lang="x-none"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lang="x-none"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7470" indent="-87470">
              <a:defRPr lang="x-none"/>
            </a:pPr>
            <a:r>
              <a:rPr lang="en-ZA" sz="816" baseline="0">
                <a:solidFill>
                  <a:srgbClr val="808080"/>
                </a:solidFill>
                <a:latin typeface="+mn-lt"/>
                <a:ea typeface="+mn-ea"/>
              </a:rPr>
              <a:t>1 Footnote</a:t>
            </a:r>
          </a:p>
        </p:txBody>
      </p:sp>
      <p:sp>
        <p:nvSpPr>
          <p:cNvPr id="14" name="5. Source" hidden="1"/>
          <p:cNvSpPr>
            <a:spLocks noChangeArrowheads="1"/>
          </p:cNvSpPr>
          <p:nvPr/>
        </p:nvSpPr>
        <p:spPr bwMode="gray">
          <a:xfrm>
            <a:off x="233260" y="6640529"/>
            <a:ext cx="10353022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498901" indent="-498901" defTabSz="913572">
              <a:tabLst>
                <a:tab pos="625246" algn="l"/>
              </a:tabLst>
            </a:pPr>
            <a:r>
              <a:rPr lang="en-ZA" sz="816" baseline="0">
                <a:solidFill>
                  <a:srgbClr val="808080"/>
                </a:solidFill>
                <a:latin typeface="+mn-lt"/>
                <a:ea typeface="+mn-ea"/>
              </a:rPr>
              <a:t>SOURCE : Source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924375" y="2728054"/>
            <a:ext cx="5853024" cy="125579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 latinLnBrk="0"/>
            <a:r>
              <a:rPr lang="en-ZA"/>
              <a:t>Edit Master text styles</a:t>
            </a:r>
          </a:p>
          <a:p>
            <a:pPr lvl="1" latinLnBrk="0"/>
            <a:r>
              <a:rPr lang="en-ZA"/>
              <a:t>Second level</a:t>
            </a:r>
          </a:p>
          <a:p>
            <a:pPr lvl="2" latinLnBrk="0"/>
            <a:r>
              <a:rPr lang="en-ZA"/>
              <a:t>Third level</a:t>
            </a:r>
          </a:p>
          <a:p>
            <a:pPr lvl="3" latinLnBrk="0"/>
            <a:r>
              <a:rPr lang="en-ZA"/>
              <a:t>Fourth level</a:t>
            </a:r>
          </a:p>
          <a:p>
            <a:pPr lvl="4" latinLnBrk="0"/>
            <a:r>
              <a:rPr lang="en-ZA"/>
              <a:t>Fifth level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1924372" y="2070923"/>
            <a:ext cx="5801188" cy="521557"/>
            <a:chOff x="915" y="708"/>
            <a:chExt cx="2686" cy="322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708"/>
              <a:ext cx="2686" cy="32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ZA" sz="1632" b="1" baseline="0">
                  <a:solidFill>
                    <a:srgbClr val="000000"/>
                  </a:solidFill>
                  <a:latin typeface="+mn-lt"/>
                  <a:ea typeface="+mn-ea"/>
                </a:rPr>
                <a:t>Title</a:t>
              </a:r>
            </a:p>
            <a:p>
              <a:r>
                <a:rPr lang="en-ZA" sz="1632" baseline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sp>
        <p:nvSpPr>
          <p:cNvPr id="63" name="Slide Number"/>
          <p:cNvSpPr txBox="1">
            <a:spLocks/>
          </p:cNvSpPr>
          <p:nvPr/>
        </p:nvSpPr>
        <p:spPr bwMode="auto">
          <a:xfrm>
            <a:off x="11832106" y="6640502"/>
            <a:ext cx="126638" cy="12554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algn="r"/>
            <a:fld id="{42C328C1-A84F-4A39-A664-DBA00541A8C6}" type="slidenum">
              <a:rPr lang="en-ZA" sz="816" baseline="0" smtClean="0">
                <a:solidFill>
                  <a:srgbClr val="808080"/>
                </a:solidFill>
                <a:latin typeface="+mn-lt"/>
              </a:rPr>
              <a:pPr algn="r"/>
              <a:t>‹#›</a:t>
            </a:fld>
            <a:endParaRPr lang="en-ZA" sz="816" baseline="0">
              <a:solidFill>
                <a:srgbClr val="808080"/>
              </a:solidFill>
              <a:latin typeface="+mn-lt"/>
            </a:endParaRPr>
          </a:p>
        </p:txBody>
      </p:sp>
      <p:grpSp>
        <p:nvGrpSpPr>
          <p:cNvPr id="65" name="Sticker" hidden="1">
            <a:extLst>
              <a:ext uri="{FF2B5EF4-FFF2-40B4-BE49-F238E27FC236}">
                <a16:creationId xmlns:a16="http://schemas.microsoft.com/office/drawing/2014/main" id="{7B0FE06C-79BA-4577-BAE3-7D12D02162D5}"/>
              </a:ext>
            </a:extLst>
          </p:cNvPr>
          <p:cNvGrpSpPr/>
          <p:nvPr/>
        </p:nvGrpSpPr>
        <p:grpSpPr bwMode="gray">
          <a:xfrm>
            <a:off x="11541517" y="291554"/>
            <a:ext cx="417230" cy="153247"/>
            <a:chOff x="8331857" y="285750"/>
            <a:chExt cx="408918" cy="150196"/>
          </a:xfrm>
        </p:grpSpPr>
        <p:sp>
          <p:nvSpPr>
            <p:cNvPr id="66" name="StickerRectangle">
              <a:extLst>
                <a:ext uri="{FF2B5EF4-FFF2-40B4-BE49-F238E27FC236}">
                  <a16:creationId xmlns:a16="http://schemas.microsoft.com/office/drawing/2014/main" id="{E9249006-C5F6-46B3-B4E3-4F33715E623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31857" y="285750"/>
              <a:ext cx="408918" cy="15019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>
                <a:buClr>
                  <a:srgbClr val="002960"/>
                </a:buClr>
              </a:pPr>
              <a:r>
                <a:rPr lang="en-ZA" sz="816" baseline="0">
                  <a:solidFill>
                    <a:schemeClr val="accent6"/>
                  </a:solidFill>
                  <a:latin typeface="+mn-lt"/>
                  <a:ea typeface="+mn-ea"/>
                </a:rPr>
                <a:t>STICKER</a:t>
              </a:r>
            </a:p>
          </p:txBody>
        </p:sp>
        <p:cxnSp>
          <p:nvCxnSpPr>
            <p:cNvPr id="67" name="AutoShape 31">
              <a:extLst>
                <a:ext uri="{FF2B5EF4-FFF2-40B4-BE49-F238E27FC236}">
                  <a16:creationId xmlns:a16="http://schemas.microsoft.com/office/drawing/2014/main" id="{1BA8FAFB-2FF5-4368-B361-245A9D9299F7}"/>
                </a:ext>
              </a:extLst>
            </p:cNvPr>
            <p:cNvCxnSpPr>
              <a:cxnSpLocks noChangeShapeType="1"/>
              <a:stCxn id="66" idx="2"/>
              <a:endCxn id="66" idx="4"/>
            </p:cNvCxnSpPr>
            <p:nvPr/>
          </p:nvCxnSpPr>
          <p:spPr bwMode="gray">
            <a:xfrm>
              <a:off x="8331857" y="285750"/>
              <a:ext cx="0" cy="150196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AutoShape 32">
              <a:extLst>
                <a:ext uri="{FF2B5EF4-FFF2-40B4-BE49-F238E27FC236}">
                  <a16:creationId xmlns:a16="http://schemas.microsoft.com/office/drawing/2014/main" id="{64FC591C-C620-4AED-BC08-D1115AF18A29}"/>
                </a:ext>
              </a:extLst>
            </p:cNvPr>
            <p:cNvCxnSpPr>
              <a:cxnSpLocks noChangeShapeType="1"/>
              <a:stCxn id="66" idx="4"/>
              <a:endCxn id="66" idx="6"/>
            </p:cNvCxnSpPr>
            <p:nvPr/>
          </p:nvCxnSpPr>
          <p:spPr bwMode="gray">
            <a:xfrm>
              <a:off x="8331857" y="435946"/>
              <a:ext cx="408918" cy="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9" name="LegendBoxes" hidden="1">
            <a:extLst>
              <a:ext uri="{FF2B5EF4-FFF2-40B4-BE49-F238E27FC236}">
                <a16:creationId xmlns:a16="http://schemas.microsoft.com/office/drawing/2014/main" id="{FAE2E12A-E0EA-41FA-BA0C-3E95881DB6BE}"/>
              </a:ext>
            </a:extLst>
          </p:cNvPr>
          <p:cNvGrpSpPr/>
          <p:nvPr/>
        </p:nvGrpSpPr>
        <p:grpSpPr bwMode="gray">
          <a:xfrm>
            <a:off x="11179462" y="285076"/>
            <a:ext cx="845862" cy="1017696"/>
            <a:chOff x="7835905" y="279400"/>
            <a:chExt cx="829011" cy="997436"/>
          </a:xfrm>
        </p:grpSpPr>
        <p:sp>
          <p:nvSpPr>
            <p:cNvPr id="70" name="RectangleLegend1">
              <a:extLst>
                <a:ext uri="{FF2B5EF4-FFF2-40B4-BE49-F238E27FC236}">
                  <a16:creationId xmlns:a16="http://schemas.microsoft.com/office/drawing/2014/main" id="{390CF984-EECD-4CFF-8093-5CA90AA1EE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35905" y="290513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71" name="RectangleLegend2">
              <a:extLst>
                <a:ext uri="{FF2B5EF4-FFF2-40B4-BE49-F238E27FC236}">
                  <a16:creationId xmlns:a16="http://schemas.microsoft.com/office/drawing/2014/main" id="{D0F5544C-7039-4B53-92BB-C81D0F1C3D0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35905" y="560388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72" name="RectangleLegend3">
              <a:extLst>
                <a:ext uri="{FF2B5EF4-FFF2-40B4-BE49-F238E27FC236}">
                  <a16:creationId xmlns:a16="http://schemas.microsoft.com/office/drawing/2014/main" id="{E1C473F0-E465-4CB3-9514-6150EADD8C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35905" y="831851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73" name="RectangleLegend4">
              <a:extLst>
                <a:ext uri="{FF2B5EF4-FFF2-40B4-BE49-F238E27FC236}">
                  <a16:creationId xmlns:a16="http://schemas.microsoft.com/office/drawing/2014/main" id="{6FD07B63-8F7E-4096-AB3F-4FFC0CC5AD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35905" y="1103313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74" name="Legend1">
              <a:extLst>
                <a:ext uri="{FF2B5EF4-FFF2-40B4-BE49-F238E27FC236}">
                  <a16:creationId xmlns:a16="http://schemas.microsoft.com/office/drawing/2014/main" id="{19B4BDD2-CF77-4BAB-B12F-14FA2DA4F9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5" y="279400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75" name="Legend2">
              <a:extLst>
                <a:ext uri="{FF2B5EF4-FFF2-40B4-BE49-F238E27FC236}">
                  <a16:creationId xmlns:a16="http://schemas.microsoft.com/office/drawing/2014/main" id="{0E9FD092-33C8-46CC-BDB9-A22F98CEE7F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5" y="549275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76" name="Legend3">
              <a:extLst>
                <a:ext uri="{FF2B5EF4-FFF2-40B4-BE49-F238E27FC236}">
                  <a16:creationId xmlns:a16="http://schemas.microsoft.com/office/drawing/2014/main" id="{AF17F11F-6A59-4AD8-8DE8-C4C4E118184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5" y="820738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77" name="Legend4">
              <a:extLst>
                <a:ext uri="{FF2B5EF4-FFF2-40B4-BE49-F238E27FC236}">
                  <a16:creationId xmlns:a16="http://schemas.microsoft.com/office/drawing/2014/main" id="{8C8E2E27-00D0-4C2D-9D61-1735C0F3FA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5" y="1092201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78" name="LegendLines" hidden="1">
            <a:extLst>
              <a:ext uri="{FF2B5EF4-FFF2-40B4-BE49-F238E27FC236}">
                <a16:creationId xmlns:a16="http://schemas.microsoft.com/office/drawing/2014/main" id="{0CE5F1C1-6810-4E5C-BA10-62054F17D69B}"/>
              </a:ext>
            </a:extLst>
          </p:cNvPr>
          <p:cNvGrpSpPr/>
          <p:nvPr/>
        </p:nvGrpSpPr>
        <p:grpSpPr bwMode="gray">
          <a:xfrm>
            <a:off x="10865400" y="285076"/>
            <a:ext cx="1160097" cy="745579"/>
            <a:chOff x="7540629" y="279400"/>
            <a:chExt cx="1136986" cy="730736"/>
          </a:xfrm>
        </p:grpSpPr>
        <p:sp>
          <p:nvSpPr>
            <p:cNvPr id="79" name="LineLegend1">
              <a:extLst>
                <a:ext uri="{FF2B5EF4-FFF2-40B4-BE49-F238E27FC236}">
                  <a16:creationId xmlns:a16="http://schemas.microsoft.com/office/drawing/2014/main" id="{47C9A7EA-20ED-4482-90EF-40459E70526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7540629" y="3698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80" name="LineLegend2">
              <a:extLst>
                <a:ext uri="{FF2B5EF4-FFF2-40B4-BE49-F238E27FC236}">
                  <a16:creationId xmlns:a16="http://schemas.microsoft.com/office/drawing/2014/main" id="{E2C8A8E7-0FA5-4CC4-B651-2B62BCB05B7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7540629" y="638175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81" name="LineLegend3">
              <a:extLst>
                <a:ext uri="{FF2B5EF4-FFF2-40B4-BE49-F238E27FC236}">
                  <a16:creationId xmlns:a16="http://schemas.microsoft.com/office/drawing/2014/main" id="{C4847384-F36E-44C7-94EB-9B86FD6C80C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7540629" y="9159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82" name="Legend1">
              <a:extLst>
                <a:ext uri="{FF2B5EF4-FFF2-40B4-BE49-F238E27FC236}">
                  <a16:creationId xmlns:a16="http://schemas.microsoft.com/office/drawing/2014/main" id="{A1AD60E3-E2AD-4A48-B5E9-D3E09030AC3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102604" y="279400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83" name="Legend2">
              <a:extLst>
                <a:ext uri="{FF2B5EF4-FFF2-40B4-BE49-F238E27FC236}">
                  <a16:creationId xmlns:a16="http://schemas.microsoft.com/office/drawing/2014/main" id="{CF4AD30C-CFCF-4F8E-BFBC-7A66DE37ED6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102604" y="546100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84" name="Legend3">
              <a:extLst>
                <a:ext uri="{FF2B5EF4-FFF2-40B4-BE49-F238E27FC236}">
                  <a16:creationId xmlns:a16="http://schemas.microsoft.com/office/drawing/2014/main" id="{8602E6FC-FC0D-4594-979B-DFC7A597C2B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102604" y="825501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85" name="LegendMoons" hidden="1">
            <a:extLst>
              <a:ext uri="{FF2B5EF4-FFF2-40B4-BE49-F238E27FC236}">
                <a16:creationId xmlns:a16="http://schemas.microsoft.com/office/drawing/2014/main" id="{92DFF01A-60A4-44E6-89B4-ACA609C703E1}"/>
              </a:ext>
            </a:extLst>
          </p:cNvPr>
          <p:cNvGrpSpPr/>
          <p:nvPr/>
        </p:nvGrpSpPr>
        <p:grpSpPr bwMode="gray">
          <a:xfrm>
            <a:off x="11111431" y="255920"/>
            <a:ext cx="913892" cy="1333054"/>
            <a:chOff x="7769225" y="250825"/>
            <a:chExt cx="895686" cy="1306516"/>
          </a:xfrm>
        </p:grpSpPr>
        <p:grpSp>
          <p:nvGrpSpPr>
            <p:cNvPr id="86" name="MoonLegend1">
              <a:extLst>
                <a:ext uri="{FF2B5EF4-FFF2-40B4-BE49-F238E27FC236}">
                  <a16:creationId xmlns:a16="http://schemas.microsoft.com/office/drawing/2014/main" id="{775FF32F-5496-403D-9C42-37C3F76702C8}"/>
                </a:ext>
              </a:extLst>
            </p:cNvPr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gray">
            <a:xfrm>
              <a:off x="7769225" y="250825"/>
              <a:ext cx="209550" cy="209551"/>
              <a:chOff x="4533" y="183"/>
              <a:chExt cx="144" cy="144"/>
            </a:xfrm>
          </p:grpSpPr>
          <p:sp>
            <p:nvSpPr>
              <p:cNvPr id="104" name="Oval 38">
                <a:extLst>
                  <a:ext uri="{FF2B5EF4-FFF2-40B4-BE49-F238E27FC236}">
                    <a16:creationId xmlns:a16="http://schemas.microsoft.com/office/drawing/2014/main" id="{F25FC1D9-E267-4C4E-A283-CD0F43DB8F5F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105" name="Arc 39">
                <a:extLst>
                  <a:ext uri="{FF2B5EF4-FFF2-40B4-BE49-F238E27FC236}">
                    <a16:creationId xmlns:a16="http://schemas.microsoft.com/office/drawing/2014/main" id="{C783A30A-1DA3-4ABF-BE5F-919011D7A7AF}"/>
                  </a:ext>
                </a:extLst>
              </p:cNvPr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87" name="MoonLegend2">
              <a:extLst>
                <a:ext uri="{FF2B5EF4-FFF2-40B4-BE49-F238E27FC236}">
                  <a16:creationId xmlns:a16="http://schemas.microsoft.com/office/drawing/2014/main" id="{A5A12780-39F7-4EEE-A6FB-158EE496CF82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gray">
            <a:xfrm>
              <a:off x="7769225" y="525066"/>
              <a:ext cx="209550" cy="209551"/>
              <a:chOff x="1694" y="2044"/>
              <a:chExt cx="160" cy="160"/>
            </a:xfrm>
          </p:grpSpPr>
          <p:sp>
            <p:nvSpPr>
              <p:cNvPr id="102" name="Oval 41">
                <a:extLst>
                  <a:ext uri="{FF2B5EF4-FFF2-40B4-BE49-F238E27FC236}">
                    <a16:creationId xmlns:a16="http://schemas.microsoft.com/office/drawing/2014/main" id="{3FE9620D-F50F-4D06-ADBE-A8BAA0E605AF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103" name="Arc 42">
                <a:extLst>
                  <a:ext uri="{FF2B5EF4-FFF2-40B4-BE49-F238E27FC236}">
                    <a16:creationId xmlns:a16="http://schemas.microsoft.com/office/drawing/2014/main" id="{E08F1C31-EFAB-4ECF-B833-389609475DE3}"/>
                  </a:ext>
                </a:extLst>
              </p:cNvPr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88" name="MoonLegend4">
              <a:extLst>
                <a:ext uri="{FF2B5EF4-FFF2-40B4-BE49-F238E27FC236}">
                  <a16:creationId xmlns:a16="http://schemas.microsoft.com/office/drawing/2014/main" id="{BA5171AF-D9B6-4DFB-A79F-4F44A0D3E95F}"/>
                </a:ext>
              </a:extLst>
            </p:cNvPr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gray">
            <a:xfrm>
              <a:off x="7769225" y="1073548"/>
              <a:ext cx="209550" cy="209551"/>
              <a:chOff x="4495" y="1198"/>
              <a:chExt cx="160" cy="160"/>
            </a:xfrm>
          </p:grpSpPr>
          <p:sp>
            <p:nvSpPr>
              <p:cNvPr id="100" name="Oval 47">
                <a:extLst>
                  <a:ext uri="{FF2B5EF4-FFF2-40B4-BE49-F238E27FC236}">
                    <a16:creationId xmlns:a16="http://schemas.microsoft.com/office/drawing/2014/main" id="{9A7DDB5E-0D27-4BC6-8748-2CF587A13C68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101" name="Arc 48">
                <a:extLst>
                  <a:ext uri="{FF2B5EF4-FFF2-40B4-BE49-F238E27FC236}">
                    <a16:creationId xmlns:a16="http://schemas.microsoft.com/office/drawing/2014/main" id="{265C537F-8463-4227-85C4-089E44FAD320}"/>
                  </a:ext>
                </a:extLst>
              </p:cNvPr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89" name="MoonLegend5">
              <a:extLst>
                <a:ext uri="{FF2B5EF4-FFF2-40B4-BE49-F238E27FC236}">
                  <a16:creationId xmlns:a16="http://schemas.microsoft.com/office/drawing/2014/main" id="{F6424510-F916-462C-AD77-D5F756368487}"/>
                </a:ext>
              </a:extLst>
            </p:cNvPr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gray">
            <a:xfrm>
              <a:off x="7769225" y="1347790"/>
              <a:ext cx="209550" cy="209551"/>
              <a:chOff x="4495" y="1440"/>
              <a:chExt cx="160" cy="160"/>
            </a:xfrm>
          </p:grpSpPr>
          <p:sp>
            <p:nvSpPr>
              <p:cNvPr id="98" name="Oval 50">
                <a:extLst>
                  <a:ext uri="{FF2B5EF4-FFF2-40B4-BE49-F238E27FC236}">
                    <a16:creationId xmlns:a16="http://schemas.microsoft.com/office/drawing/2014/main" id="{7E967894-F245-4965-BCB6-686DC4B0F014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99" name="Oval 51">
                <a:extLst>
                  <a:ext uri="{FF2B5EF4-FFF2-40B4-BE49-F238E27FC236}">
                    <a16:creationId xmlns:a16="http://schemas.microsoft.com/office/drawing/2014/main" id="{BBDC339B-4C64-4F7E-948F-5DFE32B4C0CA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90" name="MoonLegend3">
              <a:extLst>
                <a:ext uri="{FF2B5EF4-FFF2-40B4-BE49-F238E27FC236}">
                  <a16:creationId xmlns:a16="http://schemas.microsoft.com/office/drawing/2014/main" id="{25586D3A-6B99-4D8A-A2F0-031014D5B773}"/>
                </a:ext>
              </a:extLst>
            </p:cNvPr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gray">
            <a:xfrm>
              <a:off x="7769225" y="799307"/>
              <a:ext cx="209550" cy="209551"/>
              <a:chOff x="4495" y="1198"/>
              <a:chExt cx="160" cy="160"/>
            </a:xfrm>
          </p:grpSpPr>
          <p:sp>
            <p:nvSpPr>
              <p:cNvPr id="96" name="Oval 47">
                <a:extLst>
                  <a:ext uri="{FF2B5EF4-FFF2-40B4-BE49-F238E27FC236}">
                    <a16:creationId xmlns:a16="http://schemas.microsoft.com/office/drawing/2014/main" id="{C18ADE40-3BD0-494F-855E-3E9D8DDA95A2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97" name="Arc 48">
                <a:extLst>
                  <a:ext uri="{FF2B5EF4-FFF2-40B4-BE49-F238E27FC236}">
                    <a16:creationId xmlns:a16="http://schemas.microsoft.com/office/drawing/2014/main" id="{55BEDD7E-E2E9-4590-B70F-9987D6086AA0}"/>
                  </a:ext>
                </a:extLst>
              </p:cNvPr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sp>
          <p:nvSpPr>
            <p:cNvPr id="91" name="Legend1">
              <a:extLst>
                <a:ext uri="{FF2B5EF4-FFF2-40B4-BE49-F238E27FC236}">
                  <a16:creationId xmlns:a16="http://schemas.microsoft.com/office/drawing/2014/main" id="{CA2FC484-9C86-4247-91B6-E0F85D9583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263525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92" name="Legend2">
              <a:extLst>
                <a:ext uri="{FF2B5EF4-FFF2-40B4-BE49-F238E27FC236}">
                  <a16:creationId xmlns:a16="http://schemas.microsoft.com/office/drawing/2014/main" id="{46B02E50-D87F-47B5-BBF9-053B972C42E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538163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93" name="Legend3">
              <a:extLst>
                <a:ext uri="{FF2B5EF4-FFF2-40B4-BE49-F238E27FC236}">
                  <a16:creationId xmlns:a16="http://schemas.microsoft.com/office/drawing/2014/main" id="{0D9013F2-0EBB-4DE3-B0FC-C70F9C5562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812802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94" name="Legend4">
              <a:extLst>
                <a:ext uri="{FF2B5EF4-FFF2-40B4-BE49-F238E27FC236}">
                  <a16:creationId xmlns:a16="http://schemas.microsoft.com/office/drawing/2014/main" id="{A185E927-E9B2-4C55-BDF8-E134501E5EE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1084265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95" name="Legend5">
              <a:extLst>
                <a:ext uri="{FF2B5EF4-FFF2-40B4-BE49-F238E27FC236}">
                  <a16:creationId xmlns:a16="http://schemas.microsoft.com/office/drawing/2014/main" id="{4072612A-BDDE-42B4-A7EB-C8D96A5B660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1360490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CF0EB28-26E6-4F5B-A801-B0D6FE99F7A7}"/>
              </a:ext>
            </a:extLst>
          </p:cNvPr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77" t="75954" r="2678" b="4534"/>
          <a:stretch/>
        </p:blipFill>
        <p:spPr bwMode="ltGray">
          <a:xfrm>
            <a:off x="11145003" y="6223459"/>
            <a:ext cx="586761" cy="59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8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</p:sldLayoutIdLst>
  <p:txStyles>
    <p:titleStyle>
      <a:lvl1pPr algn="l" defTabSz="913572" rtl="0" eaLnBrk="1" fontAlgn="base" hangingPunct="1">
        <a:spcBef>
          <a:spcPct val="0"/>
        </a:spcBef>
        <a:spcAft>
          <a:spcPct val="0"/>
        </a:spcAft>
        <a:tabLst>
          <a:tab pos="275367" algn="l"/>
        </a:tabLst>
        <a:defRPr lang="x-none" sz="2041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2pPr>
      <a:lvl3pPr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3pPr>
      <a:lvl4pPr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4pPr>
      <a:lvl5pPr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5pPr>
      <a:lvl6pPr marL="466505"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6pPr>
      <a:lvl7pPr marL="933009"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7pPr>
      <a:lvl8pPr marL="1399513"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8pPr>
      <a:lvl9pPr marL="1866019"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x-none" sz="1632" baseline="0">
          <a:solidFill>
            <a:schemeClr val="tx1"/>
          </a:solidFill>
          <a:latin typeface="+mn-lt"/>
          <a:ea typeface="+mn-ea"/>
          <a:cs typeface="+mn-cs"/>
        </a:defRPr>
      </a:lvl1pPr>
      <a:lvl2pPr marL="197617" indent="-195998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lang="x-none" sz="1632" baseline="0">
          <a:solidFill>
            <a:schemeClr val="tx1"/>
          </a:solidFill>
          <a:latin typeface="+mn-lt"/>
        </a:defRPr>
      </a:lvl2pPr>
      <a:lvl3pPr marL="466505" indent="-267269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lang="x-none" sz="1632" baseline="0">
          <a:solidFill>
            <a:schemeClr val="tx1"/>
          </a:solidFill>
          <a:latin typeface="+mn-lt"/>
        </a:defRPr>
      </a:lvl3pPr>
      <a:lvl4pPr marL="626866" indent="-158741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lang="x-none" sz="1632" baseline="0">
          <a:solidFill>
            <a:schemeClr val="tx1"/>
          </a:solidFill>
          <a:latin typeface="+mn-lt"/>
        </a:defRPr>
      </a:lvl4pPr>
      <a:lvl5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5pPr>
      <a:lvl6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6pPr>
      <a:lvl7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7pPr>
      <a:lvl8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8pPr>
      <a:lvl9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9pPr>
    </p:bodyStyle>
    <p:otherStyle>
      <a:defPPr>
        <a:defRPr lang="x-none"/>
      </a:defPPr>
      <a:lvl1pPr marL="0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6505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3009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399513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6019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32522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799027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65531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32036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12.jpeg"/><Relationship Id="rId2" Type="http://schemas.openxmlformats.org/officeDocument/2006/relationships/tags" Target="../tags/tag3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3.bin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tags" Target="../tags/tag38.xml"/><Relationship Id="rId7" Type="http://schemas.openxmlformats.org/officeDocument/2006/relationships/image" Target="../media/image13.emf"/><Relationship Id="rId12" Type="http://schemas.microsoft.com/office/2007/relationships/diagramDrawing" Target="../diagrams/drawing1.xml"/><Relationship Id="rId2" Type="http://schemas.openxmlformats.org/officeDocument/2006/relationships/tags" Target="../tags/tag3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4.bin"/><Relationship Id="rId11" Type="http://schemas.openxmlformats.org/officeDocument/2006/relationships/diagramColors" Target="../diagrams/colors1.xml"/><Relationship Id="rId5" Type="http://schemas.openxmlformats.org/officeDocument/2006/relationships/notesSlide" Target="../notesSlides/notesSlide1.xml"/><Relationship Id="rId10" Type="http://schemas.openxmlformats.org/officeDocument/2006/relationships/diagramQuickStyle" Target="../diagrams/quickStyle1.xml"/><Relationship Id="rId4" Type="http://schemas.openxmlformats.org/officeDocument/2006/relationships/slideLayout" Target="../slideLayouts/slideLayout15.xml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40.xml"/><Relationship Id="rId7" Type="http://schemas.openxmlformats.org/officeDocument/2006/relationships/chart" Target="../charts/chart2.xml"/><Relationship Id="rId2" Type="http://schemas.openxmlformats.org/officeDocument/2006/relationships/tags" Target="../tags/tag39.xml"/><Relationship Id="rId1" Type="http://schemas.openxmlformats.org/officeDocument/2006/relationships/vmlDrawing" Target="../drawings/vmlDrawing15.vml"/><Relationship Id="rId6" Type="http://schemas.openxmlformats.org/officeDocument/2006/relationships/chart" Target="../charts/chart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tags" Target="../tags/tag42.xml"/><Relationship Id="rId7" Type="http://schemas.openxmlformats.org/officeDocument/2006/relationships/oleObject" Target="../embeddings/oleObject14.bin"/><Relationship Id="rId2" Type="http://schemas.openxmlformats.org/officeDocument/2006/relationships/tags" Target="../tags/tag41.xml"/><Relationship Id="rId1" Type="http://schemas.openxmlformats.org/officeDocument/2006/relationships/vmlDrawing" Target="../drawings/vmlDrawing16.vml"/><Relationship Id="rId6" Type="http://schemas.openxmlformats.org/officeDocument/2006/relationships/chart" Target="../charts/chart3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13" Type="http://schemas.openxmlformats.org/officeDocument/2006/relationships/chart" Target="../charts/chart9.xml"/><Relationship Id="rId3" Type="http://schemas.openxmlformats.org/officeDocument/2006/relationships/tags" Target="../tags/tag44.xml"/><Relationship Id="rId7" Type="http://schemas.openxmlformats.org/officeDocument/2006/relationships/image" Target="../media/image13.emf"/><Relationship Id="rId12" Type="http://schemas.openxmlformats.org/officeDocument/2006/relationships/chart" Target="../charts/chart8.xml"/><Relationship Id="rId2" Type="http://schemas.openxmlformats.org/officeDocument/2006/relationships/tags" Target="../tags/tag43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4.bin"/><Relationship Id="rId11" Type="http://schemas.openxmlformats.org/officeDocument/2006/relationships/chart" Target="../charts/chart7.xml"/><Relationship Id="rId5" Type="http://schemas.openxmlformats.org/officeDocument/2006/relationships/notesSlide" Target="../notesSlides/notesSlide4.xml"/><Relationship Id="rId15" Type="http://schemas.openxmlformats.org/officeDocument/2006/relationships/chart" Target="../charts/chart11.xml"/><Relationship Id="rId10" Type="http://schemas.openxmlformats.org/officeDocument/2006/relationships/chart" Target="../charts/chart6.xml"/><Relationship Id="rId4" Type="http://schemas.openxmlformats.org/officeDocument/2006/relationships/slideLayout" Target="../slideLayouts/slideLayout15.xml"/><Relationship Id="rId9" Type="http://schemas.openxmlformats.org/officeDocument/2006/relationships/chart" Target="../charts/chart5.xml"/><Relationship Id="rId14" Type="http://schemas.openxmlformats.org/officeDocument/2006/relationships/chart" Target="../charts/char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tags" Target="../tags/tag46.xml"/><Relationship Id="rId7" Type="http://schemas.openxmlformats.org/officeDocument/2006/relationships/image" Target="../media/image13.emf"/><Relationship Id="rId2" Type="http://schemas.openxmlformats.org/officeDocument/2006/relationships/tags" Target="../tags/tag45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4.bin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9" Type="http://schemas.openxmlformats.org/officeDocument/2006/relationships/chart" Target="../charts/chart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tags" Target="../tags/tag48.xml"/><Relationship Id="rId7" Type="http://schemas.openxmlformats.org/officeDocument/2006/relationships/image" Target="../media/image13.emf"/><Relationship Id="rId2" Type="http://schemas.openxmlformats.org/officeDocument/2006/relationships/tags" Target="../tags/tag4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4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9" Type="http://schemas.openxmlformats.org/officeDocument/2006/relationships/chart" Target="../charts/char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image" Target="../media/image13.emf"/><Relationship Id="rId2" Type="http://schemas.openxmlformats.org/officeDocument/2006/relationships/tags" Target="../tags/tag49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4.bin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12.jpeg"/><Relationship Id="rId2" Type="http://schemas.openxmlformats.org/officeDocument/2006/relationships/tags" Target="../tags/tag5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3.bin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7" Type="http://schemas.openxmlformats.org/officeDocument/2006/relationships/image" Target="../media/image13.emf"/><Relationship Id="rId2" Type="http://schemas.openxmlformats.org/officeDocument/2006/relationships/tags" Target="../tags/tag53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4.bin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7620F41-2790-4645-80FF-42BA7B68429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41077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7620F41-2790-4645-80FF-42BA7B6842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50AA7EF-C520-4048-8B88-BFF0606EC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ZA" sz="2800" b="1">
              <a:latin typeface="MTN Brighter Sans Bold" panose="00000800000000000000"/>
              <a:ea typeface="+mj-ea"/>
              <a:cs typeface="+mj-cs"/>
              <a:sym typeface="MTN Brighter Sans Bold" panose="00000800000000000000"/>
            </a:endParaRPr>
          </a:p>
        </p:txBody>
      </p:sp>
      <p:pic>
        <p:nvPicPr>
          <p:cNvPr id="20" name="Picture Placeholder 19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2" b="3526"/>
          <a:stretch/>
        </p:blipFill>
        <p:spPr>
          <a:xfrm>
            <a:off x="0" y="3098"/>
            <a:ext cx="12192000" cy="6858000"/>
          </a:xfr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29015" y="2980014"/>
            <a:ext cx="6830321" cy="1110338"/>
          </a:xfrm>
        </p:spPr>
        <p:txBody>
          <a:bodyPr vert="horz"/>
          <a:lstStyle/>
          <a:p>
            <a:r>
              <a:rPr lang="en-ZA" sz="3200" dirty="0">
                <a:latin typeface="+mn-lt"/>
              </a:rPr>
              <a:t>MTN : ADAM Churn model Approach</a:t>
            </a:r>
            <a:br>
              <a:rPr lang="en-ZA" sz="4000" dirty="0">
                <a:latin typeface="+mn-lt"/>
              </a:rPr>
            </a:br>
            <a:r>
              <a:rPr lang="en-ZA" sz="1600" b="0" dirty="0">
                <a:solidFill>
                  <a:schemeClr val="bg1"/>
                </a:solidFill>
                <a:latin typeface="+mn-lt"/>
              </a:rPr>
              <a:t>Implementation process of an Advanced Churn model on ADAM</a:t>
            </a:r>
            <a:endParaRPr lang="en-ZA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1" name="Text Placeholder 11"/>
          <p:cNvSpPr txBox="1">
            <a:spLocks/>
          </p:cNvSpPr>
          <p:nvPr/>
        </p:nvSpPr>
        <p:spPr>
          <a:xfrm>
            <a:off x="329015" y="4969830"/>
            <a:ext cx="4689452" cy="41578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152400" indent="-1524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263" indent="-160338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3713" indent="-161925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4050" indent="-160338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5975" indent="-1524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GB" alt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1400" b="1" i="1" dirty="0"/>
              <a:t>July 2021</a:t>
            </a:r>
          </a:p>
        </p:txBody>
      </p:sp>
    </p:spTree>
    <p:extLst>
      <p:ext uri="{BB962C8B-B14F-4D97-AF65-F5344CB8AC3E}">
        <p14:creationId xmlns:p14="http://schemas.microsoft.com/office/powerpoint/2010/main" val="3488847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534B4A4-665E-4FF3-815B-11307CE3BB3C}"/>
              </a:ext>
            </a:extLst>
          </p:cNvPr>
          <p:cNvSpPr txBox="1">
            <a:spLocks/>
          </p:cNvSpPr>
          <p:nvPr/>
        </p:nvSpPr>
        <p:spPr>
          <a:xfrm>
            <a:off x="392514" y="100768"/>
            <a:ext cx="11799486" cy="498598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25.0 MN subscribers are filtered for analysis from an overall base of 41.5 MN (Active Base -  1</a:t>
            </a:r>
            <a:r>
              <a:rPr lang="en-ZA" sz="1800" baseline="30000" dirty="0">
                <a:latin typeface="+mn-lt"/>
              </a:rPr>
              <a:t>st</a:t>
            </a:r>
            <a:r>
              <a:rPr lang="en-ZA" sz="1800" dirty="0">
                <a:latin typeface="+mn-lt"/>
              </a:rPr>
              <a:t>Feb) based </a:t>
            </a:r>
          </a:p>
          <a:p>
            <a:r>
              <a:rPr lang="en-ZA" sz="1800" dirty="0">
                <a:latin typeface="+mn-lt"/>
              </a:rPr>
              <a:t>on agreed selection criteria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4FDE7C-A2FD-48E4-BBBA-73AB564D27A1}"/>
              </a:ext>
            </a:extLst>
          </p:cNvPr>
          <p:cNvGrpSpPr/>
          <p:nvPr/>
        </p:nvGrpSpPr>
        <p:grpSpPr>
          <a:xfrm>
            <a:off x="516087" y="1151808"/>
            <a:ext cx="5379769" cy="564720"/>
            <a:chOff x="1315" y="900011"/>
            <a:chExt cx="4941336" cy="580897"/>
          </a:xfrm>
          <a:solidFill>
            <a:schemeClr val="accent1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2F5C322-22E1-43B1-BBD6-FA405D002640}"/>
                </a:ext>
              </a:extLst>
            </p:cNvPr>
            <p:cNvSpPr/>
            <p:nvPr/>
          </p:nvSpPr>
          <p:spPr>
            <a:xfrm>
              <a:off x="1315" y="900011"/>
              <a:ext cx="4941336" cy="580897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C6F29CE3-72C8-4DB9-8E4B-3A1CF96037F1}"/>
                </a:ext>
              </a:extLst>
            </p:cNvPr>
            <p:cNvSpPr txBox="1"/>
            <p:nvPr/>
          </p:nvSpPr>
          <p:spPr>
            <a:xfrm>
              <a:off x="18329" y="917025"/>
              <a:ext cx="4907308" cy="563883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>
                  <a:solidFill>
                    <a:schemeClr val="tx1"/>
                  </a:solidFill>
                </a:rPr>
                <a:t>Base Selection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F4B56BE-A9ED-41FC-8C4B-63F58302D38D}"/>
              </a:ext>
            </a:extLst>
          </p:cNvPr>
          <p:cNvSpPr txBox="1"/>
          <p:nvPr/>
        </p:nvSpPr>
        <p:spPr>
          <a:xfrm>
            <a:off x="6561386" y="4508775"/>
            <a:ext cx="3845899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Prepaid Specific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All variables with definitions provided in the BSL Data dictionary including Usage, Revenue &amp; other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7048CF-9C40-406C-93BF-1A5090BA182E}"/>
              </a:ext>
            </a:extLst>
          </p:cNvPr>
          <p:cNvSpPr txBox="1"/>
          <p:nvPr/>
        </p:nvSpPr>
        <p:spPr>
          <a:xfrm>
            <a:off x="6561386" y="4098192"/>
            <a:ext cx="3845899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600" b="1" dirty="0"/>
              <a:t>Selected Variables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010545-32EC-4B51-AD49-803226CDC011}"/>
              </a:ext>
            </a:extLst>
          </p:cNvPr>
          <p:cNvSpPr txBox="1"/>
          <p:nvPr/>
        </p:nvSpPr>
        <p:spPr>
          <a:xfrm>
            <a:off x="6561386" y="1915600"/>
            <a:ext cx="3845899" cy="33631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600" b="1" dirty="0"/>
              <a:t>Variable categories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C2EC47-5D51-4771-BFCC-49E56C2D1971}"/>
              </a:ext>
            </a:extLst>
          </p:cNvPr>
          <p:cNvGrpSpPr/>
          <p:nvPr/>
        </p:nvGrpSpPr>
        <p:grpSpPr>
          <a:xfrm>
            <a:off x="6561386" y="2277736"/>
            <a:ext cx="3848257" cy="1393015"/>
            <a:chOff x="6320298" y="1548339"/>
            <a:chExt cx="3035212" cy="1200320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7AAD3D4-FC5E-41BC-91CC-E99E59852DD7}"/>
                </a:ext>
              </a:extLst>
            </p:cNvPr>
            <p:cNvSpPr txBox="1"/>
            <p:nvPr/>
          </p:nvSpPr>
          <p:spPr>
            <a:xfrm>
              <a:off x="7857777" y="1548339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Postpaid base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C7C3A6A-B70D-4F0A-A5E5-AFADE4CF715D}"/>
                </a:ext>
              </a:extLst>
            </p:cNvPr>
            <p:cNvSpPr txBox="1"/>
            <p:nvPr/>
          </p:nvSpPr>
          <p:spPr>
            <a:xfrm>
              <a:off x="7857777" y="1858027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Postpaid billing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A4CE462-2EFF-432E-BF76-BE052346BFB6}"/>
                </a:ext>
              </a:extLst>
            </p:cNvPr>
            <p:cNvSpPr txBox="1"/>
            <p:nvPr/>
          </p:nvSpPr>
          <p:spPr>
            <a:xfrm>
              <a:off x="7857777" y="2176149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Ambiguous variables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E469C78-D0AB-40BC-819A-0C3B04D511C9}"/>
                </a:ext>
              </a:extLst>
            </p:cNvPr>
            <p:cNvSpPr txBox="1"/>
            <p:nvPr/>
          </p:nvSpPr>
          <p:spPr>
            <a:xfrm>
              <a:off x="6325013" y="1548339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Base &amp; Period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964F1BE-92BA-438A-AC1A-8894067589E5}"/>
                </a:ext>
              </a:extLst>
            </p:cNvPr>
            <p:cNvSpPr txBox="1"/>
            <p:nvPr/>
          </p:nvSpPr>
          <p:spPr>
            <a:xfrm>
              <a:off x="6320298" y="1862785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First &amp; Last usage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A2BA03-9668-483A-93C6-31DF7812662F}"/>
                </a:ext>
              </a:extLst>
            </p:cNvPr>
            <p:cNvSpPr txBox="1"/>
            <p:nvPr/>
          </p:nvSpPr>
          <p:spPr>
            <a:xfrm>
              <a:off x="6320298" y="2169011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Loyalty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84BBFBB-2FBD-4329-8DBE-7E325B28F38C}"/>
                </a:ext>
              </a:extLst>
            </p:cNvPr>
            <p:cNvSpPr txBox="1"/>
            <p:nvPr/>
          </p:nvSpPr>
          <p:spPr>
            <a:xfrm>
              <a:off x="6320298" y="2483457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Revenue Spend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D78B0A7-EA5F-4491-9D3F-6CB1B9960D2B}"/>
                </a:ext>
              </a:extLst>
            </p:cNvPr>
            <p:cNvSpPr txBox="1"/>
            <p:nvPr/>
          </p:nvSpPr>
          <p:spPr>
            <a:xfrm>
              <a:off x="7857777" y="2483457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Voice &amp; Others</a:t>
              </a:r>
            </a:p>
          </p:txBody>
        </p:sp>
      </p:grp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4F4A990-647E-4AB5-91D8-F56E3CD2D4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3056791"/>
              </p:ext>
            </p:extLst>
          </p:nvPr>
        </p:nvGraphicFramePr>
        <p:xfrm>
          <a:off x="534612" y="1716528"/>
          <a:ext cx="5355964" cy="4724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1225594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8197DD8D-E5FD-4C93-BF31-BD650AE932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94086"/>
              </p:ext>
            </p:extLst>
          </p:nvPr>
        </p:nvGraphicFramePr>
        <p:xfrm>
          <a:off x="6145215" y="1126091"/>
          <a:ext cx="5977514" cy="3202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8A86F91-6D14-4E76-B97F-AC41B05F03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0329897"/>
              </p:ext>
            </p:extLst>
          </p:nvPr>
        </p:nvGraphicFramePr>
        <p:xfrm>
          <a:off x="272066" y="1126091"/>
          <a:ext cx="5977514" cy="3202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think-cell Slide" r:id="rId8" imgW="493" imgH="493" progId="TCLayout.ActiveDocument.1">
                  <p:embed/>
                </p:oleObj>
              </mc:Choice>
              <mc:Fallback>
                <p:oleObj name="think-cell Slide" r:id="rId8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F7F503F-EB5C-48D3-9648-838013873628}"/>
              </a:ext>
            </a:extLst>
          </p:cNvPr>
          <p:cNvSpPr txBox="1">
            <a:spLocks/>
          </p:cNvSpPr>
          <p:nvPr/>
        </p:nvSpPr>
        <p:spPr>
          <a:xfrm>
            <a:off x="392514" y="145190"/>
            <a:ext cx="11799486" cy="249299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73% of total Value Loss happens in Tenure&gt;= 90 base</a:t>
            </a:r>
            <a:endParaRPr lang="en-ZA" sz="1800" dirty="0">
              <a:latin typeface="+mn-lt"/>
            </a:endParaRPr>
          </a:p>
        </p:txBody>
      </p:sp>
      <p:graphicFrame>
        <p:nvGraphicFramePr>
          <p:cNvPr id="11" name="Table 22">
            <a:extLst>
              <a:ext uri="{FF2B5EF4-FFF2-40B4-BE49-F238E27FC236}">
                <a16:creationId xmlns:a16="http://schemas.microsoft.com/office/drawing/2014/main" id="{C0EEF920-185F-488C-8418-ACAAE6028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243827"/>
              </p:ext>
            </p:extLst>
          </p:nvPr>
        </p:nvGraphicFramePr>
        <p:xfrm>
          <a:off x="1383128" y="4762531"/>
          <a:ext cx="9425743" cy="1046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778">
                  <a:extLst>
                    <a:ext uri="{9D8B030D-6E8A-4147-A177-3AD203B41FA5}">
                      <a16:colId xmlns:a16="http://schemas.microsoft.com/office/drawing/2014/main" val="2790929731"/>
                    </a:ext>
                  </a:extLst>
                </a:gridCol>
                <a:gridCol w="1554593">
                  <a:extLst>
                    <a:ext uri="{9D8B030D-6E8A-4147-A177-3AD203B41FA5}">
                      <a16:colId xmlns:a16="http://schemas.microsoft.com/office/drawing/2014/main" val="4087719789"/>
                    </a:ext>
                  </a:extLst>
                </a:gridCol>
                <a:gridCol w="1554593">
                  <a:extLst>
                    <a:ext uri="{9D8B030D-6E8A-4147-A177-3AD203B41FA5}">
                      <a16:colId xmlns:a16="http://schemas.microsoft.com/office/drawing/2014/main" val="1586545968"/>
                    </a:ext>
                  </a:extLst>
                </a:gridCol>
                <a:gridCol w="1554593">
                  <a:extLst>
                    <a:ext uri="{9D8B030D-6E8A-4147-A177-3AD203B41FA5}">
                      <a16:colId xmlns:a16="http://schemas.microsoft.com/office/drawing/2014/main" val="56956500"/>
                    </a:ext>
                  </a:extLst>
                </a:gridCol>
                <a:gridCol w="1554593">
                  <a:extLst>
                    <a:ext uri="{9D8B030D-6E8A-4147-A177-3AD203B41FA5}">
                      <a16:colId xmlns:a16="http://schemas.microsoft.com/office/drawing/2014/main" val="384825086"/>
                    </a:ext>
                  </a:extLst>
                </a:gridCol>
                <a:gridCol w="1554593">
                  <a:extLst>
                    <a:ext uri="{9D8B030D-6E8A-4147-A177-3AD203B41FA5}">
                      <a16:colId xmlns:a16="http://schemas.microsoft.com/office/drawing/2014/main" val="3628313397"/>
                    </a:ext>
                  </a:extLst>
                </a:gridCol>
              </a:tblGrid>
              <a:tr h="3488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Active Base - 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Churn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Revenue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ARPU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994479"/>
                  </a:ext>
                </a:extLst>
              </a:tr>
              <a:tr h="3488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Tenure &gt;=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19.3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1,743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32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542647"/>
                  </a:ext>
                </a:extLst>
              </a:tr>
              <a:tr h="3488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Tenure  &lt;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5.7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110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678055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A597689-C6FF-4F90-82E4-5194CFB034A7}"/>
              </a:ext>
            </a:extLst>
          </p:cNvPr>
          <p:cNvSpPr txBox="1"/>
          <p:nvPr/>
        </p:nvSpPr>
        <p:spPr>
          <a:xfrm>
            <a:off x="2228256" y="5839093"/>
            <a:ext cx="812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73% of total Value loss happens in </a:t>
            </a:r>
            <a:r>
              <a:rPr lang="en-US" b="1" dirty="0"/>
              <a:t>Tenure&gt;= 90 subscriber base</a:t>
            </a:r>
            <a:r>
              <a:rPr lang="en-US" dirty="0"/>
              <a:t>, hence it is important to arrest these customers before they leave network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A3A416-1826-4753-B171-06180AAA7CFD}"/>
              </a:ext>
            </a:extLst>
          </p:cNvPr>
          <p:cNvSpPr/>
          <p:nvPr/>
        </p:nvSpPr>
        <p:spPr>
          <a:xfrm>
            <a:off x="4870961" y="833540"/>
            <a:ext cx="2842591" cy="339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DOLA% across Tenure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B036FE-9B94-4055-9F9A-29FB1182E5AD}"/>
              </a:ext>
            </a:extLst>
          </p:cNvPr>
          <p:cNvCxnSpPr>
            <a:cxnSpLocks/>
          </p:cNvCxnSpPr>
          <p:nvPr/>
        </p:nvCxnSpPr>
        <p:spPr>
          <a:xfrm>
            <a:off x="6226375" y="1390271"/>
            <a:ext cx="1" cy="261399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48864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2DE8E9FF-F274-473D-8EAB-5A858733E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9627032"/>
              </p:ext>
            </p:extLst>
          </p:nvPr>
        </p:nvGraphicFramePr>
        <p:xfrm>
          <a:off x="1445684" y="777696"/>
          <a:ext cx="9955458" cy="4176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think-cell Slide" r:id="rId7" imgW="493" imgH="493" progId="TCLayout.ActiveDocument.1">
                  <p:embed/>
                </p:oleObj>
              </mc:Choice>
              <mc:Fallback>
                <p:oleObj name="think-cell Slide" r:id="rId7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DA13A8-6DA4-47C7-B4DE-D732269F14E7}"/>
              </a:ext>
            </a:extLst>
          </p:cNvPr>
          <p:cNvGrpSpPr/>
          <p:nvPr/>
        </p:nvGrpSpPr>
        <p:grpSpPr>
          <a:xfrm>
            <a:off x="10257183" y="6500977"/>
            <a:ext cx="1501451" cy="251595"/>
            <a:chOff x="1315" y="900011"/>
            <a:chExt cx="4941336" cy="580897"/>
          </a:xfrm>
          <a:noFill/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7FC07CF4-B475-4015-91A6-791330313103}"/>
                </a:ext>
              </a:extLst>
            </p:cNvPr>
            <p:cNvSpPr/>
            <p:nvPr/>
          </p:nvSpPr>
          <p:spPr>
            <a:xfrm>
              <a:off x="1315" y="900011"/>
              <a:ext cx="4941336" cy="580897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F9C03E66-3F1B-4CB1-9C8B-7A7BB625A9DD}"/>
                </a:ext>
              </a:extLst>
            </p:cNvPr>
            <p:cNvSpPr txBox="1"/>
            <p:nvPr/>
          </p:nvSpPr>
          <p:spPr>
            <a:xfrm>
              <a:off x="18329" y="917025"/>
              <a:ext cx="4907306" cy="54687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</a:rPr>
                <a:t>Tenure &gt;= 90</a:t>
              </a:r>
            </a:p>
          </p:txBody>
        </p:sp>
      </p:grpSp>
      <p:sp>
        <p:nvSpPr>
          <p:cNvPr id="64" name="Title 1">
            <a:extLst>
              <a:ext uri="{FF2B5EF4-FFF2-40B4-BE49-F238E27FC236}">
                <a16:creationId xmlns:a16="http://schemas.microsoft.com/office/drawing/2014/main" id="{2E064DFB-86AC-4101-8605-CCB40EE6B414}"/>
              </a:ext>
            </a:extLst>
          </p:cNvPr>
          <p:cNvSpPr txBox="1">
            <a:spLocks/>
          </p:cNvSpPr>
          <p:nvPr/>
        </p:nvSpPr>
        <p:spPr>
          <a:xfrm>
            <a:off x="392512" y="173038"/>
            <a:ext cx="11799488" cy="498598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Within Tenure&gt;=90 subscriber base, low Value segment comprises 43% of total base and contributes only 3.6% </a:t>
            </a:r>
          </a:p>
          <a:p>
            <a:r>
              <a:rPr lang="en-ZA" sz="1800" dirty="0">
                <a:latin typeface="+mn-lt"/>
              </a:rPr>
              <a:t>of total revenue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A0A0C-BBBD-4BC1-A526-59E054C203D5}"/>
              </a:ext>
            </a:extLst>
          </p:cNvPr>
          <p:cNvGrpSpPr/>
          <p:nvPr/>
        </p:nvGrpSpPr>
        <p:grpSpPr>
          <a:xfrm>
            <a:off x="114102" y="1288636"/>
            <a:ext cx="11991951" cy="5052529"/>
            <a:chOff x="114102" y="1288636"/>
            <a:chExt cx="11991951" cy="476454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7AA76A-BBF5-44C9-9BAC-833BCF65A57F}"/>
                </a:ext>
              </a:extLst>
            </p:cNvPr>
            <p:cNvSpPr/>
            <p:nvPr/>
          </p:nvSpPr>
          <p:spPr>
            <a:xfrm>
              <a:off x="9687198" y="4602797"/>
              <a:ext cx="171422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8B8227-B61D-4212-B4F1-70BABF347BDE}"/>
                </a:ext>
              </a:extLst>
            </p:cNvPr>
            <p:cNvSpPr/>
            <p:nvPr/>
          </p:nvSpPr>
          <p:spPr>
            <a:xfrm>
              <a:off x="7089573" y="4602797"/>
              <a:ext cx="254263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4D1FC79-1F1E-43A0-98F4-25987AC66831}"/>
                </a:ext>
              </a:extLst>
            </p:cNvPr>
            <p:cNvSpPr/>
            <p:nvPr/>
          </p:nvSpPr>
          <p:spPr>
            <a:xfrm>
              <a:off x="3638947" y="4602797"/>
              <a:ext cx="338574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3CDC1D-5F01-4F71-9613-067BAB872C02}"/>
                </a:ext>
              </a:extLst>
            </p:cNvPr>
            <p:cNvSpPr/>
            <p:nvPr/>
          </p:nvSpPr>
          <p:spPr>
            <a:xfrm>
              <a:off x="1890243" y="4579727"/>
              <a:ext cx="1692714" cy="274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C685154-2A27-4A3F-AEBA-223DD7CB06BE}"/>
                </a:ext>
              </a:extLst>
            </p:cNvPr>
            <p:cNvSpPr txBox="1"/>
            <p:nvPr/>
          </p:nvSpPr>
          <p:spPr>
            <a:xfrm>
              <a:off x="430614" y="1482793"/>
              <a:ext cx="11675439" cy="462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24ED2E-88C5-4E59-A567-AF77BB9235D7}"/>
                </a:ext>
              </a:extLst>
            </p:cNvPr>
            <p:cNvSpPr txBox="1"/>
            <p:nvPr/>
          </p:nvSpPr>
          <p:spPr>
            <a:xfrm>
              <a:off x="1898974" y="5581601"/>
              <a:ext cx="17289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3.6%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62.3 MN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2C2C09E-49D9-44E5-89CA-3A12A141CF20}"/>
                </a:ext>
              </a:extLst>
            </p:cNvPr>
            <p:cNvSpPr/>
            <p:nvPr/>
          </p:nvSpPr>
          <p:spPr>
            <a:xfrm>
              <a:off x="1890243" y="4586917"/>
              <a:ext cx="173700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Low Value 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B0E47BD-7F11-49EE-AFF2-1002B2EB79C1}"/>
                </a:ext>
              </a:extLst>
            </p:cNvPr>
            <p:cNvSpPr/>
            <p:nvPr/>
          </p:nvSpPr>
          <p:spPr>
            <a:xfrm>
              <a:off x="3638946" y="4580855"/>
              <a:ext cx="337612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Medium Value </a:t>
              </a:r>
              <a:endParaRPr lang="en-US" sz="12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4517F4B-7ACF-4AEA-B250-D3263AEF5F2B}"/>
                </a:ext>
              </a:extLst>
            </p:cNvPr>
            <p:cNvSpPr/>
            <p:nvPr/>
          </p:nvSpPr>
          <p:spPr>
            <a:xfrm>
              <a:off x="7087556" y="4586917"/>
              <a:ext cx="254465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High Value </a:t>
              </a:r>
              <a:endParaRPr lang="en-US" sz="1200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801F739-7C18-4081-BE48-8232C7F75B12}"/>
                </a:ext>
              </a:extLst>
            </p:cNvPr>
            <p:cNvSpPr/>
            <p:nvPr/>
          </p:nvSpPr>
          <p:spPr>
            <a:xfrm>
              <a:off x="9686916" y="4577393"/>
              <a:ext cx="17142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Very High Value </a:t>
              </a:r>
              <a:endParaRPr 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031078F-225C-4B51-A697-4BDCA2AF362A}"/>
                </a:ext>
              </a:extLst>
            </p:cNvPr>
            <p:cNvSpPr txBox="1"/>
            <p:nvPr/>
          </p:nvSpPr>
          <p:spPr>
            <a:xfrm>
              <a:off x="1930190" y="1497920"/>
              <a:ext cx="17289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43.0% of the base 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8.3 MN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AC6D4FA-1386-4DAF-A1DB-1E3BE2B8B891}"/>
                </a:ext>
              </a:extLst>
            </p:cNvPr>
            <p:cNvSpPr txBox="1"/>
            <p:nvPr/>
          </p:nvSpPr>
          <p:spPr>
            <a:xfrm>
              <a:off x="4023817" y="5591514"/>
              <a:ext cx="26063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25.0%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436.4 MN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C728D43-6052-4B06-A544-D18A9896BD13}"/>
                </a:ext>
              </a:extLst>
            </p:cNvPr>
            <p:cNvSpPr txBox="1"/>
            <p:nvPr/>
          </p:nvSpPr>
          <p:spPr>
            <a:xfrm>
              <a:off x="4072167" y="1540584"/>
              <a:ext cx="25764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36.1%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7.0 MN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E14A6B3-06C3-4445-BE72-CE544EE24370}"/>
                </a:ext>
              </a:extLst>
            </p:cNvPr>
            <p:cNvSpPr txBox="1"/>
            <p:nvPr/>
          </p:nvSpPr>
          <p:spPr>
            <a:xfrm>
              <a:off x="6683422" y="5591514"/>
              <a:ext cx="33529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29.4%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513.5 MN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78DBA6C-AEC4-4673-99C6-6E1D1B863CD9}"/>
                </a:ext>
              </a:extLst>
            </p:cNvPr>
            <p:cNvSpPr txBox="1"/>
            <p:nvPr/>
          </p:nvSpPr>
          <p:spPr>
            <a:xfrm>
              <a:off x="6739858" y="1509416"/>
              <a:ext cx="32542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13.9%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2.7 MN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ADEEB2-34FB-43E7-9791-A1651DB3AA66}"/>
                </a:ext>
              </a:extLst>
            </p:cNvPr>
            <p:cNvSpPr txBox="1"/>
            <p:nvPr/>
          </p:nvSpPr>
          <p:spPr>
            <a:xfrm>
              <a:off x="9655601" y="5581601"/>
              <a:ext cx="17455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42.0%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731.8 MN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90455F6-E162-4200-9552-20E3E1F71600}"/>
                </a:ext>
              </a:extLst>
            </p:cNvPr>
            <p:cNvSpPr txBox="1"/>
            <p:nvPr/>
          </p:nvSpPr>
          <p:spPr>
            <a:xfrm>
              <a:off x="9765951" y="1502466"/>
              <a:ext cx="1768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6.9%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1.3 MN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A1818AE5-7A13-427B-8799-1CA2C4939D5B}"/>
                </a:ext>
              </a:extLst>
            </p:cNvPr>
            <p:cNvSpPr/>
            <p:nvPr/>
          </p:nvSpPr>
          <p:spPr>
            <a:xfrm>
              <a:off x="118848" y="1288636"/>
              <a:ext cx="1483557" cy="621209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Total Base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19.3 MN</a:t>
              </a:r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36BFE591-3F8B-41FD-8BAC-7256D9627132}"/>
                </a:ext>
              </a:extLst>
            </p:cNvPr>
            <p:cNvSpPr/>
            <p:nvPr/>
          </p:nvSpPr>
          <p:spPr>
            <a:xfrm>
              <a:off x="114102" y="5464968"/>
              <a:ext cx="1479730" cy="567791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Total Revenue 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1743.9 MN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739D73CB-F1B7-4806-B4EA-0924B7491EE4}"/>
                </a:ext>
              </a:extLst>
            </p:cNvPr>
            <p:cNvSpPr/>
            <p:nvPr/>
          </p:nvSpPr>
          <p:spPr>
            <a:xfrm>
              <a:off x="125578" y="4191673"/>
              <a:ext cx="1432802" cy="349262"/>
            </a:xfrm>
            <a:prstGeom prst="rightArrow">
              <a:avLst>
                <a:gd name="adj1" fmla="val 65448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ARPU slabs (ZAR)</a:t>
              </a:r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7FBC556A-46FC-4DC0-87C3-24257F61C7D6}"/>
                </a:ext>
              </a:extLst>
            </p:cNvPr>
            <p:cNvSpPr/>
            <p:nvPr/>
          </p:nvSpPr>
          <p:spPr>
            <a:xfrm>
              <a:off x="118847" y="4582890"/>
              <a:ext cx="1446263" cy="271502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Value Segment</a:t>
              </a:r>
            </a:p>
          </p:txBody>
        </p:sp>
        <p:sp>
          <p:nvSpPr>
            <p:cNvPr id="37" name="Double Brace 36">
              <a:extLst>
                <a:ext uri="{FF2B5EF4-FFF2-40B4-BE49-F238E27FC236}">
                  <a16:creationId xmlns:a16="http://schemas.microsoft.com/office/drawing/2014/main" id="{2CB18A59-BB6F-4BFB-8301-E2DA99E0085E}"/>
                </a:ext>
              </a:extLst>
            </p:cNvPr>
            <p:cNvSpPr/>
            <p:nvPr/>
          </p:nvSpPr>
          <p:spPr>
            <a:xfrm rot="5400000">
              <a:off x="1045632" y="2923152"/>
              <a:ext cx="3458150" cy="1768930"/>
            </a:xfrm>
            <a:prstGeom prst="bracePair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8" name="Double Brace 37">
              <a:extLst>
                <a:ext uri="{FF2B5EF4-FFF2-40B4-BE49-F238E27FC236}">
                  <a16:creationId xmlns:a16="http://schemas.microsoft.com/office/drawing/2014/main" id="{18D04BE4-CADD-496B-8490-DA789DFF70D3}"/>
                </a:ext>
              </a:extLst>
            </p:cNvPr>
            <p:cNvSpPr/>
            <p:nvPr/>
          </p:nvSpPr>
          <p:spPr>
            <a:xfrm rot="5400000">
              <a:off x="3629334" y="2131156"/>
              <a:ext cx="3458148" cy="3352921"/>
            </a:xfrm>
            <a:prstGeom prst="bracePair">
              <a:avLst>
                <a:gd name="adj" fmla="val 3651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9" name="Double Brace 38">
              <a:extLst>
                <a:ext uri="{FF2B5EF4-FFF2-40B4-BE49-F238E27FC236}">
                  <a16:creationId xmlns:a16="http://schemas.microsoft.com/office/drawing/2014/main" id="{6AD8D9D4-4DCF-403F-B449-F962E6E1BF50}"/>
                </a:ext>
              </a:extLst>
            </p:cNvPr>
            <p:cNvSpPr/>
            <p:nvPr/>
          </p:nvSpPr>
          <p:spPr>
            <a:xfrm rot="5400000">
              <a:off x="6632108" y="2481884"/>
              <a:ext cx="3469717" cy="2639897"/>
            </a:xfrm>
            <a:prstGeom prst="bracePair">
              <a:avLst>
                <a:gd name="adj" fmla="val 4236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0" name="Double Brace 39">
              <a:extLst>
                <a:ext uri="{FF2B5EF4-FFF2-40B4-BE49-F238E27FC236}">
                  <a16:creationId xmlns:a16="http://schemas.microsoft.com/office/drawing/2014/main" id="{F5820D12-DB27-4851-B052-CFD4ADC5B9A8}"/>
                </a:ext>
              </a:extLst>
            </p:cNvPr>
            <p:cNvSpPr/>
            <p:nvPr/>
          </p:nvSpPr>
          <p:spPr>
            <a:xfrm rot="5400000">
              <a:off x="8781635" y="2917183"/>
              <a:ext cx="3534439" cy="1704574"/>
            </a:xfrm>
            <a:prstGeom prst="bracePair">
              <a:avLst>
                <a:gd name="adj" fmla="val 8148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8F32C1-FF08-4F3F-BC63-C3559AD3AB49}"/>
                </a:ext>
              </a:extLst>
            </p:cNvPr>
            <p:cNvCxnSpPr/>
            <p:nvPr/>
          </p:nvCxnSpPr>
          <p:spPr>
            <a:xfrm>
              <a:off x="3636852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625ADCD-8E5C-4DF9-A08A-571E7A4FF068}"/>
                </a:ext>
              </a:extLst>
            </p:cNvPr>
            <p:cNvCxnSpPr/>
            <p:nvPr/>
          </p:nvCxnSpPr>
          <p:spPr>
            <a:xfrm>
              <a:off x="7058677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A20E8AB-E47F-428F-8B41-B8DADFF71F6A}"/>
                </a:ext>
              </a:extLst>
            </p:cNvPr>
            <p:cNvCxnSpPr/>
            <p:nvPr/>
          </p:nvCxnSpPr>
          <p:spPr>
            <a:xfrm>
              <a:off x="9660359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52D685EC-A855-4E98-8AEA-B83B85E7635D}"/>
                </a:ext>
              </a:extLst>
            </p:cNvPr>
            <p:cNvSpPr/>
            <p:nvPr/>
          </p:nvSpPr>
          <p:spPr>
            <a:xfrm>
              <a:off x="114102" y="4845121"/>
              <a:ext cx="1432802" cy="545107"/>
            </a:xfrm>
            <a:prstGeom prst="rightArrow">
              <a:avLst>
                <a:gd name="adj1" fmla="val 65448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ARPU range (ZAR)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089CAA0-5AC6-4416-A0F7-69FBC4DB793D}"/>
                </a:ext>
              </a:extLst>
            </p:cNvPr>
            <p:cNvSpPr/>
            <p:nvPr/>
          </p:nvSpPr>
          <p:spPr>
            <a:xfrm>
              <a:off x="1888147" y="4921170"/>
              <a:ext cx="1694809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0 - 25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5D9ED1-4C17-4D1E-B489-EC29CA25F400}"/>
                </a:ext>
              </a:extLst>
            </p:cNvPr>
            <p:cNvSpPr/>
            <p:nvPr/>
          </p:nvSpPr>
          <p:spPr>
            <a:xfrm>
              <a:off x="3659628" y="4921170"/>
              <a:ext cx="3352922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25 - 125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E0200B4-CF3C-4156-A63E-514FB502BFD0}"/>
                </a:ext>
              </a:extLst>
            </p:cNvPr>
            <p:cNvSpPr/>
            <p:nvPr/>
          </p:nvSpPr>
          <p:spPr>
            <a:xfrm>
              <a:off x="7099645" y="4921170"/>
              <a:ext cx="2532565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125 - 300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F5B0E4A-BE90-4F47-BC8E-E08A32C20EC5}"/>
                </a:ext>
              </a:extLst>
            </p:cNvPr>
            <p:cNvSpPr/>
            <p:nvPr/>
          </p:nvSpPr>
          <p:spPr>
            <a:xfrm>
              <a:off x="9701327" y="4900176"/>
              <a:ext cx="1699816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GT 300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891873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1D217EE-0978-49FF-938F-CBA9420506F6}"/>
              </a:ext>
            </a:extLst>
          </p:cNvPr>
          <p:cNvSpPr txBox="1">
            <a:spLocks/>
          </p:cNvSpPr>
          <p:nvPr/>
        </p:nvSpPr>
        <p:spPr>
          <a:xfrm>
            <a:off x="392512" y="209956"/>
            <a:ext cx="11799488" cy="249299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Across all value segments –Medium segment has highest value loss with 48.3% amounting to ZAR 15.83 MN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F4D33E6-69F2-4E42-81DD-52AEB7A50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7531376"/>
              </p:ext>
            </p:extLst>
          </p:nvPr>
        </p:nvGraphicFramePr>
        <p:xfrm>
          <a:off x="106018" y="1886296"/>
          <a:ext cx="3902947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3A9EE4C8-FABE-493F-8715-74039CB6CA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789450"/>
              </p:ext>
            </p:extLst>
          </p:nvPr>
        </p:nvGraphicFramePr>
        <p:xfrm>
          <a:off x="3446605" y="1916682"/>
          <a:ext cx="3568058" cy="3851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D724AE45-53A3-474C-82B5-8D78CBE62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8285417"/>
              </p:ext>
            </p:extLst>
          </p:nvPr>
        </p:nvGraphicFramePr>
        <p:xfrm>
          <a:off x="8135378" y="1938754"/>
          <a:ext cx="3568058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98F1D609-42CD-466A-B641-F84D3D352684}"/>
              </a:ext>
            </a:extLst>
          </p:cNvPr>
          <p:cNvSpPr/>
          <p:nvPr/>
        </p:nvSpPr>
        <p:spPr bwMode="auto">
          <a:xfrm>
            <a:off x="687957" y="1654641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Subscriber Base (MN)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A35E5B-A5DC-407F-9805-1093F27CFC58}"/>
              </a:ext>
            </a:extLst>
          </p:cNvPr>
          <p:cNvSpPr/>
          <p:nvPr/>
        </p:nvSpPr>
        <p:spPr bwMode="auto">
          <a:xfrm>
            <a:off x="3462043" y="1654912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Revenue (MN)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E3A3A0-8821-4533-B846-C1408251ECB0}"/>
              </a:ext>
            </a:extLst>
          </p:cNvPr>
          <p:cNvSpPr/>
          <p:nvPr/>
        </p:nvSpPr>
        <p:spPr bwMode="auto">
          <a:xfrm>
            <a:off x="9238465" y="1660418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Value Loss (MN)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E5F7DE-27DA-44C3-9B0D-6434A5E07C27}"/>
              </a:ext>
            </a:extLst>
          </p:cNvPr>
          <p:cNvSpPr/>
          <p:nvPr/>
        </p:nvSpPr>
        <p:spPr>
          <a:xfrm>
            <a:off x="11205559" y="2941879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20.7%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4E21208-ABC8-4574-B675-FD7489C8A824}"/>
              </a:ext>
            </a:extLst>
          </p:cNvPr>
          <p:cNvSpPr/>
          <p:nvPr/>
        </p:nvSpPr>
        <p:spPr>
          <a:xfrm>
            <a:off x="11249388" y="3653916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48.3%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F7C033B-7CA4-4AEB-A597-FE819B00370D}"/>
              </a:ext>
            </a:extLst>
          </p:cNvPr>
          <p:cNvSpPr/>
          <p:nvPr/>
        </p:nvSpPr>
        <p:spPr>
          <a:xfrm>
            <a:off x="11249388" y="4365952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19.5%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7CC6305-D1B6-418C-A765-479D61FB98C1}"/>
              </a:ext>
            </a:extLst>
          </p:cNvPr>
          <p:cNvSpPr/>
          <p:nvPr/>
        </p:nvSpPr>
        <p:spPr>
          <a:xfrm>
            <a:off x="11268412" y="5077988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11.6%</a:t>
            </a:r>
          </a:p>
        </p:txBody>
      </p:sp>
      <p:sp>
        <p:nvSpPr>
          <p:cNvPr id="37" name="Text Placeholder 64">
            <a:extLst>
              <a:ext uri="{FF2B5EF4-FFF2-40B4-BE49-F238E27FC236}">
                <a16:creationId xmlns:a16="http://schemas.microsoft.com/office/drawing/2014/main" id="{F5E0D548-EE6A-4CA3-9FFC-AE19E9A1D7D3}"/>
              </a:ext>
            </a:extLst>
          </p:cNvPr>
          <p:cNvSpPr txBox="1">
            <a:spLocks/>
          </p:cNvSpPr>
          <p:nvPr/>
        </p:nvSpPr>
        <p:spPr>
          <a:xfrm>
            <a:off x="1364357" y="5839613"/>
            <a:ext cx="9365635" cy="86938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dirty="0">
                <a:solidFill>
                  <a:schemeClr val="tx1"/>
                </a:solidFill>
              </a:rPr>
              <a:t>Since Medium Value segment (ARPU 25 – 125) has highest value loss % we will be building a DOLA prediction model for medium value Subscriber base.</a:t>
            </a: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8D24BAB8-E37F-4AB0-9548-AEC121F834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8237173"/>
              </p:ext>
            </p:extLst>
          </p:nvPr>
        </p:nvGraphicFramePr>
        <p:xfrm>
          <a:off x="5417564" y="1814316"/>
          <a:ext cx="3568058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A6DF5BA0-D0B3-4493-88BE-57D8CE2A5FA1}"/>
              </a:ext>
            </a:extLst>
          </p:cNvPr>
          <p:cNvSpPr/>
          <p:nvPr/>
        </p:nvSpPr>
        <p:spPr bwMode="auto">
          <a:xfrm>
            <a:off x="6391560" y="1654641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Churn %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F123F1B-91F0-4C0A-86EE-859C204173F7}"/>
              </a:ext>
            </a:extLst>
          </p:cNvPr>
          <p:cNvGrpSpPr/>
          <p:nvPr/>
        </p:nvGrpSpPr>
        <p:grpSpPr>
          <a:xfrm>
            <a:off x="106018" y="1886295"/>
            <a:ext cx="11468997" cy="1054835"/>
            <a:chOff x="-682681" y="1866987"/>
            <a:chExt cx="11544900" cy="2498675"/>
          </a:xfrm>
        </p:grpSpPr>
        <p:graphicFrame>
          <p:nvGraphicFramePr>
            <p:cNvPr id="46" name="Chart 45">
              <a:extLst>
                <a:ext uri="{FF2B5EF4-FFF2-40B4-BE49-F238E27FC236}">
                  <a16:creationId xmlns:a16="http://schemas.microsoft.com/office/drawing/2014/main" id="{40FCF4F3-FE62-4538-9BFB-A82F76EFA15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42154611"/>
                </p:ext>
              </p:extLst>
            </p:nvPr>
          </p:nvGraphicFramePr>
          <p:xfrm>
            <a:off x="-682681" y="1938967"/>
            <a:ext cx="3902947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graphicFrame>
          <p:nvGraphicFramePr>
            <p:cNvPr id="47" name="Chart 46">
              <a:extLst>
                <a:ext uri="{FF2B5EF4-FFF2-40B4-BE49-F238E27FC236}">
                  <a16:creationId xmlns:a16="http://schemas.microsoft.com/office/drawing/2014/main" id="{A02DBE5F-41C2-44DB-86C5-BCA0B211D67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30772909"/>
                </p:ext>
              </p:extLst>
            </p:nvPr>
          </p:nvGraphicFramePr>
          <p:xfrm>
            <a:off x="2680014" y="1866987"/>
            <a:ext cx="3568058" cy="242669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graphicFrame>
          <p:nvGraphicFramePr>
            <p:cNvPr id="48" name="Chart 47">
              <a:extLst>
                <a:ext uri="{FF2B5EF4-FFF2-40B4-BE49-F238E27FC236}">
                  <a16:creationId xmlns:a16="http://schemas.microsoft.com/office/drawing/2014/main" id="{7E75AA3A-3CF5-4EF2-A1C4-7E6D08ABFF2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78637476"/>
                </p:ext>
              </p:extLst>
            </p:nvPr>
          </p:nvGraphicFramePr>
          <p:xfrm>
            <a:off x="7481383" y="1879067"/>
            <a:ext cx="3380836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graphicFrame>
          <p:nvGraphicFramePr>
            <p:cNvPr id="49" name="Chart 48">
              <a:extLst>
                <a:ext uri="{FF2B5EF4-FFF2-40B4-BE49-F238E27FC236}">
                  <a16:creationId xmlns:a16="http://schemas.microsoft.com/office/drawing/2014/main" id="{659E769D-0F2B-4F14-8B31-2A3758C9E32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01726999"/>
                </p:ext>
              </p:extLst>
            </p:nvPr>
          </p:nvGraphicFramePr>
          <p:xfrm>
            <a:off x="4628865" y="1866987"/>
            <a:ext cx="3568058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F68B3253-D45C-4A51-90DC-10E3EFC2167A}"/>
              </a:ext>
            </a:extLst>
          </p:cNvPr>
          <p:cNvSpPr/>
          <p:nvPr/>
        </p:nvSpPr>
        <p:spPr>
          <a:xfrm>
            <a:off x="106018" y="3524562"/>
            <a:ext cx="11882315" cy="589248"/>
          </a:xfrm>
          <a:prstGeom prst="rect">
            <a:avLst/>
          </a:prstGeom>
          <a:noFill/>
          <a:ln w="317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0946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DA57-4BE0-4746-BF4B-9DA49168F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671" y="209402"/>
            <a:ext cx="11404600" cy="360000"/>
          </a:xfrm>
        </p:spPr>
        <p:txBody>
          <a:bodyPr/>
          <a:lstStyle/>
          <a:p>
            <a:r>
              <a:rPr lang="en-US" sz="1800" dirty="0">
                <a:latin typeface="+mn-lt"/>
              </a:rPr>
              <a:t>Approx. 10% of total medium value segment base goes into 30-day inactivity while 4% eventually churn, 59% of 7-day inactive base comes back in 30 days , hence we should try to retain people in between 0- 30 day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C290A15-454B-4DEE-BBE8-A4A9D0E6AD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1433842"/>
              </p:ext>
            </p:extLst>
          </p:nvPr>
        </p:nvGraphicFramePr>
        <p:xfrm>
          <a:off x="923733" y="909736"/>
          <a:ext cx="9741158" cy="2393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7493035-87C2-482F-8035-D34450761C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2133144"/>
              </p:ext>
            </p:extLst>
          </p:nvPr>
        </p:nvGraphicFramePr>
        <p:xfrm>
          <a:off x="811763" y="3554963"/>
          <a:ext cx="9741159" cy="2967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5E4B96-E254-48D6-968E-1044866F0C68}"/>
              </a:ext>
            </a:extLst>
          </p:cNvPr>
          <p:cNvSpPr txBox="1"/>
          <p:nvPr/>
        </p:nvSpPr>
        <p:spPr>
          <a:xfrm>
            <a:off x="2939141" y="6516660"/>
            <a:ext cx="44507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/>
              <a:t>59% of total win-back happens by 30 days</a:t>
            </a:r>
          </a:p>
        </p:txBody>
      </p:sp>
    </p:spTree>
    <p:extLst>
      <p:ext uri="{BB962C8B-B14F-4D97-AF65-F5344CB8AC3E}">
        <p14:creationId xmlns:p14="http://schemas.microsoft.com/office/powerpoint/2010/main" val="17532459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35E793-9629-458E-9A55-6AC08F5B86CC}"/>
              </a:ext>
            </a:extLst>
          </p:cNvPr>
          <p:cNvSpPr/>
          <p:nvPr/>
        </p:nvSpPr>
        <p:spPr>
          <a:xfrm>
            <a:off x="-1" y="6575488"/>
            <a:ext cx="570547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a typeface="Times New Roman" panose="02020603050405020304" pitchFamily="18" charset="0"/>
              </a:rPr>
              <a:t>OG : Outgoing, GT : Greater than, DIU : Drop in usage </a:t>
            </a:r>
            <a:endParaRPr lang="en-US" sz="1200" dirty="0">
              <a:ea typeface="Calibri" panose="020F0502020204030204" pitchFamily="34" charset="0"/>
            </a:endParaRPr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82AD2B09-F292-4683-BCC0-57CAA9D772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8676710"/>
              </p:ext>
            </p:extLst>
          </p:nvPr>
        </p:nvGraphicFramePr>
        <p:xfrm>
          <a:off x="6043736" y="2748024"/>
          <a:ext cx="5457825" cy="2638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F5729F82-2C3D-4681-AC56-9AEC1625AA28}"/>
              </a:ext>
            </a:extLst>
          </p:cNvPr>
          <p:cNvSpPr/>
          <p:nvPr/>
        </p:nvSpPr>
        <p:spPr>
          <a:xfrm>
            <a:off x="9863261" y="3353942"/>
            <a:ext cx="1504950" cy="1336995"/>
          </a:xfrm>
          <a:prstGeom prst="rect">
            <a:avLst/>
          </a:prstGeom>
          <a:noFill/>
          <a:ln w="317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6A13B588-9FF6-462B-A1C5-FB41C64BF9CB}"/>
              </a:ext>
            </a:extLst>
          </p:cNvPr>
          <p:cNvSpPr txBox="1">
            <a:spLocks/>
          </p:cNvSpPr>
          <p:nvPr/>
        </p:nvSpPr>
        <p:spPr>
          <a:xfrm>
            <a:off x="240112" y="209956"/>
            <a:ext cx="11799488" cy="498598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Predicting 11 days in advance which customers are going into inactivity gives more time for marketing action </a:t>
            </a:r>
          </a:p>
          <a:p>
            <a:r>
              <a:rPr lang="en-ZA" sz="1800" dirty="0">
                <a:latin typeface="+mn-lt"/>
              </a:rPr>
              <a:t>and customers start showing their DIU behaviour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0A9CD2AF-9914-4EE7-80FA-EC4711C12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706221"/>
              </p:ext>
            </p:extLst>
          </p:nvPr>
        </p:nvGraphicFramePr>
        <p:xfrm>
          <a:off x="1239555" y="1097323"/>
          <a:ext cx="93726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68847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58575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704059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755997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566985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54478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4119677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70347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3067166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807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81239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4820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030312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794780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6712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834582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53016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881096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41264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823666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346709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63517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184542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454935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1195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72020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425240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454115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218106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65592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714671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118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02304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27819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725956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887468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83460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329445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42632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63105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9657576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286974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87446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50169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65815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54905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A18A090-782D-47CD-B55E-98B2BCB95A79}"/>
              </a:ext>
            </a:extLst>
          </p:cNvPr>
          <p:cNvCxnSpPr>
            <a:cxnSpLocks/>
          </p:cNvCxnSpPr>
          <p:nvPr/>
        </p:nvCxnSpPr>
        <p:spPr>
          <a:xfrm>
            <a:off x="5164023" y="1097324"/>
            <a:ext cx="0" cy="666643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D7A3D4-20EA-4D3F-9FA9-13AFC39A84B2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7156936" y="1097324"/>
            <a:ext cx="30190" cy="1238535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AFF18ABF-F21C-44D4-A4F8-8E176C4E7F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7155915"/>
              </p:ext>
            </p:extLst>
          </p:nvPr>
        </p:nvGraphicFramePr>
        <p:xfrm>
          <a:off x="671635" y="2751273"/>
          <a:ext cx="5562601" cy="2667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3B9F667A-676C-478B-A195-7B2422C9E2DC}"/>
              </a:ext>
            </a:extLst>
          </p:cNvPr>
          <p:cNvSpPr/>
          <p:nvPr/>
        </p:nvSpPr>
        <p:spPr>
          <a:xfrm>
            <a:off x="4544542" y="3314186"/>
            <a:ext cx="1504950" cy="1415950"/>
          </a:xfrm>
          <a:prstGeom prst="rect">
            <a:avLst/>
          </a:prstGeom>
          <a:noFill/>
          <a:ln w="317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014777E-A276-44FE-B366-836E24A517AC}"/>
              </a:ext>
            </a:extLst>
          </p:cNvPr>
          <p:cNvCxnSpPr>
            <a:cxnSpLocks/>
            <a:endCxn id="46" idx="3"/>
          </p:cNvCxnSpPr>
          <p:nvPr/>
        </p:nvCxnSpPr>
        <p:spPr>
          <a:xfrm>
            <a:off x="3647002" y="1097323"/>
            <a:ext cx="0" cy="806912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8AADC33-8C3E-4B71-8B99-E81F93C2F5D2}"/>
              </a:ext>
            </a:extLst>
          </p:cNvPr>
          <p:cNvCxnSpPr>
            <a:cxnSpLocks/>
            <a:endCxn id="47" idx="3"/>
          </p:cNvCxnSpPr>
          <p:nvPr/>
        </p:nvCxnSpPr>
        <p:spPr>
          <a:xfrm>
            <a:off x="2053178" y="1097323"/>
            <a:ext cx="0" cy="1096836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 Placeholder 64">
            <a:extLst>
              <a:ext uri="{FF2B5EF4-FFF2-40B4-BE49-F238E27FC236}">
                <a16:creationId xmlns:a16="http://schemas.microsoft.com/office/drawing/2014/main" id="{EBEAC412-B7F5-4280-BE3E-39117E4E8B0C}"/>
              </a:ext>
            </a:extLst>
          </p:cNvPr>
          <p:cNvSpPr txBox="1">
            <a:spLocks/>
          </p:cNvSpPr>
          <p:nvPr/>
        </p:nvSpPr>
        <p:spPr>
          <a:xfrm>
            <a:off x="6150007" y="2335859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100" b="1" dirty="0">
                <a:solidFill>
                  <a:schemeClr val="tx1"/>
                </a:solidFill>
              </a:rPr>
              <a:t>Prediction window start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0AF559B-D798-42A1-A389-29519446BD93}"/>
              </a:ext>
            </a:extLst>
          </p:cNvPr>
          <p:cNvCxnSpPr>
            <a:cxnSpLocks/>
          </p:cNvCxnSpPr>
          <p:nvPr/>
        </p:nvCxnSpPr>
        <p:spPr>
          <a:xfrm>
            <a:off x="10371275" y="1097324"/>
            <a:ext cx="20907" cy="1219303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 Placeholder 64">
            <a:extLst>
              <a:ext uri="{FF2B5EF4-FFF2-40B4-BE49-F238E27FC236}">
                <a16:creationId xmlns:a16="http://schemas.microsoft.com/office/drawing/2014/main" id="{BB671198-A300-40C1-B355-EA3BCF9F0849}"/>
              </a:ext>
            </a:extLst>
          </p:cNvPr>
          <p:cNvSpPr txBox="1">
            <a:spLocks/>
          </p:cNvSpPr>
          <p:nvPr/>
        </p:nvSpPr>
        <p:spPr>
          <a:xfrm>
            <a:off x="9260168" y="2334809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100" b="1" dirty="0">
                <a:solidFill>
                  <a:schemeClr val="tx1"/>
                </a:solidFill>
              </a:rPr>
              <a:t>Prediction window end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EBB07C5C-CBBA-465F-9016-6A14C07194EE}"/>
              </a:ext>
            </a:extLst>
          </p:cNvPr>
          <p:cNvSpPr/>
          <p:nvPr/>
        </p:nvSpPr>
        <p:spPr>
          <a:xfrm>
            <a:off x="7199836" y="1513305"/>
            <a:ext cx="3097451" cy="205572"/>
          </a:xfrm>
          <a:prstGeom prst="chevron">
            <a:avLst/>
          </a:prstGeom>
          <a:solidFill>
            <a:srgbClr val="ED6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30 Days</a:t>
            </a:r>
          </a:p>
        </p:txBody>
      </p:sp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6F19AE8A-7819-4E2B-9256-D0E5699A35E9}"/>
              </a:ext>
            </a:extLst>
          </p:cNvPr>
          <p:cNvSpPr/>
          <p:nvPr/>
        </p:nvSpPr>
        <p:spPr>
          <a:xfrm flipH="1">
            <a:off x="5136549" y="1513305"/>
            <a:ext cx="1928446" cy="203414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 Days Prior</a:t>
            </a:r>
          </a:p>
        </p:txBody>
      </p:sp>
      <p:sp>
        <p:nvSpPr>
          <p:cNvPr id="46" name="Arrow: Chevron 45">
            <a:extLst>
              <a:ext uri="{FF2B5EF4-FFF2-40B4-BE49-F238E27FC236}">
                <a16:creationId xmlns:a16="http://schemas.microsoft.com/office/drawing/2014/main" id="{4AFED55E-02DF-4EF7-A9B3-AC38B4C6BBC0}"/>
              </a:ext>
            </a:extLst>
          </p:cNvPr>
          <p:cNvSpPr/>
          <p:nvPr/>
        </p:nvSpPr>
        <p:spPr>
          <a:xfrm flipH="1">
            <a:off x="3647002" y="1807433"/>
            <a:ext cx="3485414" cy="193603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 Days Prior</a:t>
            </a: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77B30D68-08CA-4C66-9027-D4AD7A015626}"/>
              </a:ext>
            </a:extLst>
          </p:cNvPr>
          <p:cNvSpPr/>
          <p:nvPr/>
        </p:nvSpPr>
        <p:spPr>
          <a:xfrm flipH="1">
            <a:off x="2053178" y="2103278"/>
            <a:ext cx="5051165" cy="181761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11 Days Prior</a:t>
            </a:r>
          </a:p>
        </p:txBody>
      </p:sp>
      <p:sp>
        <p:nvSpPr>
          <p:cNvPr id="50" name="Text Placeholder 64">
            <a:extLst>
              <a:ext uri="{FF2B5EF4-FFF2-40B4-BE49-F238E27FC236}">
                <a16:creationId xmlns:a16="http://schemas.microsoft.com/office/drawing/2014/main" id="{0CE79CA5-06CC-49D0-9695-213799486013}"/>
              </a:ext>
            </a:extLst>
          </p:cNvPr>
          <p:cNvSpPr txBox="1">
            <a:spLocks/>
          </p:cNvSpPr>
          <p:nvPr/>
        </p:nvSpPr>
        <p:spPr>
          <a:xfrm>
            <a:off x="6200069" y="821038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8 Feb 21</a:t>
            </a:r>
          </a:p>
        </p:txBody>
      </p:sp>
      <p:sp>
        <p:nvSpPr>
          <p:cNvPr id="51" name="Text Placeholder 64">
            <a:extLst>
              <a:ext uri="{FF2B5EF4-FFF2-40B4-BE49-F238E27FC236}">
                <a16:creationId xmlns:a16="http://schemas.microsoft.com/office/drawing/2014/main" id="{C45ADB2E-F554-47D4-A4D1-9C1288A2F9FD}"/>
              </a:ext>
            </a:extLst>
          </p:cNvPr>
          <p:cNvSpPr txBox="1">
            <a:spLocks/>
          </p:cNvSpPr>
          <p:nvPr/>
        </p:nvSpPr>
        <p:spPr>
          <a:xfrm>
            <a:off x="9249562" y="811995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6 Mar 21</a:t>
            </a:r>
          </a:p>
        </p:txBody>
      </p:sp>
      <p:sp>
        <p:nvSpPr>
          <p:cNvPr id="52" name="Text Placeholder 64">
            <a:extLst>
              <a:ext uri="{FF2B5EF4-FFF2-40B4-BE49-F238E27FC236}">
                <a16:creationId xmlns:a16="http://schemas.microsoft.com/office/drawing/2014/main" id="{F306E7A9-ABDE-4FB4-B044-4C26868E67F7}"/>
              </a:ext>
            </a:extLst>
          </p:cNvPr>
          <p:cNvSpPr txBox="1">
            <a:spLocks/>
          </p:cNvSpPr>
          <p:nvPr/>
        </p:nvSpPr>
        <p:spPr>
          <a:xfrm>
            <a:off x="4236199" y="837377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2 Feb 21</a:t>
            </a:r>
          </a:p>
        </p:txBody>
      </p:sp>
      <p:sp>
        <p:nvSpPr>
          <p:cNvPr id="53" name="Text Placeholder 64">
            <a:extLst>
              <a:ext uri="{FF2B5EF4-FFF2-40B4-BE49-F238E27FC236}">
                <a16:creationId xmlns:a16="http://schemas.microsoft.com/office/drawing/2014/main" id="{A7046E9D-6CB6-420C-BC92-EE6FAF5CBE17}"/>
              </a:ext>
            </a:extLst>
          </p:cNvPr>
          <p:cNvSpPr txBox="1">
            <a:spLocks/>
          </p:cNvSpPr>
          <p:nvPr/>
        </p:nvSpPr>
        <p:spPr>
          <a:xfrm>
            <a:off x="2662639" y="821037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29 Jan 21</a:t>
            </a:r>
          </a:p>
        </p:txBody>
      </p:sp>
      <p:sp>
        <p:nvSpPr>
          <p:cNvPr id="54" name="Text Placeholder 64">
            <a:extLst>
              <a:ext uri="{FF2B5EF4-FFF2-40B4-BE49-F238E27FC236}">
                <a16:creationId xmlns:a16="http://schemas.microsoft.com/office/drawing/2014/main" id="{AA3BC447-8CDF-4E49-AE8F-A180092A53CA}"/>
              </a:ext>
            </a:extLst>
          </p:cNvPr>
          <p:cNvSpPr txBox="1">
            <a:spLocks/>
          </p:cNvSpPr>
          <p:nvPr/>
        </p:nvSpPr>
        <p:spPr>
          <a:xfrm>
            <a:off x="1092834" y="821036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27 Jan 21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04567220-B350-4BEC-A3D9-F31EE3233ABB}"/>
              </a:ext>
            </a:extLst>
          </p:cNvPr>
          <p:cNvSpPr/>
          <p:nvPr/>
        </p:nvSpPr>
        <p:spPr>
          <a:xfrm>
            <a:off x="296140" y="2079648"/>
            <a:ext cx="885827" cy="205391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Prev7 Days</a:t>
            </a:r>
          </a:p>
        </p:txBody>
      </p: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892B8D45-C21A-4708-A48C-14C483B3D909}"/>
              </a:ext>
            </a:extLst>
          </p:cNvPr>
          <p:cNvSpPr/>
          <p:nvPr/>
        </p:nvSpPr>
        <p:spPr>
          <a:xfrm>
            <a:off x="1139504" y="2079648"/>
            <a:ext cx="885827" cy="205391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Last 7 Days</a:t>
            </a: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A8693D92-5B27-4085-90FF-80844A375B50}"/>
              </a:ext>
            </a:extLst>
          </p:cNvPr>
          <p:cNvSpPr/>
          <p:nvPr/>
        </p:nvSpPr>
        <p:spPr>
          <a:xfrm>
            <a:off x="1917810" y="1812162"/>
            <a:ext cx="885827" cy="205391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Prev7 Days</a:t>
            </a:r>
          </a:p>
        </p:txBody>
      </p:sp>
      <p:sp>
        <p:nvSpPr>
          <p:cNvPr id="55" name="Arrow: Chevron 54">
            <a:extLst>
              <a:ext uri="{FF2B5EF4-FFF2-40B4-BE49-F238E27FC236}">
                <a16:creationId xmlns:a16="http://schemas.microsoft.com/office/drawing/2014/main" id="{5228FC80-932C-4ACC-9D3B-C84C76074EED}"/>
              </a:ext>
            </a:extLst>
          </p:cNvPr>
          <p:cNvSpPr/>
          <p:nvPr/>
        </p:nvSpPr>
        <p:spPr>
          <a:xfrm>
            <a:off x="2761174" y="1812162"/>
            <a:ext cx="885827" cy="205391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Last 7 Days</a:t>
            </a:r>
          </a:p>
        </p:txBody>
      </p:sp>
      <p:sp>
        <p:nvSpPr>
          <p:cNvPr id="56" name="Arrow: Chevron 55">
            <a:extLst>
              <a:ext uri="{FF2B5EF4-FFF2-40B4-BE49-F238E27FC236}">
                <a16:creationId xmlns:a16="http://schemas.microsoft.com/office/drawing/2014/main" id="{93FD957A-52E2-4AE2-A8BA-C080132AAF20}"/>
              </a:ext>
            </a:extLst>
          </p:cNvPr>
          <p:cNvSpPr/>
          <p:nvPr/>
        </p:nvSpPr>
        <p:spPr>
          <a:xfrm>
            <a:off x="3397480" y="1501513"/>
            <a:ext cx="885827" cy="205391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Prev7 Days</a:t>
            </a:r>
          </a:p>
        </p:txBody>
      </p:sp>
      <p:sp>
        <p:nvSpPr>
          <p:cNvPr id="57" name="Arrow: Chevron 56">
            <a:extLst>
              <a:ext uri="{FF2B5EF4-FFF2-40B4-BE49-F238E27FC236}">
                <a16:creationId xmlns:a16="http://schemas.microsoft.com/office/drawing/2014/main" id="{860F81CE-E568-4543-BAAB-419F93900FB5}"/>
              </a:ext>
            </a:extLst>
          </p:cNvPr>
          <p:cNvSpPr/>
          <p:nvPr/>
        </p:nvSpPr>
        <p:spPr>
          <a:xfrm>
            <a:off x="4240844" y="1501513"/>
            <a:ext cx="885827" cy="205391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Last 7 Days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1BA01-4342-493A-A30D-E1A68053FF7C}"/>
              </a:ext>
            </a:extLst>
          </p:cNvPr>
          <p:cNvSpPr/>
          <p:nvPr/>
        </p:nvSpPr>
        <p:spPr>
          <a:xfrm>
            <a:off x="41865" y="6227666"/>
            <a:ext cx="109878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i="1" dirty="0"/>
              <a:t>GT50%</a:t>
            </a:r>
            <a:r>
              <a:rPr lang="en-US" sz="1100" i="1" dirty="0"/>
              <a:t> :  Inactive subscribers who show more than 50% drop in usage from previous 7 to last 7 days before prediction.</a:t>
            </a:r>
          </a:p>
          <a:p>
            <a:r>
              <a:rPr lang="en-US" sz="1100" b="1" i="1" dirty="0"/>
              <a:t>GT70%</a:t>
            </a:r>
            <a:r>
              <a:rPr lang="en-US" sz="1100" i="1" dirty="0"/>
              <a:t> :  Inactive subscribers who show more than 70% drop in usage from previous 7 to last 7 days of before prediction.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3BFB6F-7F8E-4088-A2DA-2A607AAD6AD1}"/>
              </a:ext>
            </a:extLst>
          </p:cNvPr>
          <p:cNvSpPr/>
          <p:nvPr/>
        </p:nvSpPr>
        <p:spPr>
          <a:xfrm>
            <a:off x="753952" y="5390609"/>
            <a:ext cx="10094850" cy="593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91.5% of inactive base showing greater than 70% drop in OG and 79.4% of base showing greater than 70% drop in Data usage , hence we propose to predict 11 days in advance to give more time to action </a:t>
            </a:r>
          </a:p>
        </p:txBody>
      </p:sp>
    </p:spTree>
    <p:extLst>
      <p:ext uri="{BB962C8B-B14F-4D97-AF65-F5344CB8AC3E}">
        <p14:creationId xmlns:p14="http://schemas.microsoft.com/office/powerpoint/2010/main" val="261350244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35E793-9629-458E-9A55-6AC08F5B86CC}"/>
              </a:ext>
            </a:extLst>
          </p:cNvPr>
          <p:cNvSpPr/>
          <p:nvPr/>
        </p:nvSpPr>
        <p:spPr>
          <a:xfrm>
            <a:off x="-1" y="6575488"/>
            <a:ext cx="570547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a typeface="Times New Roman" panose="02020603050405020304" pitchFamily="18" charset="0"/>
              </a:rPr>
              <a:t>OG : Outgoing, GT : Greater than, DIU : Drop in usage </a:t>
            </a:r>
            <a:endParaRPr lang="en-US" sz="1200" dirty="0">
              <a:ea typeface="Calibri" panose="020F0502020204030204" pitchFamily="34" charset="0"/>
            </a:endParaRPr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82AD2B09-F292-4683-BCC0-57CAA9D772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7180234"/>
              </p:ext>
            </p:extLst>
          </p:nvPr>
        </p:nvGraphicFramePr>
        <p:xfrm>
          <a:off x="6043736" y="2748024"/>
          <a:ext cx="5457825" cy="2638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F5729F82-2C3D-4681-AC56-9AEC1625AA28}"/>
              </a:ext>
            </a:extLst>
          </p:cNvPr>
          <p:cNvSpPr/>
          <p:nvPr/>
        </p:nvSpPr>
        <p:spPr>
          <a:xfrm>
            <a:off x="9863261" y="3353942"/>
            <a:ext cx="1504950" cy="1336995"/>
          </a:xfrm>
          <a:prstGeom prst="rect">
            <a:avLst/>
          </a:prstGeom>
          <a:noFill/>
          <a:ln w="317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6A13B588-9FF6-462B-A1C5-FB41C64BF9CB}"/>
              </a:ext>
            </a:extLst>
          </p:cNvPr>
          <p:cNvSpPr txBox="1">
            <a:spLocks/>
          </p:cNvSpPr>
          <p:nvPr/>
        </p:nvSpPr>
        <p:spPr>
          <a:xfrm>
            <a:off x="240112" y="209956"/>
            <a:ext cx="11799488" cy="498598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Predicting 11 days in advance which customers are going into inactivity gives more time for marketing action </a:t>
            </a:r>
          </a:p>
          <a:p>
            <a:r>
              <a:rPr lang="en-ZA" sz="1800" dirty="0">
                <a:latin typeface="+mn-lt"/>
              </a:rPr>
              <a:t>and customers start showing their DIU behaviour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0A9CD2AF-9914-4EE7-80FA-EC4711C12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013550"/>
              </p:ext>
            </p:extLst>
          </p:nvPr>
        </p:nvGraphicFramePr>
        <p:xfrm>
          <a:off x="1230030" y="1097323"/>
          <a:ext cx="93726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68847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558575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704059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755997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566985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544781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4119677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70347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83067166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807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812395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4820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030312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794780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996712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834582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530164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881096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41264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823666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346709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635175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6184542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454935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21195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5720204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4252406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454115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218106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65592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714671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11184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9102304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278198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725956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887468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834604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329445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8426328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63105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09657576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286974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87446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550169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1365815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54905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A18A090-782D-47CD-B55E-98B2BCB95A79}"/>
              </a:ext>
            </a:extLst>
          </p:cNvPr>
          <p:cNvCxnSpPr>
            <a:cxnSpLocks/>
          </p:cNvCxnSpPr>
          <p:nvPr/>
        </p:nvCxnSpPr>
        <p:spPr>
          <a:xfrm>
            <a:off x="5154498" y="1097324"/>
            <a:ext cx="0" cy="666643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D7A3D4-20EA-4D3F-9FA9-13AFC39A84B2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7147411" y="1097324"/>
            <a:ext cx="30190" cy="1238535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AFF18ABF-F21C-44D4-A4F8-8E176C4E7F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1249782"/>
              </p:ext>
            </p:extLst>
          </p:nvPr>
        </p:nvGraphicFramePr>
        <p:xfrm>
          <a:off x="671635" y="2751273"/>
          <a:ext cx="5562601" cy="2667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3B9F667A-676C-478B-A195-7B2422C9E2DC}"/>
              </a:ext>
            </a:extLst>
          </p:cNvPr>
          <p:cNvSpPr/>
          <p:nvPr/>
        </p:nvSpPr>
        <p:spPr>
          <a:xfrm>
            <a:off x="4544542" y="3314186"/>
            <a:ext cx="1504950" cy="1415950"/>
          </a:xfrm>
          <a:prstGeom prst="rect">
            <a:avLst/>
          </a:prstGeom>
          <a:noFill/>
          <a:ln w="317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014777E-A276-44FE-B366-836E24A517AC}"/>
              </a:ext>
            </a:extLst>
          </p:cNvPr>
          <p:cNvCxnSpPr>
            <a:cxnSpLocks/>
            <a:endCxn id="46" idx="3"/>
          </p:cNvCxnSpPr>
          <p:nvPr/>
        </p:nvCxnSpPr>
        <p:spPr>
          <a:xfrm>
            <a:off x="3637476" y="1097323"/>
            <a:ext cx="1" cy="806912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8AADC33-8C3E-4B71-8B99-E81F93C2F5D2}"/>
              </a:ext>
            </a:extLst>
          </p:cNvPr>
          <p:cNvCxnSpPr>
            <a:cxnSpLocks/>
            <a:endCxn id="47" idx="3"/>
          </p:cNvCxnSpPr>
          <p:nvPr/>
        </p:nvCxnSpPr>
        <p:spPr>
          <a:xfrm>
            <a:off x="2043653" y="1097323"/>
            <a:ext cx="0" cy="1096836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 Placeholder 64">
            <a:extLst>
              <a:ext uri="{FF2B5EF4-FFF2-40B4-BE49-F238E27FC236}">
                <a16:creationId xmlns:a16="http://schemas.microsoft.com/office/drawing/2014/main" id="{EBEAC412-B7F5-4280-BE3E-39117E4E8B0C}"/>
              </a:ext>
            </a:extLst>
          </p:cNvPr>
          <p:cNvSpPr txBox="1">
            <a:spLocks/>
          </p:cNvSpPr>
          <p:nvPr/>
        </p:nvSpPr>
        <p:spPr>
          <a:xfrm>
            <a:off x="6140482" y="2335859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100" b="1" dirty="0">
                <a:solidFill>
                  <a:schemeClr val="tx1"/>
                </a:solidFill>
              </a:rPr>
              <a:t>Prediction window start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0AF559B-D798-42A1-A389-29519446BD93}"/>
              </a:ext>
            </a:extLst>
          </p:cNvPr>
          <p:cNvCxnSpPr>
            <a:cxnSpLocks/>
          </p:cNvCxnSpPr>
          <p:nvPr/>
        </p:nvCxnSpPr>
        <p:spPr>
          <a:xfrm>
            <a:off x="10361750" y="1097324"/>
            <a:ext cx="20907" cy="1219303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 Placeholder 64">
            <a:extLst>
              <a:ext uri="{FF2B5EF4-FFF2-40B4-BE49-F238E27FC236}">
                <a16:creationId xmlns:a16="http://schemas.microsoft.com/office/drawing/2014/main" id="{BB671198-A300-40C1-B355-EA3BCF9F0849}"/>
              </a:ext>
            </a:extLst>
          </p:cNvPr>
          <p:cNvSpPr txBox="1">
            <a:spLocks/>
          </p:cNvSpPr>
          <p:nvPr/>
        </p:nvSpPr>
        <p:spPr>
          <a:xfrm>
            <a:off x="9250643" y="2334809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100" b="1" dirty="0">
                <a:solidFill>
                  <a:schemeClr val="tx1"/>
                </a:solidFill>
              </a:rPr>
              <a:t>Prediction window end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EBB07C5C-CBBA-465F-9016-6A14C07194EE}"/>
              </a:ext>
            </a:extLst>
          </p:cNvPr>
          <p:cNvSpPr/>
          <p:nvPr/>
        </p:nvSpPr>
        <p:spPr>
          <a:xfrm>
            <a:off x="7190311" y="1513305"/>
            <a:ext cx="3097451" cy="205572"/>
          </a:xfrm>
          <a:prstGeom prst="chevron">
            <a:avLst/>
          </a:prstGeom>
          <a:solidFill>
            <a:srgbClr val="ED6D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30 Days</a:t>
            </a:r>
          </a:p>
        </p:txBody>
      </p:sp>
      <p:sp>
        <p:nvSpPr>
          <p:cNvPr id="45" name="Arrow: Chevron 44">
            <a:extLst>
              <a:ext uri="{FF2B5EF4-FFF2-40B4-BE49-F238E27FC236}">
                <a16:creationId xmlns:a16="http://schemas.microsoft.com/office/drawing/2014/main" id="{6F19AE8A-7819-4E2B-9256-D0E5699A35E9}"/>
              </a:ext>
            </a:extLst>
          </p:cNvPr>
          <p:cNvSpPr/>
          <p:nvPr/>
        </p:nvSpPr>
        <p:spPr>
          <a:xfrm flipH="1">
            <a:off x="5127024" y="1513305"/>
            <a:ext cx="1928446" cy="203414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 Days Prior</a:t>
            </a:r>
          </a:p>
        </p:txBody>
      </p:sp>
      <p:sp>
        <p:nvSpPr>
          <p:cNvPr id="46" name="Arrow: Chevron 45">
            <a:extLst>
              <a:ext uri="{FF2B5EF4-FFF2-40B4-BE49-F238E27FC236}">
                <a16:creationId xmlns:a16="http://schemas.microsoft.com/office/drawing/2014/main" id="{4AFED55E-02DF-4EF7-A9B3-AC38B4C6BBC0}"/>
              </a:ext>
            </a:extLst>
          </p:cNvPr>
          <p:cNvSpPr/>
          <p:nvPr/>
        </p:nvSpPr>
        <p:spPr>
          <a:xfrm flipH="1">
            <a:off x="3637477" y="1807433"/>
            <a:ext cx="3485414" cy="193603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 Days Prior</a:t>
            </a:r>
          </a:p>
        </p:txBody>
      </p:sp>
      <p:sp>
        <p:nvSpPr>
          <p:cNvPr id="47" name="Arrow: Chevron 46">
            <a:extLst>
              <a:ext uri="{FF2B5EF4-FFF2-40B4-BE49-F238E27FC236}">
                <a16:creationId xmlns:a16="http://schemas.microsoft.com/office/drawing/2014/main" id="{77B30D68-08CA-4C66-9027-D4AD7A015626}"/>
              </a:ext>
            </a:extLst>
          </p:cNvPr>
          <p:cNvSpPr/>
          <p:nvPr/>
        </p:nvSpPr>
        <p:spPr>
          <a:xfrm flipH="1">
            <a:off x="2043653" y="2103278"/>
            <a:ext cx="5051165" cy="181761"/>
          </a:xfrm>
          <a:prstGeom prst="chevro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11 Days Prior</a:t>
            </a:r>
          </a:p>
        </p:txBody>
      </p:sp>
      <p:sp>
        <p:nvSpPr>
          <p:cNvPr id="50" name="Text Placeholder 64">
            <a:extLst>
              <a:ext uri="{FF2B5EF4-FFF2-40B4-BE49-F238E27FC236}">
                <a16:creationId xmlns:a16="http://schemas.microsoft.com/office/drawing/2014/main" id="{0CE79CA5-06CC-49D0-9695-213799486013}"/>
              </a:ext>
            </a:extLst>
          </p:cNvPr>
          <p:cNvSpPr txBox="1">
            <a:spLocks/>
          </p:cNvSpPr>
          <p:nvPr/>
        </p:nvSpPr>
        <p:spPr>
          <a:xfrm>
            <a:off x="6190544" y="821038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8 Feb 21</a:t>
            </a:r>
          </a:p>
        </p:txBody>
      </p:sp>
      <p:sp>
        <p:nvSpPr>
          <p:cNvPr id="51" name="Text Placeholder 64">
            <a:extLst>
              <a:ext uri="{FF2B5EF4-FFF2-40B4-BE49-F238E27FC236}">
                <a16:creationId xmlns:a16="http://schemas.microsoft.com/office/drawing/2014/main" id="{C45ADB2E-F554-47D4-A4D1-9C1288A2F9FD}"/>
              </a:ext>
            </a:extLst>
          </p:cNvPr>
          <p:cNvSpPr txBox="1">
            <a:spLocks/>
          </p:cNvSpPr>
          <p:nvPr/>
        </p:nvSpPr>
        <p:spPr>
          <a:xfrm>
            <a:off x="9240037" y="811995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6 Mar 21</a:t>
            </a:r>
          </a:p>
        </p:txBody>
      </p:sp>
      <p:sp>
        <p:nvSpPr>
          <p:cNvPr id="52" name="Text Placeholder 64">
            <a:extLst>
              <a:ext uri="{FF2B5EF4-FFF2-40B4-BE49-F238E27FC236}">
                <a16:creationId xmlns:a16="http://schemas.microsoft.com/office/drawing/2014/main" id="{F306E7A9-ABDE-4FB4-B044-4C26868E67F7}"/>
              </a:ext>
            </a:extLst>
          </p:cNvPr>
          <p:cNvSpPr txBox="1">
            <a:spLocks/>
          </p:cNvSpPr>
          <p:nvPr/>
        </p:nvSpPr>
        <p:spPr>
          <a:xfrm>
            <a:off x="4226674" y="837377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2 Feb 21</a:t>
            </a:r>
          </a:p>
        </p:txBody>
      </p:sp>
      <p:sp>
        <p:nvSpPr>
          <p:cNvPr id="53" name="Text Placeholder 64">
            <a:extLst>
              <a:ext uri="{FF2B5EF4-FFF2-40B4-BE49-F238E27FC236}">
                <a16:creationId xmlns:a16="http://schemas.microsoft.com/office/drawing/2014/main" id="{A7046E9D-6CB6-420C-BC92-EE6FAF5CBE17}"/>
              </a:ext>
            </a:extLst>
          </p:cNvPr>
          <p:cNvSpPr txBox="1">
            <a:spLocks/>
          </p:cNvSpPr>
          <p:nvPr/>
        </p:nvSpPr>
        <p:spPr>
          <a:xfrm>
            <a:off x="2653114" y="821037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29 Jan 21</a:t>
            </a:r>
          </a:p>
        </p:txBody>
      </p:sp>
      <p:sp>
        <p:nvSpPr>
          <p:cNvPr id="54" name="Text Placeholder 64">
            <a:extLst>
              <a:ext uri="{FF2B5EF4-FFF2-40B4-BE49-F238E27FC236}">
                <a16:creationId xmlns:a16="http://schemas.microsoft.com/office/drawing/2014/main" id="{AA3BC447-8CDF-4E49-AE8F-A180092A53CA}"/>
              </a:ext>
            </a:extLst>
          </p:cNvPr>
          <p:cNvSpPr txBox="1">
            <a:spLocks/>
          </p:cNvSpPr>
          <p:nvPr/>
        </p:nvSpPr>
        <p:spPr>
          <a:xfrm>
            <a:off x="1083309" y="821036"/>
            <a:ext cx="2074237" cy="35585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ctr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sz="1400" dirty="0">
                <a:solidFill>
                  <a:schemeClr val="tx1"/>
                </a:solidFill>
              </a:rPr>
              <a:t>27 Jan 21</a:t>
            </a:r>
          </a:p>
        </p:txBody>
      </p:sp>
      <p:sp>
        <p:nvSpPr>
          <p:cNvPr id="56" name="Arrow: Chevron 55">
            <a:extLst>
              <a:ext uri="{FF2B5EF4-FFF2-40B4-BE49-F238E27FC236}">
                <a16:creationId xmlns:a16="http://schemas.microsoft.com/office/drawing/2014/main" id="{93FD957A-52E2-4AE2-A8BA-C080132AAF20}"/>
              </a:ext>
            </a:extLst>
          </p:cNvPr>
          <p:cNvSpPr/>
          <p:nvPr/>
        </p:nvSpPr>
        <p:spPr>
          <a:xfrm>
            <a:off x="3161586" y="1511202"/>
            <a:ext cx="999766" cy="201656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Prev14 Days</a:t>
            </a:r>
          </a:p>
        </p:txBody>
      </p:sp>
      <p:sp>
        <p:nvSpPr>
          <p:cNvPr id="57" name="Arrow: Chevron 56">
            <a:extLst>
              <a:ext uri="{FF2B5EF4-FFF2-40B4-BE49-F238E27FC236}">
                <a16:creationId xmlns:a16="http://schemas.microsoft.com/office/drawing/2014/main" id="{860F81CE-E568-4543-BAAB-419F93900FB5}"/>
              </a:ext>
            </a:extLst>
          </p:cNvPr>
          <p:cNvSpPr/>
          <p:nvPr/>
        </p:nvSpPr>
        <p:spPr>
          <a:xfrm>
            <a:off x="4117381" y="1501513"/>
            <a:ext cx="999766" cy="215206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Last 14 Days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D1BA01-4342-493A-A30D-E1A68053FF7C}"/>
              </a:ext>
            </a:extLst>
          </p:cNvPr>
          <p:cNvSpPr/>
          <p:nvPr/>
        </p:nvSpPr>
        <p:spPr>
          <a:xfrm>
            <a:off x="41865" y="6227666"/>
            <a:ext cx="1098784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i="1" dirty="0"/>
              <a:t>GT50%</a:t>
            </a:r>
            <a:r>
              <a:rPr lang="en-US" sz="1100" i="1" dirty="0"/>
              <a:t> :  Inactive subscribers who show more than 50% drop in usage from previous 14 to last 14 days before prediction.</a:t>
            </a:r>
          </a:p>
          <a:p>
            <a:r>
              <a:rPr lang="en-US" sz="1100" b="1" i="1" dirty="0"/>
              <a:t>GT70%</a:t>
            </a:r>
            <a:r>
              <a:rPr lang="en-US" sz="1100" i="1" dirty="0"/>
              <a:t> :  Inactive subscribers who show more than 70% drop in usage from previous 14 to last 14 days of before prediction.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3BFB6F-7F8E-4088-A2DA-2A607AAD6AD1}"/>
              </a:ext>
            </a:extLst>
          </p:cNvPr>
          <p:cNvSpPr/>
          <p:nvPr/>
        </p:nvSpPr>
        <p:spPr>
          <a:xfrm>
            <a:off x="753952" y="5390609"/>
            <a:ext cx="10094850" cy="5934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85.6% of inactive base showing greater than 70% drop in OG and 74.4% of base showing greater than 70% drop in Data usage , hence we propose to predict 11 days in advance to give more time to action </a:t>
            </a:r>
          </a:p>
        </p:txBody>
      </p:sp>
      <p:sp>
        <p:nvSpPr>
          <p:cNvPr id="40" name="Arrow: Chevron 39">
            <a:extLst>
              <a:ext uri="{FF2B5EF4-FFF2-40B4-BE49-F238E27FC236}">
                <a16:creationId xmlns:a16="http://schemas.microsoft.com/office/drawing/2014/main" id="{8C5320BE-08F7-4642-BE85-69618D5CB8AD}"/>
              </a:ext>
            </a:extLst>
          </p:cNvPr>
          <p:cNvSpPr/>
          <p:nvPr/>
        </p:nvSpPr>
        <p:spPr>
          <a:xfrm>
            <a:off x="1665462" y="1796838"/>
            <a:ext cx="999766" cy="201656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Prev14 Days</a:t>
            </a:r>
          </a:p>
        </p:txBody>
      </p:sp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ADF3A2E2-D7B7-4DAE-846E-1DB16D9A06C0}"/>
              </a:ext>
            </a:extLst>
          </p:cNvPr>
          <p:cNvSpPr/>
          <p:nvPr/>
        </p:nvSpPr>
        <p:spPr>
          <a:xfrm>
            <a:off x="2621257" y="1787149"/>
            <a:ext cx="999766" cy="215206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Last 14 Days</a:t>
            </a:r>
          </a:p>
        </p:txBody>
      </p:sp>
      <p:sp>
        <p:nvSpPr>
          <p:cNvPr id="59" name="Arrow: Chevron 58">
            <a:extLst>
              <a:ext uri="{FF2B5EF4-FFF2-40B4-BE49-F238E27FC236}">
                <a16:creationId xmlns:a16="http://schemas.microsoft.com/office/drawing/2014/main" id="{4214711D-5035-4CF0-838F-275089E24BA9}"/>
              </a:ext>
            </a:extLst>
          </p:cNvPr>
          <p:cNvSpPr/>
          <p:nvPr/>
        </p:nvSpPr>
        <p:spPr>
          <a:xfrm>
            <a:off x="86169" y="2100250"/>
            <a:ext cx="999766" cy="201656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Prev14 Days</a:t>
            </a:r>
          </a:p>
        </p:txBody>
      </p: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D48499A8-11E6-4724-8F8D-48BE2FA569BF}"/>
              </a:ext>
            </a:extLst>
          </p:cNvPr>
          <p:cNvSpPr/>
          <p:nvPr/>
        </p:nvSpPr>
        <p:spPr>
          <a:xfrm>
            <a:off x="1041964" y="2090561"/>
            <a:ext cx="999766" cy="215206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Last 14 Days</a:t>
            </a:r>
          </a:p>
        </p:txBody>
      </p:sp>
    </p:spTree>
    <p:extLst>
      <p:ext uri="{BB962C8B-B14F-4D97-AF65-F5344CB8AC3E}">
        <p14:creationId xmlns:p14="http://schemas.microsoft.com/office/powerpoint/2010/main" val="259240356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35" name="Chevron 10">
            <a:extLst>
              <a:ext uri="{FF2B5EF4-FFF2-40B4-BE49-F238E27FC236}">
                <a16:creationId xmlns:a16="http://schemas.microsoft.com/office/drawing/2014/main" id="{89E413BF-A8A9-4866-92D8-1DA984C952C1}"/>
              </a:ext>
            </a:extLst>
          </p:cNvPr>
          <p:cNvSpPr/>
          <p:nvPr/>
        </p:nvSpPr>
        <p:spPr>
          <a:xfrm>
            <a:off x="1202335" y="5150192"/>
            <a:ext cx="3618144" cy="462797"/>
          </a:xfrm>
          <a:prstGeom prst="chevron">
            <a:avLst/>
          </a:prstGeom>
          <a:solidFill>
            <a:srgbClr val="FFCB05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TN Brighter Sans Light"/>
                <a:ea typeface="+mn-ea"/>
                <a:cs typeface="+mn-cs"/>
              </a:rPr>
              <a:t>Observation period : 90 Days (basis data availability)</a:t>
            </a:r>
          </a:p>
        </p:txBody>
      </p:sp>
      <p:sp>
        <p:nvSpPr>
          <p:cNvPr id="38" name="Chevron 10">
            <a:extLst>
              <a:ext uri="{FF2B5EF4-FFF2-40B4-BE49-F238E27FC236}">
                <a16:creationId xmlns:a16="http://schemas.microsoft.com/office/drawing/2014/main" id="{819887FD-D282-435A-9930-DFC306B313DB}"/>
              </a:ext>
            </a:extLst>
          </p:cNvPr>
          <p:cNvSpPr/>
          <p:nvPr/>
        </p:nvSpPr>
        <p:spPr>
          <a:xfrm>
            <a:off x="5130176" y="5150192"/>
            <a:ext cx="2811020" cy="462797"/>
          </a:xfrm>
          <a:prstGeom prst="chevron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  <a:latin typeface="MTN Brighter Sans Light"/>
              </a:rPr>
              <a:t>Action window : 11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TN Brighter Sans Light"/>
                <a:ea typeface="+mn-ea"/>
                <a:cs typeface="+mn-cs"/>
              </a:rPr>
              <a:t> Days</a:t>
            </a:r>
          </a:p>
        </p:txBody>
      </p:sp>
      <p:sp>
        <p:nvSpPr>
          <p:cNvPr id="39" name="Chevron 10">
            <a:extLst>
              <a:ext uri="{FF2B5EF4-FFF2-40B4-BE49-F238E27FC236}">
                <a16:creationId xmlns:a16="http://schemas.microsoft.com/office/drawing/2014/main" id="{0F6967D1-E2EE-4924-94AC-2163CBED793F}"/>
              </a:ext>
            </a:extLst>
          </p:cNvPr>
          <p:cNvSpPr/>
          <p:nvPr/>
        </p:nvSpPr>
        <p:spPr>
          <a:xfrm>
            <a:off x="7960924" y="5147359"/>
            <a:ext cx="3222775" cy="462797"/>
          </a:xfrm>
          <a:prstGeom prst="chevron">
            <a:avLst/>
          </a:prstGeom>
          <a:solidFill>
            <a:srgbClr val="E12D6E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TN Brighter Sans Light"/>
                <a:ea typeface="+mn-ea"/>
                <a:cs typeface="+mn-cs"/>
              </a:rPr>
              <a:t>Prediction window : 30 Days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ED2DFA-A4DF-4257-9603-1B8A28CC00FE}"/>
              </a:ext>
            </a:extLst>
          </p:cNvPr>
          <p:cNvSpPr/>
          <p:nvPr/>
        </p:nvSpPr>
        <p:spPr>
          <a:xfrm>
            <a:off x="1424731" y="4113821"/>
            <a:ext cx="3211147" cy="7744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Observation Period</a:t>
            </a:r>
            <a:r>
              <a:rPr lang="en-US" sz="1400" dirty="0">
                <a:solidFill>
                  <a:schemeClr val="tx1"/>
                </a:solidFill>
              </a:rPr>
              <a:t> : The window of data collection for subscriber behavior identification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810601-C2C5-46D0-A94E-5905BF2FE0DF}"/>
              </a:ext>
            </a:extLst>
          </p:cNvPr>
          <p:cNvSpPr/>
          <p:nvPr/>
        </p:nvSpPr>
        <p:spPr>
          <a:xfrm>
            <a:off x="5140040" y="4112209"/>
            <a:ext cx="2573088" cy="780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Action Period </a:t>
            </a:r>
            <a:r>
              <a:rPr lang="en-US" sz="1400" dirty="0">
                <a:solidFill>
                  <a:schemeClr val="tx1"/>
                </a:solidFill>
              </a:rPr>
              <a:t>: Time where marketing team can plan for campaigns and other activities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3FF1CB-4B7E-4327-97FB-9ED5E20DA27B}"/>
              </a:ext>
            </a:extLst>
          </p:cNvPr>
          <p:cNvSpPr/>
          <p:nvPr/>
        </p:nvSpPr>
        <p:spPr>
          <a:xfrm>
            <a:off x="7960924" y="4112209"/>
            <a:ext cx="3194761" cy="780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Prediction Window </a:t>
            </a:r>
            <a:r>
              <a:rPr lang="en-US" sz="1400" dirty="0">
                <a:solidFill>
                  <a:schemeClr val="tx1"/>
                </a:solidFill>
              </a:rPr>
              <a:t>: Window where the subscriber will be 30 day inactive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02771BB-C662-4FB5-8D0B-17C7E5EA8323}"/>
              </a:ext>
            </a:extLst>
          </p:cNvPr>
          <p:cNvSpPr txBox="1">
            <a:spLocks/>
          </p:cNvSpPr>
          <p:nvPr/>
        </p:nvSpPr>
        <p:spPr>
          <a:xfrm>
            <a:off x="392512" y="209956"/>
            <a:ext cx="11799488" cy="249299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Model Specification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ACE2C5-A551-4FCF-9A77-A9A0A428DE03}"/>
              </a:ext>
            </a:extLst>
          </p:cNvPr>
          <p:cNvCxnSpPr>
            <a:cxnSpLocks/>
          </p:cNvCxnSpPr>
          <p:nvPr/>
        </p:nvCxnSpPr>
        <p:spPr>
          <a:xfrm>
            <a:off x="4908368" y="4888233"/>
            <a:ext cx="9864" cy="1296501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 Placeholder 64">
            <a:extLst>
              <a:ext uri="{FF2B5EF4-FFF2-40B4-BE49-F238E27FC236}">
                <a16:creationId xmlns:a16="http://schemas.microsoft.com/office/drawing/2014/main" id="{B0DBF309-C15C-4E96-8BF9-7560B26E6DA0}"/>
              </a:ext>
            </a:extLst>
          </p:cNvPr>
          <p:cNvSpPr txBox="1">
            <a:spLocks/>
          </p:cNvSpPr>
          <p:nvPr/>
        </p:nvSpPr>
        <p:spPr>
          <a:xfrm>
            <a:off x="4269643" y="6091681"/>
            <a:ext cx="1740793" cy="345935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dirty="0">
                <a:solidFill>
                  <a:schemeClr val="tx1"/>
                </a:solidFill>
              </a:rPr>
              <a:t>Prediction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B7997-31F1-4476-BFB4-AC120285E4AE}"/>
              </a:ext>
            </a:extLst>
          </p:cNvPr>
          <p:cNvSpPr txBox="1"/>
          <p:nvPr/>
        </p:nvSpPr>
        <p:spPr>
          <a:xfrm>
            <a:off x="897557" y="1379485"/>
            <a:ext cx="107416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Prepaid Customer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Tenure &gt;= 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Medium Value Segment (ARPU Band: 25 – 125)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30-day Inactivity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11 days in Advance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Daily Scoring - Since new subscribers enter &amp; exit inactivity window everyday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measure the model performance based on precision, sensitivity of the top 3 or 4 rank ordered probability score in descending order.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69933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7620F41-2790-4645-80FF-42BA7B68429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7620F41-2790-4645-80FF-42BA7B6842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50AA7EF-C520-4048-8B88-BFF0606EC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ZA" sz="2800" b="1">
              <a:latin typeface="MTN Brighter Sans Bold" panose="00000800000000000000"/>
              <a:ea typeface="+mj-ea"/>
              <a:cs typeface="+mj-cs"/>
              <a:sym typeface="MTN Brighter Sans Bold" panose="00000800000000000000"/>
            </a:endParaRPr>
          </a:p>
        </p:txBody>
      </p:sp>
      <p:pic>
        <p:nvPicPr>
          <p:cNvPr id="20" name="Picture Placeholder 19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2" b="3526"/>
          <a:stretch/>
        </p:blipFill>
        <p:spPr>
          <a:xfrm>
            <a:off x="0" y="3098"/>
            <a:ext cx="12192000" cy="6858000"/>
          </a:xfr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29015" y="2980014"/>
            <a:ext cx="6830321" cy="1110338"/>
          </a:xfrm>
        </p:spPr>
        <p:txBody>
          <a:bodyPr vert="horz"/>
          <a:lstStyle/>
          <a:p>
            <a:r>
              <a:rPr lang="en-ZA" sz="3200" dirty="0"/>
              <a:t>Thank you !!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210080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02771BB-C662-4FB5-8D0B-17C7E5EA8323}"/>
              </a:ext>
            </a:extLst>
          </p:cNvPr>
          <p:cNvSpPr txBox="1">
            <a:spLocks/>
          </p:cNvSpPr>
          <p:nvPr/>
        </p:nvSpPr>
        <p:spPr>
          <a:xfrm>
            <a:off x="392512" y="209956"/>
            <a:ext cx="11799488" cy="249299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Bibliography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D17AE8-4C26-43C6-81D3-38DA9EA06728}"/>
              </a:ext>
            </a:extLst>
          </p:cNvPr>
          <p:cNvSpPr/>
          <p:nvPr/>
        </p:nvSpPr>
        <p:spPr>
          <a:xfrm>
            <a:off x="873737" y="1290274"/>
            <a:ext cx="635276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a typeface="Times New Roman" panose="02020603050405020304" pitchFamily="18" charset="0"/>
              </a:rPr>
              <a:t>OG : Outgoing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a typeface="Times New Roman" panose="02020603050405020304" pitchFamily="18" charset="0"/>
              </a:rPr>
              <a:t>GT : Greater than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a typeface="Times New Roman" panose="02020603050405020304" pitchFamily="18" charset="0"/>
              </a:rPr>
              <a:t>DIU : Drop in usage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a typeface="Times New Roman" panose="02020603050405020304" pitchFamily="18" charset="0"/>
              </a:rPr>
              <a:t>ARPU : Average Revenue per user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a typeface="Times New Roman" panose="02020603050405020304" pitchFamily="18" charset="0"/>
              </a:rPr>
              <a:t>Churn : Person having DOLA greater than or equal to 90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a typeface="Times New Roman" panose="02020603050405020304" pitchFamily="18" charset="0"/>
              </a:rPr>
              <a:t>Tenure : Current date – Activation date of subscriber</a:t>
            </a:r>
          </a:p>
          <a:p>
            <a:r>
              <a:rPr lang="en-US" sz="1600" dirty="0">
                <a:ea typeface="Times New Roman" panose="02020603050405020304" pitchFamily="18" charset="0"/>
              </a:rPr>
              <a:t>Value loss of a segment : The product of ARPU, Base &amp; churn% of the base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a typeface="Times New Roman" panose="02020603050405020304" pitchFamily="18" charset="0"/>
              </a:rPr>
              <a:t>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a typeface="Times New Roman" panose="02020603050405020304" pitchFamily="18" charset="0"/>
              </a:rPr>
              <a:t> </a:t>
            </a:r>
            <a:endParaRPr lang="en-US" sz="1600" dirty="0"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5591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082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APsXEmS6KmC1wlHSkHe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APsXEmS6KmC1wlHSkHe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SeSGdhSeGPqLw0ybhOI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XbZR8TBKvtKHP7SpVr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DuR1a3RlOqfvBntKcLR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IsAmgSugbROKyrckhSE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IsAmgSugbROKyrckhSE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heme/theme1.xml><?xml version="1.0" encoding="utf-8"?>
<a:theme xmlns:a="http://schemas.openxmlformats.org/drawingml/2006/main" name="Titles">
  <a:themeElements>
    <a:clrScheme name="MTN">
      <a:dk1>
        <a:sysClr val="windowText" lastClr="000000"/>
      </a:dk1>
      <a:lt1>
        <a:srgbClr val="FFFFFF"/>
      </a:lt1>
      <a:dk2>
        <a:srgbClr val="323232"/>
      </a:dk2>
      <a:lt2>
        <a:srgbClr val="FFFFFF"/>
      </a:lt2>
      <a:accent1>
        <a:srgbClr val="FFCB05"/>
      </a:accent1>
      <a:accent2>
        <a:srgbClr val="F5821E"/>
      </a:accent2>
      <a:accent3>
        <a:srgbClr val="E12D6E"/>
      </a:accent3>
      <a:accent4>
        <a:srgbClr val="5A1E5A"/>
      </a:accent4>
      <a:accent5>
        <a:srgbClr val="0F6987"/>
      </a:accent5>
      <a:accent6>
        <a:srgbClr val="0FAF4B"/>
      </a:accent6>
      <a:hlink>
        <a:srgbClr val="323232"/>
      </a:hlink>
      <a:folHlink>
        <a:srgbClr val="7F7F7F"/>
      </a:folHlink>
    </a:clrScheme>
    <a:fontScheme name="MTN Custom">
      <a:majorFont>
        <a:latin typeface="MTN Brighter Sans Bold"/>
        <a:ea typeface=""/>
        <a:cs typeface=""/>
      </a:majorFont>
      <a:minorFont>
        <a:latin typeface="MTN Brighte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TN_PPT Template_20171219.potx" id="{E26B7FF7-5368-4540-9A30-626267CBC85F}" vid="{CC676F21-11D3-49AA-8177-81646B6E136B}"/>
    </a:ext>
  </a:extLst>
</a:theme>
</file>

<file path=ppt/theme/theme2.xml><?xml version="1.0" encoding="utf-8"?>
<a:theme xmlns:a="http://schemas.openxmlformats.org/drawingml/2006/main" name="1_Titles">
  <a:themeElements>
    <a:clrScheme name="MTN">
      <a:dk1>
        <a:sysClr val="windowText" lastClr="000000"/>
      </a:dk1>
      <a:lt1>
        <a:srgbClr val="FFFFFF"/>
      </a:lt1>
      <a:dk2>
        <a:srgbClr val="323232"/>
      </a:dk2>
      <a:lt2>
        <a:srgbClr val="FFFFFF"/>
      </a:lt2>
      <a:accent1>
        <a:srgbClr val="FFCB05"/>
      </a:accent1>
      <a:accent2>
        <a:srgbClr val="F5821E"/>
      </a:accent2>
      <a:accent3>
        <a:srgbClr val="E12D6E"/>
      </a:accent3>
      <a:accent4>
        <a:srgbClr val="5A1E5A"/>
      </a:accent4>
      <a:accent5>
        <a:srgbClr val="0F6987"/>
      </a:accent5>
      <a:accent6>
        <a:srgbClr val="0FAF4B"/>
      </a:accent6>
      <a:hlink>
        <a:srgbClr val="323232"/>
      </a:hlink>
      <a:folHlink>
        <a:srgbClr val="7F7F7F"/>
      </a:folHlink>
    </a:clrScheme>
    <a:fontScheme name="MTN Custom">
      <a:majorFont>
        <a:latin typeface="MTN Brighter Sans Bold"/>
        <a:ea typeface=""/>
        <a:cs typeface=""/>
      </a:majorFont>
      <a:minorFont>
        <a:latin typeface="MTN Brighte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TN_PPT Template_20171219.potx" id="{E26B7FF7-5368-4540-9A30-626267CBC85F}" vid="{CC676F21-11D3-49AA-8177-81646B6E136B}"/>
    </a:ext>
  </a:extLst>
</a:theme>
</file>

<file path=ppt/theme/theme3.xml><?xml version="1.0" encoding="utf-8"?>
<a:theme xmlns:a="http://schemas.openxmlformats.org/drawingml/2006/main" name="3_MTN_CF_MZO078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B05"/>
      </a:accent1>
      <a:accent2>
        <a:srgbClr val="666666"/>
      </a:accent2>
      <a:accent3>
        <a:srgbClr val="00678F"/>
      </a:accent3>
      <a:accent4>
        <a:srgbClr val="000000"/>
      </a:accent4>
      <a:accent5>
        <a:srgbClr val="999999"/>
      </a:accent5>
      <a:accent6>
        <a:srgbClr val="808080"/>
      </a:accent6>
      <a:hlink>
        <a:srgbClr val="00678F"/>
      </a:hlink>
      <a:folHlink>
        <a:srgbClr val="000000"/>
      </a:folHlink>
    </a:clrScheme>
    <a:fontScheme name="Custom 16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B05"/>
        </a:accent1>
        <a:accent2>
          <a:srgbClr val="666666"/>
        </a:accent2>
        <a:accent3>
          <a:srgbClr val="00678F"/>
        </a:accent3>
        <a:accent4>
          <a:srgbClr val="000000"/>
        </a:accent4>
        <a:accent5>
          <a:srgbClr val="999999"/>
        </a:accent5>
        <a:accent6>
          <a:srgbClr val="808080"/>
        </a:accent6>
        <a:hlink>
          <a:srgbClr val="00678F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F_MZO079.potx" id="{C2A54293-A959-4651-B999-86CCC3E556CD}" vid="{054E4E7E-F0A9-4C93-A080-A1C92FD4865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ECCB6858DAA3468997010D2A09577A" ma:contentTypeVersion="12" ma:contentTypeDescription="Create a new document." ma:contentTypeScope="" ma:versionID="20885cb331485a01342f30fb92677634">
  <xsd:schema xmlns:xsd="http://www.w3.org/2001/XMLSchema" xmlns:xs="http://www.w3.org/2001/XMLSchema" xmlns:p="http://schemas.microsoft.com/office/2006/metadata/properties" xmlns:ns2="e26280d0-62a9-445e-ae02-32b459ec631c" xmlns:ns3="b59232cb-fa94-405c-a7e8-1f4abe906690" targetNamespace="http://schemas.microsoft.com/office/2006/metadata/properties" ma:root="true" ma:fieldsID="d046e74818743a7f0cbae64e88013474" ns2:_="" ns3:_="">
    <xsd:import namespace="e26280d0-62a9-445e-ae02-32b459ec631c"/>
    <xsd:import namespace="b59232cb-fa94-405c-a7e8-1f4abe90669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6280d0-62a9-445e-ae02-32b459ec631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232cb-fa94-405c-a7e8-1f4abe9066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TemplafySlideTemplateConfiguration><![CDATA[{"slideVersion":0,"isValidatorEnabled":false,"isLocked":false,"elementsMetadata":[],"slideId":"637279039750162170","enableDocumentContentUpdater":false,"version":"1.12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D83F4A-550E-459F-8B04-EECC2BF8C729}">
  <ds:schemaRefs>
    <ds:schemaRef ds:uri="b59232cb-fa94-405c-a7e8-1f4abe906690"/>
    <ds:schemaRef ds:uri="e26280d0-62a9-445e-ae02-32b459ec63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75BB607-8BF5-4798-A140-A41044D1BFF8}">
  <ds:schemaRefs>
    <ds:schemaRef ds:uri="b59232cb-fa94-405c-a7e8-1f4abe906690"/>
    <ds:schemaRef ds:uri="e26280d0-62a9-445e-ae02-32b459ec631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A1F795A-EE61-4335-897A-6DB702AF3B98}">
  <ds:schemaRefs/>
</ds:datastoreItem>
</file>

<file path=customXml/itemProps4.xml><?xml version="1.0" encoding="utf-8"?>
<ds:datastoreItem xmlns:ds="http://schemas.openxmlformats.org/officeDocument/2006/customXml" ds:itemID="{99C5B8C3-3C2A-448E-A68C-296877FD764B}">
  <ds:schemaRefs/>
</ds:datastoreItem>
</file>

<file path=customXml/itemProps5.xml><?xml version="1.0" encoding="utf-8"?>
<ds:datastoreItem xmlns:ds="http://schemas.openxmlformats.org/officeDocument/2006/customXml" ds:itemID="{B57A37F6-C07B-4521-8B51-3ABD6B1265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61132</TotalTime>
  <Words>1043</Words>
  <Application>Microsoft Office PowerPoint</Application>
  <PresentationFormat>Widescreen</PresentationFormat>
  <Paragraphs>198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Arial</vt:lpstr>
      <vt:lpstr>Calibri</vt:lpstr>
      <vt:lpstr>Century Gothic</vt:lpstr>
      <vt:lpstr>MTN Brighter Sans Bold</vt:lpstr>
      <vt:lpstr>MTN Brighter Sans Light</vt:lpstr>
      <vt:lpstr>Open Sans</vt:lpstr>
      <vt:lpstr>Verdana</vt:lpstr>
      <vt:lpstr>Wingdings 2</vt:lpstr>
      <vt:lpstr>Titles</vt:lpstr>
      <vt:lpstr>1_Titles</vt:lpstr>
      <vt:lpstr>3_MTN_CF_MZO078</vt:lpstr>
      <vt:lpstr>think-cell Slide</vt:lpstr>
      <vt:lpstr>MTN : ADAM Churn model Approach Implementation process of an Advanced Churn model on ADAM</vt:lpstr>
      <vt:lpstr>PowerPoint Presentation</vt:lpstr>
      <vt:lpstr>PowerPoint Presentation</vt:lpstr>
      <vt:lpstr>PowerPoint Presentation</vt:lpstr>
      <vt:lpstr>PowerPoint Presentation</vt:lpstr>
      <vt:lpstr>Approx. 10% of total medium value segment base goes into 30-day inactivity while 4% eventually churn, 59% of 7-day inactive base comes back in 30 days , hence we should try to retain people in between 0- 30 day</vt:lpstr>
      <vt:lpstr>PowerPoint Presentation</vt:lpstr>
      <vt:lpstr>PowerPoint Presentation</vt:lpstr>
      <vt:lpstr>PowerPoint Presentation</vt:lpstr>
      <vt:lpstr>Thank you !!</vt:lpstr>
      <vt:lpstr>PowerPoint Presentation</vt:lpstr>
    </vt:vector>
  </TitlesOfParts>
  <Company>Deloitte Touche Tohmatsu Services,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Sharma, Yatin</dc:creator>
  <cp:lastModifiedBy>Meher, Motilal</cp:lastModifiedBy>
  <cp:revision>1046</cp:revision>
  <dcterms:created xsi:type="dcterms:W3CDTF">2020-12-04T09:30:50Z</dcterms:created>
  <dcterms:modified xsi:type="dcterms:W3CDTF">2021-11-15T11:46:02Z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0x010100CDECCB6858DAA3468997010D2A09577A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2021-04-15T08:41:49Z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9760465e-bd62-4e6f-b7c2-6f1badfe437e</vt:lpwstr>
  </property>
  <property fmtid="{D5CDD505-2E9C-101B-9397-08002B2CF9AE}" pid="9" name="MSIP_Label_ea60d57e-af5b-4752-ac57-3e4f28ca11dc_ContentBits">
    <vt:lpwstr>0</vt:lpwstr>
  </property>
</Properties>
</file>