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
  </p:notesMasterIdLst>
  <p:sldIdLst>
    <p:sldId id="257" r:id="rId2"/>
    <p:sldId id="377" r:id="rId3"/>
    <p:sldId id="378" r:id="rId4"/>
    <p:sldId id="329" r:id="rId5"/>
    <p:sldId id="28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7D33"/>
    <a:srgbClr val="EDF4E8"/>
    <a:srgbClr val="D9E7CD"/>
    <a:srgbClr val="009A44"/>
    <a:srgbClr val="DA291C"/>
    <a:srgbClr val="575757"/>
    <a:srgbClr val="F5860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60"/>
  </p:normalViewPr>
  <p:slideViewPr>
    <p:cSldViewPr snapToGrid="0">
      <p:cViewPr varScale="1">
        <p:scale>
          <a:sx n="83" d="100"/>
          <a:sy n="83" d="100"/>
        </p:scale>
        <p:origin x="44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6266BB-B7E3-408C-A48F-777B4F069603}" type="datetimeFigureOut">
              <a:rPr lang="en-IN" smtClean="0"/>
              <a:t>29-10-2021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590926-B28E-4947-BB0C-6742EE907E52}" type="slidenum">
              <a:rPr lang="en-IN" smtClean="0"/>
              <a:t>‹#›</a:t>
            </a:fld>
            <a:endParaRPr lang="en-IN"/>
          </a:p>
        </p:txBody>
      </p:sp>
    </p:spTree>
    <p:extLst>
      <p:ext uri="{BB962C8B-B14F-4D97-AF65-F5344CB8AC3E}">
        <p14:creationId xmlns:p14="http://schemas.microsoft.com/office/powerpoint/2010/main" val="1538124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Header Placeholder 5"/>
          <p:cNvSpPr>
            <a:spLocks noGrp="1"/>
          </p:cNvSpPr>
          <p:nvPr>
            <p:ph type="hdr"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546793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a:xfrm>
            <a:off x="4143375" y="9120188"/>
            <a:ext cx="3170238" cy="481012"/>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FEB637-BC42-497E-9119-65CA0380A6E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Header Placeholder 5"/>
          <p:cNvSpPr>
            <a:spLocks noGrp="1"/>
          </p:cNvSpPr>
          <p:nvPr>
            <p:ph type="hdr"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35575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124532728"/>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75200" y="5530390"/>
            <a:ext cx="5592012" cy="324000"/>
          </a:xfrm>
        </p:spPr>
        <p:txBody>
          <a:bodyPr anchor="t" anchorCtr="0">
            <a:noAutofit/>
          </a:bodyPr>
          <a:lstStyle>
            <a:lvl1pPr algn="l">
              <a:lnSpc>
                <a:spcPct val="100000"/>
              </a:lnSpc>
              <a:defRPr sz="18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200" y="5845180"/>
            <a:ext cx="5592011" cy="505645"/>
          </a:xfrm>
          <a:prstGeom prst="rect">
            <a:avLst/>
          </a:prstGeom>
        </p:spPr>
        <p:txBody>
          <a:bodyPr lIns="0" tIns="0" rIns="0" bIns="0">
            <a:noAutofit/>
          </a:bodyPr>
          <a:lstStyle>
            <a:lvl1pPr marL="0" indent="0" algn="l">
              <a:lnSpc>
                <a:spcPct val="100000"/>
              </a:lnSpc>
              <a:spcAft>
                <a:spcPts val="0"/>
              </a:spcAft>
              <a:buNone/>
              <a:defRPr sz="16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prstClr val="white"/>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251850315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2" y="4211955"/>
            <a:ext cx="8528936" cy="2169796"/>
          </a:xfrm>
        </p:spPr>
        <p:txBody>
          <a:bodyPr anchor="b" anchorCtr="0"/>
          <a:lstStyle>
            <a:lvl1pPr>
              <a:lnSpc>
                <a:spcPct val="100000"/>
              </a:lnSpc>
              <a:spcAft>
                <a:spcPts val="600"/>
              </a:spcAft>
              <a:defRPr sz="907"/>
            </a:lvl1pPr>
          </a:lstStyle>
          <a:p>
            <a:pPr lvl="0"/>
            <a:r>
              <a:rPr lang="en-US" noProof="0" dirty="0"/>
              <a:t>Deloitte refers to one or more of Deloitte </a:t>
            </a:r>
            <a:r>
              <a:rPr lang="en-US" noProof="0" dirty="0" err="1"/>
              <a:t>Touche</a:t>
            </a:r>
            <a:r>
              <a:rPr lang="en-US" noProof="0" dirty="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dirty="0"/>
              <a:t>This material has been prepared by Deloitte </a:t>
            </a:r>
            <a:r>
              <a:rPr lang="en-US" noProof="0" dirty="0" err="1"/>
              <a:t>Touche</a:t>
            </a:r>
            <a:r>
              <a:rPr lang="en-US" noProof="0" dirty="0"/>
              <a:t> Tohmatsu India LLP (“DTTILLP”), a member of Deloitte </a:t>
            </a:r>
            <a:r>
              <a:rPr lang="en-US" noProof="0" dirty="0" err="1"/>
              <a:t>Touche</a:t>
            </a:r>
            <a:r>
              <a:rPr lang="en-US" noProof="0" dirty="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dirty="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dirty="0"/>
              <a:t>©2017 Deloitte </a:t>
            </a:r>
            <a:r>
              <a:rPr lang="en-US" noProof="0" dirty="0" err="1"/>
              <a:t>Touche</a:t>
            </a:r>
            <a:r>
              <a:rPr lang="en-US" noProof="0" dirty="0"/>
              <a:t> Tohmatsu India LLP. Member of Deloitte </a:t>
            </a:r>
            <a:r>
              <a:rPr lang="en-US" noProof="0" dirty="0" err="1"/>
              <a:t>Touche</a:t>
            </a:r>
            <a:r>
              <a:rPr lang="en-US" noProof="0" dirty="0"/>
              <a:t> Tohmatsu Limited</a:t>
            </a:r>
          </a:p>
          <a:p>
            <a:pPr lvl="0"/>
            <a:r>
              <a:rPr lang="en-US" noProof="0" dirty="0"/>
              <a:t>Deloitte </a:t>
            </a:r>
            <a:r>
              <a:rPr lang="en-US" noProof="0" dirty="0" err="1"/>
              <a:t>Touche</a:t>
            </a:r>
            <a:r>
              <a:rPr lang="en-US" noProof="0" dirty="0"/>
              <a:t> Tohmatsu India Private Limited (U74140MH199 5PTC093339), a private company limited by shares, was converted into Deloitte </a:t>
            </a:r>
            <a:r>
              <a:rPr lang="en-US" noProof="0" dirty="0" err="1"/>
              <a:t>Touche</a:t>
            </a:r>
            <a:r>
              <a:rPr lang="en-US" noProof="0" dirty="0"/>
              <a:t> Tohmatsu India LLP, a limited liability partnership (LLP Identification No. AAE-8458),with effect from October 1, 2015.</a:t>
            </a:r>
          </a:p>
        </p:txBody>
      </p:sp>
      <p:grpSp>
        <p:nvGrpSpPr>
          <p:cNvPr id="20" name="Group 19"/>
          <p:cNvGrpSpPr/>
          <p:nvPr userDrawn="1"/>
        </p:nvGrpSpPr>
        <p:grpSpPr>
          <a:xfrm>
            <a:off x="501649" y="378001"/>
            <a:ext cx="2159032" cy="326302"/>
            <a:chOff x="439792" y="416850"/>
            <a:chExt cx="1892808" cy="359839"/>
          </a:xfrm>
        </p:grpSpPr>
        <p:sp>
          <p:nvSpPr>
            <p:cNvPr id="21"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2"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3"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4"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5"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6"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7"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8"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9"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30"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grpSp>
    </p:spTree>
    <p:extLst>
      <p:ext uri="{BB962C8B-B14F-4D97-AF65-F5344CB8AC3E}">
        <p14:creationId xmlns:p14="http://schemas.microsoft.com/office/powerpoint/2010/main" val="1065459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ONE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10" name="Text Placeholder 7"/>
          <p:cNvSpPr>
            <a:spLocks noGrp="1"/>
          </p:cNvSpPr>
          <p:nvPr>
            <p:ph type="body" sz="quarter" idx="11"/>
          </p:nvPr>
        </p:nvSpPr>
        <p:spPr>
          <a:xfrm>
            <a:off x="1016002" y="1304925"/>
            <a:ext cx="10181167" cy="4533900"/>
          </a:xfrm>
          <a:prstGeom prst="rect">
            <a:avLst/>
          </a:prstGeom>
        </p:spPr>
        <p:txBody>
          <a:bodyPr vert="horz" lIns="0" tIns="0" rIns="0" bIns="0"/>
          <a:lstStyle>
            <a:lvl1pPr>
              <a:defRPr b="1" i="0">
                <a:solidFill>
                  <a:schemeClr val="tx2"/>
                </a:solidFill>
                <a:latin typeface="Univers for KPMG"/>
                <a:cs typeface="Univers for KPMG"/>
              </a:defRPr>
            </a:lvl1pPr>
            <a:lvl2pPr marL="0" indent="0">
              <a:buFontTx/>
              <a:buNone/>
              <a:defRPr>
                <a:solidFill>
                  <a:schemeClr val="tx2"/>
                </a:solidFill>
                <a:latin typeface="Univers for KPMG Light"/>
                <a:cs typeface="Univers for KPMG Light"/>
              </a:defRPr>
            </a:lvl2pPr>
            <a:lvl3pPr marL="285750" indent="-283464">
              <a:buFont typeface="Univers for KPMG Light" panose="020B0403020202020204" pitchFamily="34" charset="0"/>
              <a:buChar char="—"/>
              <a:defRPr>
                <a:solidFill>
                  <a:schemeClr val="tx2"/>
                </a:solidFill>
                <a:latin typeface="Univers for KPMG Light"/>
                <a:cs typeface="Univers for KPMG Light"/>
              </a:defRPr>
            </a:lvl3pPr>
            <a:lvl4pPr marL="576072" indent="-228600">
              <a:buFont typeface="Univers for KPMG Light" panose="020B0403020202020204" pitchFamily="34" charset="0"/>
              <a:buChar char="-"/>
              <a:defRPr>
                <a:solidFill>
                  <a:schemeClr val="tx2"/>
                </a:solidFill>
                <a:latin typeface="Univers for KPMG Light"/>
                <a:cs typeface="Univers for KPMG Light"/>
              </a:defRPr>
            </a:lvl4pPr>
            <a:lvl5pPr>
              <a:defRPr lang="en-US" sz="1500" b="0" i="0" dirty="0" smtClean="0">
                <a:solidFill>
                  <a:schemeClr val="tx2"/>
                </a:solidFill>
                <a:latin typeface="Univers for KPMG Light"/>
                <a:cs typeface="Univers for KPMG Ligh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480347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9900" y="1665291"/>
            <a:ext cx="11252200" cy="4633910"/>
          </a:xfrm>
          <a:prstGeom prst="rect">
            <a:avLst/>
          </a:prstGeom>
        </p:spPr>
        <p:txBody>
          <a:bodyPr/>
          <a:lstStyle>
            <a:lvl1pPr>
              <a:tabLst>
                <a:tab pos="8972326" algn="r"/>
              </a:tabLst>
              <a:defRPr/>
            </a:lvl1pPr>
            <a:lvl2pPr>
              <a:tabLst>
                <a:tab pos="8972326" algn="r"/>
              </a:tabLst>
              <a:defRPr/>
            </a:lvl2pPr>
            <a:lvl3pPr>
              <a:tabLst>
                <a:tab pos="8972326" algn="r"/>
              </a:tabLst>
              <a:defRPr/>
            </a:lvl3pPr>
            <a:lvl4pPr>
              <a:tabLst>
                <a:tab pos="8972326" algn="r"/>
              </a:tabLst>
              <a:defRPr/>
            </a:lvl4pPr>
            <a:lvl5pPr>
              <a:tabLst>
                <a:tab pos="6705432" algn="r"/>
              </a:tabLst>
              <a:defRPr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565888396"/>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5" name="Title 4"/>
          <p:cNvSpPr>
            <a:spLocks noGrp="1"/>
          </p:cNvSpPr>
          <p:nvPr>
            <p:ph type="title"/>
          </p:nvPr>
        </p:nvSpPr>
        <p:spPr>
          <a:xfrm>
            <a:off x="1016002" y="432906"/>
            <a:ext cx="10181167" cy="577289"/>
          </a:xfrm>
        </p:spPr>
        <p:txBody>
          <a:bodyPr/>
          <a:lstStyle>
            <a:lvl1pPr>
              <a:defRPr>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3909593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9"/>
            </p:custData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spid="_x0000_s16796" name="think-cell Slide" r:id="rId10" imgW="360" imgH="360" progId="">
                  <p:embed/>
                </p:oleObj>
              </mc:Choice>
              <mc:Fallback>
                <p:oleObj name="think-cell Slide" r:id="rId10" imgW="360" imgH="360" progId="">
                  <p:embed/>
                  <p:pic>
                    <p:nvPicPr>
                      <p:cNvPr id="4" name="Object 3" hidden="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19" y="1589"/>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nvPr>
        </p:nvSpPr>
        <p:spPr bwMode="gray">
          <a:xfrm>
            <a:off x="469900" y="402586"/>
            <a:ext cx="11252200" cy="692151"/>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Box 11"/>
          <p:cNvSpPr txBox="1"/>
          <p:nvPr userDrawn="1"/>
        </p:nvSpPr>
        <p:spPr>
          <a:xfrm>
            <a:off x="11410953" y="6477000"/>
            <a:ext cx="307975" cy="100027"/>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650">
                <a:solidFill>
                  <a:prstClr val="black"/>
                </a:solidFill>
              </a:rPr>
              <a:pPr algn="r">
                <a:spcBef>
                  <a:spcPts val="800"/>
                </a:spcBef>
                <a:buSzPct val="100000"/>
                <a:buFont typeface="Arial"/>
                <a:buNone/>
              </a:pPr>
              <a:t>‹#›</a:t>
            </a:fld>
            <a:endParaRPr lang="en-US" sz="650" dirty="0">
              <a:solidFill>
                <a:prstClr val="black"/>
              </a:solidFill>
            </a:endParaRPr>
          </a:p>
        </p:txBody>
      </p:sp>
      <p:sp>
        <p:nvSpPr>
          <p:cNvPr id="8" name="TextBox 7"/>
          <p:cNvSpPr txBox="1"/>
          <p:nvPr userDrawn="1"/>
        </p:nvSpPr>
        <p:spPr>
          <a:xfrm>
            <a:off x="407590" y="6477001"/>
            <a:ext cx="4351074" cy="100027"/>
          </a:xfrm>
          <a:prstGeom prst="rect">
            <a:avLst/>
          </a:prstGeom>
          <a:noFill/>
        </p:spPr>
        <p:txBody>
          <a:bodyPr wrap="square" lIns="0" tIns="0" rIns="0" bIns="0" rtlCol="0">
            <a:spAutoFit/>
          </a:bodyPr>
          <a:lstStyle/>
          <a:p>
            <a:pPr>
              <a:spcBef>
                <a:spcPts val="600"/>
              </a:spcBef>
              <a:buSzPct val="100000"/>
              <a:buFont typeface="Arial"/>
              <a:buNone/>
            </a:pPr>
            <a:r>
              <a:rPr lang="fr-FR" sz="650" dirty="0">
                <a:solidFill>
                  <a:prstClr val="black"/>
                </a:solidFill>
              </a:rPr>
              <a:t>© 2021 Deloitte Touche Tohmatsu India LLP</a:t>
            </a:r>
          </a:p>
        </p:txBody>
      </p:sp>
    </p:spTree>
    <p:extLst>
      <p:ext uri="{BB962C8B-B14F-4D97-AF65-F5344CB8AC3E}">
        <p14:creationId xmlns:p14="http://schemas.microsoft.com/office/powerpoint/2010/main" val="3561804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8" r:id="rId4"/>
    <p:sldLayoutId id="2147483671" r:id="rId5"/>
    <p:sldLayoutId id="2147483676" r:id="rId6"/>
  </p:sldLayoutIdLst>
  <p:transition>
    <p:fade/>
  </p:transition>
  <p:hf sldNum="0" hdr="0" dt="0"/>
  <p:txStyles>
    <p:titleStyle>
      <a:lvl1pPr algn="l" defTabSz="1219170" rtl="0" eaLnBrk="1" latinLnBrk="0" hangingPunct="1">
        <a:spcBef>
          <a:spcPct val="0"/>
        </a:spcBef>
        <a:buNone/>
        <a:defRPr sz="2000" kern="1200">
          <a:solidFill>
            <a:schemeClr val="tx1"/>
          </a:solidFill>
          <a:latin typeface="+mj-lt"/>
          <a:ea typeface="+mj-ea"/>
          <a:cs typeface="+mj-cs"/>
        </a:defRPr>
      </a:lvl1pPr>
    </p:titleStyle>
    <p:body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098">
          <p15:clr>
            <a:srgbClr val="F26B43"/>
          </p15:clr>
        </p15:guide>
        <p15:guide id="2" orient="horz" pos="2160">
          <p15:clr>
            <a:srgbClr val="F26B43"/>
          </p15:clr>
        </p15:guide>
        <p15:guide id="3" orient="horz" pos="3968">
          <p15:clr>
            <a:srgbClr val="F26B43"/>
          </p15:clr>
        </p15:guide>
        <p15:guide id="4" pos="296">
          <p15:clr>
            <a:srgbClr val="F26B43"/>
          </p15:clr>
        </p15:guide>
        <p15:guide id="5" pos="7384">
          <p15:clr>
            <a:srgbClr val="F26B43"/>
          </p15:clr>
        </p15:guide>
        <p15:guide id="6" orient="horz" pos="1071">
          <p15:clr>
            <a:srgbClr val="F26B43"/>
          </p15:clr>
        </p15:guide>
        <p15:guide id="7" orient="horz" pos="245">
          <p15:clr>
            <a:srgbClr val="F26B43"/>
          </p15:clr>
        </p15:guide>
        <p15:guide id="8" orient="horz" pos="4081">
          <p15:clr>
            <a:srgbClr val="F26B43"/>
          </p15:clr>
        </p15:guide>
        <p15:guide id="9" pos="4986">
          <p15:clr>
            <a:srgbClr val="F26B43"/>
          </p15:clr>
        </p15:guide>
        <p15:guide id="10" pos="1382">
          <p15:clr>
            <a:srgbClr val="F26B43"/>
          </p15:clr>
        </p15:guide>
        <p15:guide id="11" pos="1496">
          <p15:clr>
            <a:srgbClr val="F26B43"/>
          </p15:clr>
        </p15:guide>
        <p15:guide id="12" pos="2581">
          <p15:clr>
            <a:srgbClr val="F26B43"/>
          </p15:clr>
        </p15:guide>
        <p15:guide id="13" pos="2695">
          <p15:clr>
            <a:srgbClr val="F26B43"/>
          </p15:clr>
        </p15:guide>
        <p15:guide id="14" pos="6185">
          <p15:clr>
            <a:srgbClr val="F26B43"/>
          </p15:clr>
        </p15:guide>
        <p15:guide id="15" pos="3783">
          <p15:clr>
            <a:srgbClr val="F26B43"/>
          </p15:clr>
        </p15:guide>
        <p15:guide id="16" pos="3896">
          <p15:clr>
            <a:srgbClr val="F26B43"/>
          </p15:clr>
        </p15:guide>
        <p15:guide id="17" pos="3840">
          <p15:clr>
            <a:srgbClr val="F26B43"/>
          </p15:clr>
        </p15:guide>
        <p15:guide id="18" pos="6299">
          <p15:clr>
            <a:srgbClr val="F26B43"/>
          </p15:clr>
        </p15:guide>
        <p15:guide id="19" orient="horz" pos="1049">
          <p15:clr>
            <a:srgbClr val="F26B43"/>
          </p15:clr>
        </p15:guide>
        <p15:guide id="20" orient="horz" pos="641">
          <p15:clr>
            <a:srgbClr val="F26B43"/>
          </p15:clr>
        </p15:guide>
        <p15:guide id="21" orient="horz" pos="2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40" name="Picture 4" descr="Technology, Media &amp;amp; Telecommunications">
            <a:extLst>
              <a:ext uri="{FF2B5EF4-FFF2-40B4-BE49-F238E27FC236}">
                <a16:creationId xmlns:a16="http://schemas.microsoft.com/office/drawing/2014/main" id="{EB8FF48E-08F1-4456-A420-6C239BD89F06}"/>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269" t="2871" r="1868" b="2871"/>
          <a:stretch/>
        </p:blipFill>
        <p:spPr bwMode="auto">
          <a:xfrm>
            <a:off x="2696356" y="196850"/>
            <a:ext cx="6642863" cy="6464300"/>
          </a:xfrm>
          <a:prstGeom prst="rect">
            <a:avLst/>
          </a:prstGeom>
          <a:noFill/>
          <a:extLst>
            <a:ext uri="{909E8E84-426E-40DD-AFC4-6F175D3DCCD1}">
              <a14:hiddenFill xmlns:a14="http://schemas.microsoft.com/office/drawing/2010/main">
                <a:solidFill>
                  <a:srgbClr val="FFFFFF"/>
                </a:solidFill>
              </a14:hiddenFill>
            </a:ext>
          </a:extLst>
        </p:spPr>
      </p:pic>
      <p:sp>
        <p:nvSpPr>
          <p:cNvPr id="5" name="Text Placeholder 4"/>
          <p:cNvSpPr>
            <a:spLocks noGrp="1"/>
          </p:cNvSpPr>
          <p:nvPr>
            <p:ph type="body" sz="quarter" idx="10"/>
          </p:nvPr>
        </p:nvSpPr>
        <p:spPr>
          <a:xfrm>
            <a:off x="423439" y="6362699"/>
            <a:ext cx="5594349" cy="298451"/>
          </a:xfrm>
        </p:spPr>
        <p:txBody>
          <a:bodyPr/>
          <a:lstStyle/>
          <a:p>
            <a:r>
              <a:rPr lang="en-US"/>
              <a:t>Deloitte Touche Tohmatsu India LLP</a:t>
            </a:r>
            <a:endParaRPr lang="en-US" dirty="0"/>
          </a:p>
        </p:txBody>
      </p:sp>
      <p:sp>
        <p:nvSpPr>
          <p:cNvPr id="9" name="Title 2"/>
          <p:cNvSpPr>
            <a:spLocks noGrp="1"/>
          </p:cNvSpPr>
          <p:nvPr>
            <p:ph type="ctrTitle"/>
          </p:nvPr>
        </p:nvSpPr>
        <p:spPr>
          <a:xfrm>
            <a:off x="423439" y="5550752"/>
            <a:ext cx="6770989" cy="324000"/>
          </a:xfrm>
        </p:spPr>
        <p:txBody>
          <a:bodyPr/>
          <a:lstStyle/>
          <a:p>
            <a:r>
              <a:rPr lang="en-US" noProof="0" dirty="0"/>
              <a:t>MTN</a:t>
            </a:r>
            <a:br>
              <a:rPr lang="en-US" noProof="0" dirty="0"/>
            </a:br>
            <a:r>
              <a:rPr lang="en-US" sz="1400" b="0" dirty="0"/>
              <a:t>30 days Inactivity Churn : Model Monitoring</a:t>
            </a:r>
            <a:br>
              <a:rPr lang="en-US" noProof="0" dirty="0"/>
            </a:br>
            <a:br>
              <a:rPr lang="en-US" noProof="0" dirty="0"/>
            </a:br>
            <a:endParaRPr lang="en-US" noProof="0" dirty="0"/>
          </a:p>
        </p:txBody>
      </p:sp>
      <p:sp>
        <p:nvSpPr>
          <p:cNvPr id="10" name="Text Placeholder 4"/>
          <p:cNvSpPr txBox="1">
            <a:spLocks/>
          </p:cNvSpPr>
          <p:nvPr/>
        </p:nvSpPr>
        <p:spPr>
          <a:xfrm>
            <a:off x="423440" y="6153027"/>
            <a:ext cx="5594349" cy="298451"/>
          </a:xfrm>
          <a:prstGeom prst="rect">
            <a:avLst/>
          </a:prstGeom>
        </p:spPr>
        <p:txBody>
          <a:bodyPr vert="horz" lIns="0" tIns="0" rIns="0" bIns="0" rtlCol="0">
            <a:noAutofit/>
          </a:bodyPr>
          <a:lstStyle>
            <a:lvl1pPr marL="0" indent="0" algn="l" defTabSz="1219170" rtl="0" eaLnBrk="1" latinLnBrk="0" hangingPunct="1">
              <a:spcBef>
                <a:spcPts val="0"/>
              </a:spcBef>
              <a:spcAft>
                <a:spcPts val="0"/>
              </a:spcAft>
              <a:buSzPct val="100000"/>
              <a:buFont typeface="Arial" panose="020B0604020202020204" pitchFamily="34" charset="0"/>
              <a:buNone/>
              <a:defRPr sz="1050" b="0" kern="1200">
                <a:solidFill>
                  <a:schemeClr val="bg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a:solidFill>
                  <a:schemeClr val="bg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a:solidFill>
                  <a:schemeClr val="bg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a:solidFill>
                  <a:schemeClr val="bg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a:solidFill>
                  <a:schemeClr val="bg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832"/>
              </a:spcBef>
              <a:spcAft>
                <a:spcPts val="0"/>
              </a:spcAft>
              <a:buClrTx/>
              <a:buSzPct val="100000"/>
              <a:buFont typeface="Arial" panose="020B0604020202020204" pitchFamily="34" charset="0"/>
              <a:buNone/>
              <a:tabLst/>
              <a:defRPr/>
            </a:pPr>
            <a:r>
              <a:rPr kumimoji="0" lang="fr-FR" sz="1050" b="0" i="0" u="none" strike="noStrike" kern="1200" cap="none" spc="0" normalizeH="0" baseline="0" noProof="0" dirty="0">
                <a:ln>
                  <a:noFill/>
                </a:ln>
                <a:solidFill>
                  <a:prstClr val="white"/>
                </a:solidFill>
                <a:effectLst/>
                <a:uLnTx/>
                <a:uFillTx/>
                <a:latin typeface="Verdana"/>
                <a:ea typeface="+mn-ea"/>
                <a:cs typeface="+mn-cs"/>
              </a:rPr>
              <a:t>October 2021</a:t>
            </a:r>
          </a:p>
          <a:p>
            <a:pPr marL="0" marR="0" lvl="0" indent="0" algn="l" defTabSz="1219170" rtl="0" eaLnBrk="1" fontAlgn="auto" latinLnBrk="0" hangingPunct="1">
              <a:lnSpc>
                <a:spcPct val="100000"/>
              </a:lnSpc>
              <a:spcBef>
                <a:spcPts val="832"/>
              </a:spcBef>
              <a:spcAft>
                <a:spcPts val="0"/>
              </a:spcAft>
              <a:buClrTx/>
              <a:buSzPct val="100000"/>
              <a:buFont typeface="Arial" panose="020B0604020202020204" pitchFamily="34" charset="0"/>
              <a:buNone/>
              <a:tabLst/>
              <a:defRPr/>
            </a:pPr>
            <a:endParaRPr kumimoji="0" lang="fr-FR" sz="1050" b="0" i="0" u="none" strike="noStrike" kern="1200" cap="none" spc="0" normalizeH="0" baseline="0" noProof="0" dirty="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394016719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80034" y="322609"/>
            <a:ext cx="11165280" cy="577289"/>
          </a:xfrm>
        </p:spPr>
        <p:txBody>
          <a:bodyPr vert="horz" lIns="0" tIns="0" rIns="0" bIns="0" rtlCol="0" anchor="t" anchorCtr="0">
            <a:noAutofit/>
          </a:bodyPr>
          <a:lstStyle/>
          <a:p>
            <a:pPr>
              <a:defRPr/>
            </a:pPr>
            <a:r>
              <a:rPr lang="en-GB" dirty="0">
                <a:solidFill>
                  <a:schemeClr val="tx1"/>
                </a:solidFill>
                <a:latin typeface="Verdana" panose="020B0604030504040204" pitchFamily="34" charset="0"/>
                <a:ea typeface="Verdana" panose="020B0604030504040204" pitchFamily="34" charset="0"/>
                <a:cs typeface="Verdana" panose="020B0604030504040204" pitchFamily="34" charset="0"/>
              </a:rPr>
              <a:t>Model Monitoring Process</a:t>
            </a:r>
            <a:endParaRPr lang="en-IN"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2" name="Rectangle 1"/>
          <p:cNvSpPr/>
          <p:nvPr/>
        </p:nvSpPr>
        <p:spPr>
          <a:xfrm>
            <a:off x="4639602" y="2584111"/>
            <a:ext cx="7005712" cy="1527465"/>
          </a:xfrm>
          <a:prstGeom prst="rect">
            <a:avLst/>
          </a:prstGeom>
          <a:noFill/>
          <a:ln w="3175" cap="sq">
            <a:solidFill>
              <a:srgbClr val="377D3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US" sz="1200" dirty="0">
                <a:solidFill>
                  <a:schemeClr val="tx1"/>
                </a:solidFill>
              </a:rPr>
              <a:t>On Run date (15</a:t>
            </a:r>
            <a:r>
              <a:rPr lang="en-US" sz="1200" baseline="30000" dirty="0">
                <a:solidFill>
                  <a:schemeClr val="tx1"/>
                </a:solidFill>
              </a:rPr>
              <a:t>th</a:t>
            </a:r>
            <a:r>
              <a:rPr lang="en-US" sz="1200" dirty="0">
                <a:solidFill>
                  <a:schemeClr val="tx1"/>
                </a:solidFill>
              </a:rPr>
              <a:t> June), Model will predict for medium segment active customers who will go into inactivity churn on (26</a:t>
            </a:r>
            <a:r>
              <a:rPr lang="en-US" sz="1200" baseline="30000" dirty="0">
                <a:solidFill>
                  <a:schemeClr val="tx1"/>
                </a:solidFill>
              </a:rPr>
              <a:t>th</a:t>
            </a:r>
            <a:r>
              <a:rPr lang="en-US" sz="1200" dirty="0">
                <a:solidFill>
                  <a:schemeClr val="tx1"/>
                </a:solidFill>
              </a:rPr>
              <a:t> July).</a:t>
            </a:r>
          </a:p>
          <a:p>
            <a:pPr marL="171450" indent="-171450" algn="just">
              <a:buFont typeface="Arial" panose="020B0604020202020204" pitchFamily="34" charset="0"/>
              <a:buChar char="•"/>
            </a:pPr>
            <a:endParaRPr lang="en-US" sz="1200" dirty="0">
              <a:solidFill>
                <a:schemeClr val="tx1"/>
              </a:solidFill>
            </a:endParaRPr>
          </a:p>
          <a:p>
            <a:pPr marL="171450" indent="-171450" algn="just">
              <a:buFont typeface="Arial" panose="020B0604020202020204" pitchFamily="34" charset="0"/>
              <a:buChar char="•"/>
            </a:pPr>
            <a:r>
              <a:rPr lang="en-US" sz="1200" dirty="0">
                <a:solidFill>
                  <a:schemeClr val="tx1"/>
                </a:solidFill>
              </a:rPr>
              <a:t>Model scoring process will be done on daily basis.</a:t>
            </a:r>
            <a:endParaRPr lang="en-IN" sz="1200" dirty="0">
              <a:solidFill>
                <a:schemeClr val="tx1"/>
              </a:solidFill>
            </a:endParaRPr>
          </a:p>
        </p:txBody>
      </p:sp>
      <p:sp>
        <p:nvSpPr>
          <p:cNvPr id="5" name="Rectangle 4"/>
          <p:cNvSpPr/>
          <p:nvPr/>
        </p:nvSpPr>
        <p:spPr>
          <a:xfrm>
            <a:off x="4639602" y="4250107"/>
            <a:ext cx="7005712" cy="2033735"/>
          </a:xfrm>
          <a:prstGeom prst="rect">
            <a:avLst/>
          </a:prstGeom>
          <a:noFill/>
          <a:ln w="3175" cap="sq">
            <a:solidFill>
              <a:srgbClr val="377D3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n-US" sz="1200" dirty="0">
                <a:solidFill>
                  <a:schemeClr val="tx1"/>
                </a:solidFill>
              </a:rPr>
              <a:t>Model performance measurement will start after (26</a:t>
            </a:r>
            <a:r>
              <a:rPr lang="en-US" sz="1200" baseline="30000" dirty="0">
                <a:solidFill>
                  <a:schemeClr val="tx1"/>
                </a:solidFill>
              </a:rPr>
              <a:t>th</a:t>
            </a:r>
            <a:r>
              <a:rPr lang="en-US" sz="1200" dirty="0">
                <a:solidFill>
                  <a:schemeClr val="tx1"/>
                </a:solidFill>
              </a:rPr>
              <a:t> July) 41 days of scoring.</a:t>
            </a:r>
          </a:p>
          <a:p>
            <a:pPr marL="171450" indent="-171450" algn="just">
              <a:buFont typeface="Arial" panose="020B0604020202020204" pitchFamily="34" charset="0"/>
              <a:buChar char="•"/>
            </a:pPr>
            <a:endParaRPr lang="en-US" sz="1200" dirty="0">
              <a:solidFill>
                <a:schemeClr val="tx1"/>
              </a:solidFill>
            </a:endParaRPr>
          </a:p>
          <a:p>
            <a:pPr marL="171450" indent="-171450" algn="just">
              <a:buFont typeface="Arial" panose="020B0604020202020204" pitchFamily="34" charset="0"/>
              <a:buChar char="•"/>
            </a:pPr>
            <a:r>
              <a:rPr lang="en-US" sz="1200" dirty="0">
                <a:solidFill>
                  <a:schemeClr val="tx1"/>
                </a:solidFill>
              </a:rPr>
              <a:t>On 26</a:t>
            </a:r>
            <a:r>
              <a:rPr lang="en-US" sz="1200" baseline="30000" dirty="0">
                <a:solidFill>
                  <a:schemeClr val="tx1"/>
                </a:solidFill>
              </a:rPr>
              <a:t>th</a:t>
            </a:r>
            <a:r>
              <a:rPr lang="en-US" sz="1200" dirty="0">
                <a:solidFill>
                  <a:schemeClr val="tx1"/>
                </a:solidFill>
              </a:rPr>
              <a:t> July we will have the actual and the predicted results available to measure the model performance of medium segment active customers base of 15</a:t>
            </a:r>
            <a:r>
              <a:rPr lang="en-US" sz="1200" baseline="30000" dirty="0">
                <a:solidFill>
                  <a:schemeClr val="tx1"/>
                </a:solidFill>
              </a:rPr>
              <a:t>th</a:t>
            </a:r>
            <a:r>
              <a:rPr lang="en-US" sz="1200" dirty="0">
                <a:solidFill>
                  <a:schemeClr val="tx1"/>
                </a:solidFill>
              </a:rPr>
              <a:t> June.</a:t>
            </a:r>
          </a:p>
          <a:p>
            <a:pPr marL="171450" indent="-171450" algn="just">
              <a:buFont typeface="Arial" panose="020B0604020202020204" pitchFamily="34" charset="0"/>
              <a:buChar char="•"/>
            </a:pPr>
            <a:endParaRPr lang="en-US" sz="1200" dirty="0">
              <a:solidFill>
                <a:schemeClr val="tx1"/>
              </a:solidFill>
            </a:endParaRPr>
          </a:p>
          <a:p>
            <a:pPr marL="171450" indent="-171450" algn="just">
              <a:buFont typeface="Arial" panose="020B0604020202020204" pitchFamily="34" charset="0"/>
              <a:buChar char="•"/>
            </a:pPr>
            <a:r>
              <a:rPr lang="en-US" sz="1200" dirty="0">
                <a:solidFill>
                  <a:schemeClr val="tx1"/>
                </a:solidFill>
              </a:rPr>
              <a:t>Model’s predicted score will be compared with actual DOLA (Days of last activity &gt;= 30) and thus the performance will be presented on ADAM dashboard.</a:t>
            </a:r>
          </a:p>
          <a:p>
            <a:pPr marL="171450" indent="-171450" algn="just">
              <a:buFont typeface="Arial" panose="020B0604020202020204" pitchFamily="34" charset="0"/>
              <a:buChar char="•"/>
            </a:pPr>
            <a:endParaRPr lang="en-US" sz="1200" dirty="0">
              <a:solidFill>
                <a:schemeClr val="tx1"/>
              </a:solidFill>
            </a:endParaRPr>
          </a:p>
          <a:p>
            <a:pPr marL="171450" indent="-171450" algn="just">
              <a:buFont typeface="Arial" panose="020B0604020202020204" pitchFamily="34" charset="0"/>
              <a:buChar char="•"/>
            </a:pPr>
            <a:r>
              <a:rPr lang="en-US" sz="1200" dirty="0">
                <a:solidFill>
                  <a:schemeClr val="tx1"/>
                </a:solidFill>
              </a:rPr>
              <a:t>Model performance measurement will be done on daily basis after 41 days of scoring</a:t>
            </a:r>
            <a:endParaRPr lang="en-IN" sz="1200" dirty="0">
              <a:solidFill>
                <a:schemeClr val="tx1"/>
              </a:solidFill>
            </a:endParaRPr>
          </a:p>
        </p:txBody>
      </p:sp>
      <p:sp>
        <p:nvSpPr>
          <p:cNvPr id="8" name="Rectangle 7"/>
          <p:cNvSpPr/>
          <p:nvPr/>
        </p:nvSpPr>
        <p:spPr bwMode="gray">
          <a:xfrm>
            <a:off x="940526" y="2086055"/>
            <a:ext cx="3030583" cy="435428"/>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GB" sz="1400" b="1" dirty="0">
                <a:solidFill>
                  <a:schemeClr val="bg1"/>
                </a:solidFill>
              </a:rPr>
              <a:t>Monitoring</a:t>
            </a:r>
            <a:r>
              <a:rPr lang="en-GB" sz="1400" dirty="0">
                <a:solidFill>
                  <a:schemeClr val="bg1"/>
                </a:solidFill>
                <a:latin typeface="Verdana" panose="020B0604030504040204" pitchFamily="34" charset="0"/>
                <a:ea typeface="Verdana" panose="020B0604030504040204" pitchFamily="34" charset="0"/>
                <a:cs typeface="Verdana" panose="020B0604030504040204" pitchFamily="34" charset="0"/>
              </a:rPr>
              <a:t>  </a:t>
            </a:r>
            <a:r>
              <a:rPr lang="en-US" sz="1400" b="1" dirty="0">
                <a:solidFill>
                  <a:schemeClr val="bg1"/>
                </a:solidFill>
              </a:rPr>
              <a:t>Process</a:t>
            </a:r>
            <a:endParaRPr lang="en-IN" sz="1400" b="1" dirty="0">
              <a:solidFill>
                <a:schemeClr val="bg1"/>
              </a:solidFill>
            </a:endParaRPr>
          </a:p>
        </p:txBody>
      </p:sp>
      <p:sp>
        <p:nvSpPr>
          <p:cNvPr id="10" name="Rectangle 9"/>
          <p:cNvSpPr/>
          <p:nvPr/>
        </p:nvSpPr>
        <p:spPr bwMode="gray">
          <a:xfrm>
            <a:off x="940526" y="2583912"/>
            <a:ext cx="3030583" cy="1527665"/>
          </a:xfrm>
          <a:prstGeom prst="rect">
            <a:avLst/>
          </a:prstGeom>
          <a:solidFill>
            <a:schemeClr val="accent2"/>
          </a:solidFill>
          <a:ln w="19050" algn="ctr">
            <a:noFill/>
            <a:miter lim="800000"/>
            <a:headEnd/>
            <a:tailEnd/>
          </a:ln>
        </p:spPr>
        <p:txBody>
          <a:bodyPr wrap="square" lIns="88900" tIns="88900" rIns="88900" bIns="88900" rtlCol="0" anchor="ctr"/>
          <a:lstStyle/>
          <a:p>
            <a:pPr algn="ctr">
              <a:lnSpc>
                <a:spcPct val="106000"/>
              </a:lnSpc>
            </a:pPr>
            <a:r>
              <a:rPr lang="en-IN" sz="1400" b="1" dirty="0">
                <a:solidFill>
                  <a:schemeClr val="bg1"/>
                </a:solidFill>
              </a:rPr>
              <a:t>Model Scoring</a:t>
            </a:r>
          </a:p>
        </p:txBody>
      </p:sp>
      <p:sp>
        <p:nvSpPr>
          <p:cNvPr id="11" name="Rectangle 10"/>
          <p:cNvSpPr/>
          <p:nvPr/>
        </p:nvSpPr>
        <p:spPr bwMode="gray">
          <a:xfrm>
            <a:off x="940525" y="4250107"/>
            <a:ext cx="3030583" cy="2033735"/>
          </a:xfrm>
          <a:prstGeom prst="rect">
            <a:avLst/>
          </a:prstGeom>
          <a:solidFill>
            <a:schemeClr val="accent2"/>
          </a:solidFill>
          <a:ln w="19050" algn="ctr">
            <a:noFill/>
            <a:miter lim="800000"/>
            <a:headEnd/>
            <a:tailEnd/>
          </a:ln>
        </p:spPr>
        <p:txBody>
          <a:bodyPr wrap="square" lIns="88900" tIns="88900" rIns="88900" bIns="88900" rtlCol="0" anchor="ctr"/>
          <a:lstStyle/>
          <a:p>
            <a:pPr algn="ctr">
              <a:lnSpc>
                <a:spcPct val="106000"/>
              </a:lnSpc>
            </a:pPr>
            <a:r>
              <a:rPr lang="en-IN" sz="1400" b="1" dirty="0">
                <a:solidFill>
                  <a:schemeClr val="bg1"/>
                </a:solidFill>
              </a:rPr>
              <a:t>Model Performance Measurement  </a:t>
            </a:r>
          </a:p>
        </p:txBody>
      </p:sp>
      <p:sp>
        <p:nvSpPr>
          <p:cNvPr id="14" name="Rectangle 13">
            <a:extLst>
              <a:ext uri="{FF2B5EF4-FFF2-40B4-BE49-F238E27FC236}">
                <a16:creationId xmlns:a16="http://schemas.microsoft.com/office/drawing/2014/main" id="{F64D2D62-F764-4262-9BF3-ADE42E4EC39A}"/>
              </a:ext>
            </a:extLst>
          </p:cNvPr>
          <p:cNvSpPr/>
          <p:nvPr/>
        </p:nvSpPr>
        <p:spPr bwMode="gray">
          <a:xfrm>
            <a:off x="4639602" y="2083787"/>
            <a:ext cx="7005712" cy="435428"/>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IN" sz="1400" b="1" dirty="0">
                <a:solidFill>
                  <a:schemeClr val="bg1"/>
                </a:solidFill>
              </a:rPr>
              <a:t>Description</a:t>
            </a:r>
          </a:p>
        </p:txBody>
      </p:sp>
      <p:cxnSp>
        <p:nvCxnSpPr>
          <p:cNvPr id="42" name="Straight Arrow Connector 4">
            <a:extLst>
              <a:ext uri="{FF2B5EF4-FFF2-40B4-BE49-F238E27FC236}">
                <a16:creationId xmlns:a16="http://schemas.microsoft.com/office/drawing/2014/main" id="{AFF4E20E-A93D-459E-B65A-635962F4AD43}"/>
              </a:ext>
            </a:extLst>
          </p:cNvPr>
          <p:cNvCxnSpPr>
            <a:cxnSpLocks noChangeShapeType="1"/>
          </p:cNvCxnSpPr>
          <p:nvPr/>
        </p:nvCxnSpPr>
        <p:spPr bwMode="auto">
          <a:xfrm>
            <a:off x="2196707" y="1368444"/>
            <a:ext cx="8443584" cy="0"/>
          </a:xfrm>
          <a:prstGeom prst="straightConnector1">
            <a:avLst/>
          </a:prstGeom>
          <a:noFill/>
          <a:ln w="38100"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3" name="TextBox 5">
            <a:extLst>
              <a:ext uri="{FF2B5EF4-FFF2-40B4-BE49-F238E27FC236}">
                <a16:creationId xmlns:a16="http://schemas.microsoft.com/office/drawing/2014/main" id="{1ECE267D-1209-412B-800D-1A29B3FEC9CF}"/>
              </a:ext>
            </a:extLst>
          </p:cNvPr>
          <p:cNvSpPr txBox="1">
            <a:spLocks noChangeArrowheads="1"/>
          </p:cNvSpPr>
          <p:nvPr/>
        </p:nvSpPr>
        <p:spPr bwMode="auto">
          <a:xfrm>
            <a:off x="8977593" y="1458142"/>
            <a:ext cx="546900" cy="254183"/>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rPr>
              <a:t>Time</a:t>
            </a:r>
          </a:p>
        </p:txBody>
      </p:sp>
      <p:cxnSp>
        <p:nvCxnSpPr>
          <p:cNvPr id="44" name="Straight Connector 43">
            <a:extLst>
              <a:ext uri="{FF2B5EF4-FFF2-40B4-BE49-F238E27FC236}">
                <a16:creationId xmlns:a16="http://schemas.microsoft.com/office/drawing/2014/main" id="{33F89F99-8415-4AAE-A37C-0B0D40466E10}"/>
              </a:ext>
            </a:extLst>
          </p:cNvPr>
          <p:cNvCxnSpPr/>
          <p:nvPr/>
        </p:nvCxnSpPr>
        <p:spPr bwMode="auto">
          <a:xfrm>
            <a:off x="2190715" y="1259071"/>
            <a:ext cx="0" cy="141672"/>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E361C882-5744-4892-AFCA-6B271F0B37B8}"/>
              </a:ext>
            </a:extLst>
          </p:cNvPr>
          <p:cNvCxnSpPr/>
          <p:nvPr/>
        </p:nvCxnSpPr>
        <p:spPr bwMode="auto">
          <a:xfrm>
            <a:off x="6298446" y="1263293"/>
            <a:ext cx="0" cy="141672"/>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Straight Connector 50">
            <a:extLst>
              <a:ext uri="{FF2B5EF4-FFF2-40B4-BE49-F238E27FC236}">
                <a16:creationId xmlns:a16="http://schemas.microsoft.com/office/drawing/2014/main" id="{BE8B1358-77DA-4AD7-8D5F-B51E867151C6}"/>
              </a:ext>
            </a:extLst>
          </p:cNvPr>
          <p:cNvCxnSpPr>
            <a:cxnSpLocks noChangeShapeType="1"/>
          </p:cNvCxnSpPr>
          <p:nvPr/>
        </p:nvCxnSpPr>
        <p:spPr bwMode="auto">
          <a:xfrm>
            <a:off x="2190140" y="1010951"/>
            <a:ext cx="942" cy="410472"/>
          </a:xfrm>
          <a:prstGeom prst="line">
            <a:avLst/>
          </a:prstGeom>
          <a:noFill/>
          <a:ln w="9525" algn="ctr">
            <a:solidFill>
              <a:schemeClr val="tx1"/>
            </a:solidFill>
            <a:prstDash val="dashDot"/>
            <a:round/>
            <a:headEnd/>
            <a:tailEnd/>
          </a:ln>
          <a:extLst>
            <a:ext uri="{909E8E84-426E-40DD-AFC4-6F175D3DCCD1}">
              <a14:hiddenFill xmlns:a14="http://schemas.microsoft.com/office/drawing/2010/main">
                <a:noFill/>
              </a14:hiddenFill>
            </a:ext>
          </a:extLst>
        </p:spPr>
      </p:cxnSp>
      <p:sp>
        <p:nvSpPr>
          <p:cNvPr id="48" name="TextBox 69">
            <a:extLst>
              <a:ext uri="{FF2B5EF4-FFF2-40B4-BE49-F238E27FC236}">
                <a16:creationId xmlns:a16="http://schemas.microsoft.com/office/drawing/2014/main" id="{F5884D40-F9E6-487D-9795-6A4D863ED68D}"/>
              </a:ext>
            </a:extLst>
          </p:cNvPr>
          <p:cNvSpPr txBox="1">
            <a:spLocks noChangeArrowheads="1"/>
          </p:cNvSpPr>
          <p:nvPr/>
        </p:nvSpPr>
        <p:spPr bwMode="auto">
          <a:xfrm>
            <a:off x="3386492" y="1340708"/>
            <a:ext cx="3199393" cy="254183"/>
          </a:xfrm>
          <a:prstGeom prst="rect">
            <a:avLst/>
          </a:prstGeom>
          <a:noFill/>
          <a:ln w="9525">
            <a:noFill/>
            <a:miter lim="800000"/>
            <a:headEnd/>
            <a:tailEnd/>
          </a:ln>
        </p:spPr>
        <p:txBody>
          <a:bodyPr wrap="square">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rPr>
              <a:t>30 days</a:t>
            </a:r>
            <a:endParaRPr kumimoji="0" lang="en-US" sz="1100" b="1"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endParaRPr>
          </a:p>
        </p:txBody>
      </p:sp>
      <p:cxnSp>
        <p:nvCxnSpPr>
          <p:cNvPr id="50" name="Straight Arrow Connector 49">
            <a:extLst>
              <a:ext uri="{FF2B5EF4-FFF2-40B4-BE49-F238E27FC236}">
                <a16:creationId xmlns:a16="http://schemas.microsoft.com/office/drawing/2014/main" id="{4B1F4421-B9EE-4139-9036-B555D0D6FECF}"/>
              </a:ext>
            </a:extLst>
          </p:cNvPr>
          <p:cNvCxnSpPr>
            <a:cxnSpLocks/>
          </p:cNvCxnSpPr>
          <p:nvPr/>
        </p:nvCxnSpPr>
        <p:spPr>
          <a:xfrm>
            <a:off x="2180675" y="1167839"/>
            <a:ext cx="4062356" cy="3626"/>
          </a:xfrm>
          <a:prstGeom prst="straightConnector1">
            <a:avLst/>
          </a:prstGeom>
          <a:ln>
            <a:solidFill>
              <a:schemeClr val="tx1"/>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sp>
        <p:nvSpPr>
          <p:cNvPr id="51" name="TextBox 69">
            <a:extLst>
              <a:ext uri="{FF2B5EF4-FFF2-40B4-BE49-F238E27FC236}">
                <a16:creationId xmlns:a16="http://schemas.microsoft.com/office/drawing/2014/main" id="{71D5E916-D725-4123-80E5-492BDDB9B5B0}"/>
              </a:ext>
            </a:extLst>
          </p:cNvPr>
          <p:cNvSpPr txBox="1">
            <a:spLocks noChangeArrowheads="1"/>
          </p:cNvSpPr>
          <p:nvPr/>
        </p:nvSpPr>
        <p:spPr bwMode="auto">
          <a:xfrm>
            <a:off x="2433975" y="1348867"/>
            <a:ext cx="842499" cy="254183"/>
          </a:xfrm>
          <a:prstGeom prst="rect">
            <a:avLst/>
          </a:prstGeom>
          <a:noFill/>
          <a:ln w="9525">
            <a:noFill/>
            <a:miter lim="800000"/>
            <a:headEnd/>
            <a:tailEnd/>
          </a:ln>
        </p:spPr>
        <p:txBody>
          <a:bodyPr wrap="square">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GB" sz="1100" dirty="0">
                <a:solidFill>
                  <a:prstClr val="black"/>
                </a:solidFill>
                <a:latin typeface="Trebuchet MS" panose="020B0603020202020204" pitchFamily="34" charset="0"/>
              </a:rPr>
              <a:t>11</a:t>
            </a:r>
            <a:r>
              <a:rPr kumimoji="0" lang="en-GB" sz="11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rPr>
              <a:t> days</a:t>
            </a:r>
            <a:endParaRPr kumimoji="0" lang="en-US" sz="1100" b="1"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endParaRPr>
          </a:p>
        </p:txBody>
      </p:sp>
      <p:cxnSp>
        <p:nvCxnSpPr>
          <p:cNvPr id="58" name="Straight Connector 57">
            <a:extLst>
              <a:ext uri="{FF2B5EF4-FFF2-40B4-BE49-F238E27FC236}">
                <a16:creationId xmlns:a16="http://schemas.microsoft.com/office/drawing/2014/main" id="{592BC534-63DC-4603-B52D-1DC6932B9F5E}"/>
              </a:ext>
            </a:extLst>
          </p:cNvPr>
          <p:cNvCxnSpPr/>
          <p:nvPr/>
        </p:nvCxnSpPr>
        <p:spPr bwMode="auto">
          <a:xfrm>
            <a:off x="3677773" y="1256325"/>
            <a:ext cx="0" cy="141672"/>
          </a:xfrm>
          <a:prstGeom prst="lin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9" name="TextBox 69">
            <a:extLst>
              <a:ext uri="{FF2B5EF4-FFF2-40B4-BE49-F238E27FC236}">
                <a16:creationId xmlns:a16="http://schemas.microsoft.com/office/drawing/2014/main" id="{73D2E00B-06AA-4D4E-AAE1-34399036D1C8}"/>
              </a:ext>
            </a:extLst>
          </p:cNvPr>
          <p:cNvSpPr txBox="1">
            <a:spLocks noChangeArrowheads="1"/>
          </p:cNvSpPr>
          <p:nvPr/>
        </p:nvSpPr>
        <p:spPr bwMode="auto">
          <a:xfrm>
            <a:off x="2190140" y="759911"/>
            <a:ext cx="1487633" cy="286232"/>
          </a:xfrm>
          <a:prstGeom prst="rect">
            <a:avLst/>
          </a:prstGeom>
          <a:solidFill>
            <a:srgbClr val="92D050"/>
          </a:solidFill>
          <a:ln w="9525">
            <a:noFill/>
            <a:miter lim="800000"/>
            <a:headEnd/>
            <a:tailEnd/>
          </a:ln>
        </p:spPr>
        <p:txBody>
          <a:bodyPr wrap="square">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n-US" sz="1400" dirty="0">
                <a:solidFill>
                  <a:srgbClr val="000000"/>
                </a:solidFill>
              </a:rPr>
              <a:t>Run</a:t>
            </a:r>
            <a:r>
              <a:rPr kumimoji="0" lang="en-US" sz="11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rPr>
              <a:t> </a:t>
            </a:r>
            <a:r>
              <a:rPr lang="en-US" sz="1400" dirty="0">
                <a:solidFill>
                  <a:srgbClr val="000000"/>
                </a:solidFill>
              </a:rPr>
              <a:t>date</a:t>
            </a:r>
          </a:p>
        </p:txBody>
      </p:sp>
      <p:cxnSp>
        <p:nvCxnSpPr>
          <p:cNvPr id="60" name="Straight Arrow Connector 59">
            <a:extLst>
              <a:ext uri="{FF2B5EF4-FFF2-40B4-BE49-F238E27FC236}">
                <a16:creationId xmlns:a16="http://schemas.microsoft.com/office/drawing/2014/main" id="{3A0DFA26-E0B4-4360-8A34-85A4BB42F420}"/>
              </a:ext>
            </a:extLst>
          </p:cNvPr>
          <p:cNvCxnSpPr>
            <a:cxnSpLocks/>
          </p:cNvCxnSpPr>
          <p:nvPr/>
        </p:nvCxnSpPr>
        <p:spPr>
          <a:xfrm>
            <a:off x="6297503" y="1154695"/>
            <a:ext cx="4336194" cy="26170"/>
          </a:xfrm>
          <a:prstGeom prst="straightConnector1">
            <a:avLst/>
          </a:prstGeom>
          <a:ln>
            <a:solidFill>
              <a:schemeClr val="tx1"/>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342E0A02-1EF7-4169-A108-D2882244BBD7}"/>
              </a:ext>
            </a:extLst>
          </p:cNvPr>
          <p:cNvSpPr/>
          <p:nvPr/>
        </p:nvSpPr>
        <p:spPr>
          <a:xfrm>
            <a:off x="6323517" y="759229"/>
            <a:ext cx="4310180" cy="307777"/>
          </a:xfrm>
          <a:prstGeom prst="rect">
            <a:avLst/>
          </a:prstGeom>
          <a:solidFill>
            <a:schemeClr val="accent3">
              <a:lumMod val="40000"/>
              <a:lumOff val="60000"/>
            </a:schemeClr>
          </a:solidFill>
        </p:spPr>
        <p:txBody>
          <a:bodyPr wrap="square">
            <a:spAutoFit/>
          </a:bodyPr>
          <a:lstStyle/>
          <a:p>
            <a:pPr algn="ctr"/>
            <a:r>
              <a:rPr lang="en-GB" sz="1400" dirty="0">
                <a:latin typeface="Verdana" panose="020B0604030504040204" pitchFamily="34" charset="0"/>
                <a:ea typeface="Verdana" panose="020B0604030504040204" pitchFamily="34" charset="0"/>
                <a:cs typeface="Verdana" panose="020B0604030504040204" pitchFamily="34" charset="0"/>
              </a:rPr>
              <a:t>Model Performance</a:t>
            </a:r>
            <a:endParaRPr lang="en-IN" sz="1400" dirty="0">
              <a:latin typeface="Verdana" panose="020B0604030504040204" pitchFamily="34" charset="0"/>
              <a:ea typeface="Verdana" panose="020B0604030504040204" pitchFamily="34" charset="0"/>
            </a:endParaRPr>
          </a:p>
        </p:txBody>
      </p:sp>
      <p:sp>
        <p:nvSpPr>
          <p:cNvPr id="62" name="Rectangle 61">
            <a:extLst>
              <a:ext uri="{FF2B5EF4-FFF2-40B4-BE49-F238E27FC236}">
                <a16:creationId xmlns:a16="http://schemas.microsoft.com/office/drawing/2014/main" id="{CEF4CD9B-CDF5-4007-9458-D8B6FF470251}"/>
              </a:ext>
            </a:extLst>
          </p:cNvPr>
          <p:cNvSpPr/>
          <p:nvPr/>
        </p:nvSpPr>
        <p:spPr>
          <a:xfrm>
            <a:off x="3703787" y="750600"/>
            <a:ext cx="2593716" cy="307777"/>
          </a:xfrm>
          <a:prstGeom prst="rect">
            <a:avLst/>
          </a:prstGeom>
          <a:solidFill>
            <a:srgbClr val="FFC000"/>
          </a:solidFill>
        </p:spPr>
        <p:txBody>
          <a:bodyPr wrap="square">
            <a:spAutoFit/>
          </a:bodyPr>
          <a:lstStyle/>
          <a:p>
            <a:pPr algn="ctr"/>
            <a:r>
              <a:rPr lang="en-GB" sz="1400" dirty="0">
                <a:latin typeface="Verdana" panose="020B0604030504040204" pitchFamily="34" charset="0"/>
                <a:ea typeface="Verdana" panose="020B0604030504040204" pitchFamily="34" charset="0"/>
                <a:cs typeface="Verdana" panose="020B0604030504040204" pitchFamily="34" charset="0"/>
              </a:rPr>
              <a:t>Model Scoring</a:t>
            </a:r>
            <a:endParaRPr lang="en-IN" sz="1400" dirty="0">
              <a:latin typeface="Verdana" panose="020B0604030504040204" pitchFamily="34" charset="0"/>
              <a:ea typeface="Verdana" panose="020B0604030504040204" pitchFamily="34" charset="0"/>
            </a:endParaRPr>
          </a:p>
        </p:txBody>
      </p:sp>
      <p:sp>
        <p:nvSpPr>
          <p:cNvPr id="63" name="Rectangle 62">
            <a:extLst>
              <a:ext uri="{FF2B5EF4-FFF2-40B4-BE49-F238E27FC236}">
                <a16:creationId xmlns:a16="http://schemas.microsoft.com/office/drawing/2014/main" id="{A974332F-B9E6-438D-B362-148057D8BE29}"/>
              </a:ext>
            </a:extLst>
          </p:cNvPr>
          <p:cNvSpPr/>
          <p:nvPr/>
        </p:nvSpPr>
        <p:spPr>
          <a:xfrm>
            <a:off x="1844686" y="1468850"/>
            <a:ext cx="671979" cy="261610"/>
          </a:xfrm>
          <a:prstGeom prst="rect">
            <a:avLst/>
          </a:prstGeom>
        </p:spPr>
        <p:txBody>
          <a:bodyPr wrap="none">
            <a:spAutoFit/>
          </a:bodyPr>
          <a:lstStyle/>
          <a:p>
            <a:pPr algn="ctr" fontAlgn="ctr"/>
            <a:r>
              <a:rPr lang="en-US" sz="1100" dirty="0">
                <a:solidFill>
                  <a:srgbClr val="000000"/>
                </a:solidFill>
              </a:rPr>
              <a:t>15-Jun</a:t>
            </a:r>
            <a:endParaRPr lang="en-US" sz="1000" dirty="0">
              <a:solidFill>
                <a:srgbClr val="000000"/>
              </a:solidFill>
            </a:endParaRPr>
          </a:p>
        </p:txBody>
      </p:sp>
      <p:sp>
        <p:nvSpPr>
          <p:cNvPr id="64" name="Rectangle 63">
            <a:extLst>
              <a:ext uri="{FF2B5EF4-FFF2-40B4-BE49-F238E27FC236}">
                <a16:creationId xmlns:a16="http://schemas.microsoft.com/office/drawing/2014/main" id="{4F658E4C-D4A8-496D-8F67-EAB3B74EC322}"/>
              </a:ext>
            </a:extLst>
          </p:cNvPr>
          <p:cNvSpPr/>
          <p:nvPr/>
        </p:nvSpPr>
        <p:spPr>
          <a:xfrm>
            <a:off x="3336618" y="1474607"/>
            <a:ext cx="734338" cy="271769"/>
          </a:xfrm>
          <a:prstGeom prst="rect">
            <a:avLst/>
          </a:prstGeom>
        </p:spPr>
        <p:txBody>
          <a:bodyPr wrap="none">
            <a:spAutoFit/>
          </a:bodyPr>
          <a:lstStyle/>
          <a:p>
            <a:pPr algn="ctr" fontAlgn="ctr"/>
            <a:r>
              <a:rPr lang="en-US" sz="1100" dirty="0">
                <a:solidFill>
                  <a:srgbClr val="000000"/>
                </a:solidFill>
              </a:rPr>
              <a:t>26-Jun</a:t>
            </a:r>
            <a:endParaRPr lang="en-US" sz="1000" dirty="0">
              <a:solidFill>
                <a:srgbClr val="000000"/>
              </a:solidFill>
            </a:endParaRPr>
          </a:p>
        </p:txBody>
      </p:sp>
      <p:sp>
        <p:nvSpPr>
          <p:cNvPr id="65" name="Rectangle 64">
            <a:extLst>
              <a:ext uri="{FF2B5EF4-FFF2-40B4-BE49-F238E27FC236}">
                <a16:creationId xmlns:a16="http://schemas.microsoft.com/office/drawing/2014/main" id="{A05C2D96-002A-482A-AAAC-E2F4D7FE6FB9}"/>
              </a:ext>
            </a:extLst>
          </p:cNvPr>
          <p:cNvSpPr/>
          <p:nvPr/>
        </p:nvSpPr>
        <p:spPr>
          <a:xfrm>
            <a:off x="5987017" y="1472030"/>
            <a:ext cx="678283" cy="271769"/>
          </a:xfrm>
          <a:prstGeom prst="rect">
            <a:avLst/>
          </a:prstGeom>
        </p:spPr>
        <p:txBody>
          <a:bodyPr wrap="none">
            <a:spAutoFit/>
          </a:bodyPr>
          <a:lstStyle/>
          <a:p>
            <a:pPr algn="ctr" fontAlgn="ctr"/>
            <a:r>
              <a:rPr lang="en-US" sz="1100" dirty="0">
                <a:solidFill>
                  <a:srgbClr val="000000"/>
                </a:solidFill>
              </a:rPr>
              <a:t>26-Jul</a:t>
            </a:r>
          </a:p>
        </p:txBody>
      </p:sp>
      <p:sp>
        <p:nvSpPr>
          <p:cNvPr id="31" name="TextBox 30">
            <a:extLst>
              <a:ext uri="{FF2B5EF4-FFF2-40B4-BE49-F238E27FC236}">
                <a16:creationId xmlns:a16="http://schemas.microsoft.com/office/drawing/2014/main" id="{6F1188A4-DEC0-4869-B22F-699147857CE4}"/>
              </a:ext>
            </a:extLst>
          </p:cNvPr>
          <p:cNvSpPr txBox="1"/>
          <p:nvPr/>
        </p:nvSpPr>
        <p:spPr>
          <a:xfrm>
            <a:off x="2630183" y="6567942"/>
            <a:ext cx="9556605" cy="26161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1100" b="0" i="1" u="none" strike="noStrike" kern="1200" cap="none" spc="0" normalizeH="0" baseline="0" noProof="0" dirty="0">
                <a:ln>
                  <a:noFill/>
                </a:ln>
                <a:solidFill>
                  <a:srgbClr val="75787B"/>
                </a:solidFill>
                <a:effectLst/>
                <a:uLnTx/>
                <a:uFillTx/>
                <a:latin typeface="Verdana"/>
                <a:ea typeface="+mn-ea"/>
                <a:cs typeface="Univers for KPMG"/>
              </a:rPr>
              <a:t>Note: Inactivity churn is DOLA &gt;= 30 on </a:t>
            </a:r>
            <a:r>
              <a:rPr lang="en-IN" sz="1100" i="1" dirty="0">
                <a:solidFill>
                  <a:srgbClr val="75787B"/>
                </a:solidFill>
                <a:latin typeface="Verdana"/>
                <a:cs typeface="Univers for KPMG"/>
              </a:rPr>
              <a:t>41</a:t>
            </a:r>
            <a:r>
              <a:rPr lang="en-IN" sz="1100" i="1" baseline="30000" dirty="0">
                <a:solidFill>
                  <a:srgbClr val="75787B"/>
                </a:solidFill>
                <a:latin typeface="Verdana"/>
                <a:cs typeface="Univers for KPMG"/>
              </a:rPr>
              <a:t>st</a:t>
            </a:r>
            <a:r>
              <a:rPr kumimoji="0" lang="en-IN" sz="1100" b="0" i="1" u="none" strike="noStrike" kern="1200" cap="none" spc="0" normalizeH="0" baseline="0" noProof="0" dirty="0">
                <a:ln>
                  <a:noFill/>
                </a:ln>
                <a:solidFill>
                  <a:srgbClr val="75787B"/>
                </a:solidFill>
                <a:effectLst/>
                <a:uLnTx/>
                <a:uFillTx/>
                <a:latin typeface="Verdana"/>
                <a:ea typeface="+mn-ea"/>
                <a:cs typeface="Univers for KPMG"/>
              </a:rPr>
              <a:t> Day</a:t>
            </a:r>
          </a:p>
        </p:txBody>
      </p:sp>
    </p:spTree>
    <p:extLst>
      <p:ext uri="{BB962C8B-B14F-4D97-AF65-F5344CB8AC3E}">
        <p14:creationId xmlns:p14="http://schemas.microsoft.com/office/powerpoint/2010/main" val="3298770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80034" y="322609"/>
            <a:ext cx="11165280" cy="577289"/>
          </a:xfrm>
        </p:spPr>
        <p:txBody>
          <a:bodyPr vert="horz" lIns="0" tIns="0" rIns="0" bIns="0" rtlCol="0" anchor="t" anchorCtr="0">
            <a:noAutofit/>
          </a:bodyPr>
          <a:lstStyle/>
          <a:p>
            <a:pPr>
              <a:defRPr/>
            </a:pPr>
            <a:r>
              <a:rPr lang="en-GB" dirty="0">
                <a:solidFill>
                  <a:schemeClr val="tx1"/>
                </a:solidFill>
                <a:latin typeface="Verdana" panose="020B0604030504040204" pitchFamily="34" charset="0"/>
                <a:ea typeface="Verdana" panose="020B0604030504040204" pitchFamily="34" charset="0"/>
                <a:cs typeface="Verdana" panose="020B0604030504040204" pitchFamily="34" charset="0"/>
              </a:rPr>
              <a:t>Model Monitoring Process</a:t>
            </a:r>
            <a:endParaRPr lang="en-IN"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3" name="Table 5">
            <a:extLst>
              <a:ext uri="{FF2B5EF4-FFF2-40B4-BE49-F238E27FC236}">
                <a16:creationId xmlns:a16="http://schemas.microsoft.com/office/drawing/2014/main" id="{D686921D-5489-4E58-9276-39368D40CC47}"/>
              </a:ext>
            </a:extLst>
          </p:cNvPr>
          <p:cNvGraphicFramePr>
            <a:graphicFrameLocks noGrp="1"/>
          </p:cNvGraphicFramePr>
          <p:nvPr>
            <p:extLst>
              <p:ext uri="{D42A27DB-BD31-4B8C-83A1-F6EECF244321}">
                <p14:modId xmlns:p14="http://schemas.microsoft.com/office/powerpoint/2010/main" val="842980470"/>
              </p:ext>
            </p:extLst>
          </p:nvPr>
        </p:nvGraphicFramePr>
        <p:xfrm>
          <a:off x="1034473" y="899898"/>
          <a:ext cx="9765886" cy="3195167"/>
        </p:xfrm>
        <a:graphic>
          <a:graphicData uri="http://schemas.openxmlformats.org/drawingml/2006/table">
            <a:tbl>
              <a:tblPr firstRow="1" bandRow="1">
                <a:tableStyleId>{5C22544A-7EE6-4342-B048-85BDC9FD1C3A}</a:tableStyleId>
              </a:tblPr>
              <a:tblGrid>
                <a:gridCol w="1070293">
                  <a:extLst>
                    <a:ext uri="{9D8B030D-6E8A-4147-A177-3AD203B41FA5}">
                      <a16:colId xmlns:a16="http://schemas.microsoft.com/office/drawing/2014/main" val="3253263874"/>
                    </a:ext>
                  </a:extLst>
                </a:gridCol>
                <a:gridCol w="3167380">
                  <a:extLst>
                    <a:ext uri="{9D8B030D-6E8A-4147-A177-3AD203B41FA5}">
                      <a16:colId xmlns:a16="http://schemas.microsoft.com/office/drawing/2014/main" val="34738147"/>
                    </a:ext>
                  </a:extLst>
                </a:gridCol>
                <a:gridCol w="1548130">
                  <a:extLst>
                    <a:ext uri="{9D8B030D-6E8A-4147-A177-3AD203B41FA5}">
                      <a16:colId xmlns:a16="http://schemas.microsoft.com/office/drawing/2014/main" val="1897417261"/>
                    </a:ext>
                  </a:extLst>
                </a:gridCol>
                <a:gridCol w="2472055">
                  <a:extLst>
                    <a:ext uri="{9D8B030D-6E8A-4147-A177-3AD203B41FA5}">
                      <a16:colId xmlns:a16="http://schemas.microsoft.com/office/drawing/2014/main" val="958063964"/>
                    </a:ext>
                  </a:extLst>
                </a:gridCol>
                <a:gridCol w="1508028">
                  <a:extLst>
                    <a:ext uri="{9D8B030D-6E8A-4147-A177-3AD203B41FA5}">
                      <a16:colId xmlns:a16="http://schemas.microsoft.com/office/drawing/2014/main" val="2717268440"/>
                    </a:ext>
                  </a:extLst>
                </a:gridCol>
              </a:tblGrid>
              <a:tr h="431647">
                <a:tc>
                  <a:txBody>
                    <a:bodyPr/>
                    <a:lstStyle/>
                    <a:p>
                      <a:pPr algn="ctr"/>
                      <a:r>
                        <a:rPr lang="en-GB" sz="1100" dirty="0"/>
                        <a:t>Date</a:t>
                      </a:r>
                    </a:p>
                  </a:txBody>
                  <a:tcPr/>
                </a:tc>
                <a:tc>
                  <a:txBody>
                    <a:bodyPr/>
                    <a:lstStyle/>
                    <a:p>
                      <a:pPr algn="ctr"/>
                      <a:r>
                        <a:rPr lang="en-GB" sz="1100" dirty="0"/>
                        <a:t>MSISDN</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GB" sz="1100" dirty="0" err="1"/>
                        <a:t>Prediction_score</a:t>
                      </a:r>
                      <a:endParaRPr lang="en-GB" sz="1100" dirty="0"/>
                    </a:p>
                    <a:p>
                      <a:pPr algn="ctr"/>
                      <a:endParaRPr lang="en-GB" sz="1100" dirty="0"/>
                    </a:p>
                  </a:txBody>
                  <a:tcPr/>
                </a:tc>
                <a:tc>
                  <a:txBody>
                    <a:bodyPr/>
                    <a:lstStyle/>
                    <a:p>
                      <a:pPr algn="ctr"/>
                      <a:r>
                        <a:rPr lang="en-GB" sz="1100" dirty="0" err="1"/>
                        <a:t>Actual_score</a:t>
                      </a:r>
                      <a:r>
                        <a:rPr lang="en-GB" sz="1100" dirty="0"/>
                        <a:t> (after 41 days)</a:t>
                      </a:r>
                    </a:p>
                  </a:txBody>
                  <a:tcPr/>
                </a:tc>
                <a:tc>
                  <a:txBody>
                    <a:bodyPr/>
                    <a:lstStyle/>
                    <a:p>
                      <a:pPr algn="ctr"/>
                      <a:r>
                        <a:rPr lang="en-GB" sz="1100" dirty="0"/>
                        <a:t>Outcome</a:t>
                      </a:r>
                    </a:p>
                  </a:txBody>
                  <a:tcPr/>
                </a:tc>
                <a:extLst>
                  <a:ext uri="{0D108BD9-81ED-4DB2-BD59-A6C34878D82A}">
                    <a16:rowId xmlns:a16="http://schemas.microsoft.com/office/drawing/2014/main" val="67126101"/>
                  </a:ext>
                </a:extLst>
              </a:tr>
              <a:tr h="370840">
                <a:tc>
                  <a:txBody>
                    <a:bodyPr/>
                    <a:lstStyle/>
                    <a:p>
                      <a:pPr algn="ctr"/>
                      <a:r>
                        <a:rPr lang="en-GB" sz="1100" dirty="0"/>
                        <a:t>2021-06-15</a:t>
                      </a:r>
                    </a:p>
                  </a:txBody>
                  <a:tcPr/>
                </a:tc>
                <a:tc>
                  <a:txBody>
                    <a:bodyPr/>
                    <a:lstStyle/>
                    <a:p>
                      <a:pPr algn="ctr"/>
                      <a:r>
                        <a:rPr lang="en-GB" sz="1100" dirty="0"/>
                        <a:t>2D6057B77245579691DABC204DEA0928</a:t>
                      </a:r>
                    </a:p>
                  </a:txBody>
                  <a:tcPr/>
                </a:tc>
                <a:tc>
                  <a:txBody>
                    <a:bodyPr/>
                    <a:lstStyle/>
                    <a:p>
                      <a:pPr algn="ctr"/>
                      <a:r>
                        <a:rPr lang="en-GB" sz="1100" dirty="0"/>
                        <a:t>0</a:t>
                      </a:r>
                    </a:p>
                  </a:txBody>
                  <a:tcPr/>
                </a:tc>
                <a:tc>
                  <a:txBody>
                    <a:bodyPr/>
                    <a:lstStyle/>
                    <a:p>
                      <a:pPr algn="ctr"/>
                      <a:r>
                        <a:rPr lang="en-GB" sz="1100" dirty="0"/>
                        <a:t>0</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GB" sz="1100" dirty="0"/>
                        <a:t>True Negative</a:t>
                      </a:r>
                    </a:p>
                    <a:p>
                      <a:pPr algn="ctr"/>
                      <a:endParaRPr lang="en-GB" sz="1100" dirty="0"/>
                    </a:p>
                  </a:txBody>
                  <a:tcPr/>
                </a:tc>
                <a:extLst>
                  <a:ext uri="{0D108BD9-81ED-4DB2-BD59-A6C34878D82A}">
                    <a16:rowId xmlns:a16="http://schemas.microsoft.com/office/drawing/2014/main" val="2879846194"/>
                  </a:ext>
                </a:extLst>
              </a:tr>
              <a:tr h="370840">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Verdana"/>
                          <a:ea typeface="+mn-ea"/>
                          <a:cs typeface="+mn-cs"/>
                        </a:rPr>
                        <a:t>2021-06-15</a:t>
                      </a:r>
                      <a:endParaRPr kumimoji="0" lang="en-GB" sz="1100" b="0" i="0" u="none" strike="noStrike" kern="1200" cap="none" spc="0" normalizeH="0" baseline="0" noProof="0" dirty="0">
                        <a:ln>
                          <a:noFill/>
                        </a:ln>
                        <a:solidFill>
                          <a:prstClr val="black"/>
                        </a:solidFill>
                        <a:effectLst/>
                        <a:uLnTx/>
                        <a:uFillTx/>
                        <a:latin typeface="Verdana"/>
                        <a:ea typeface="+mn-ea"/>
                        <a:cs typeface="+mn-cs"/>
                      </a:endParaRPr>
                    </a:p>
                  </a:txBody>
                  <a:tcPr/>
                </a:tc>
                <a:tc>
                  <a:txBody>
                    <a:bodyPr/>
                    <a:lstStyle/>
                    <a:p>
                      <a:pPr algn="ctr"/>
                      <a:r>
                        <a:rPr lang="en-GB" sz="1100" dirty="0"/>
                        <a:t>94A41461A7644F8D7607D8D83E83D494</a:t>
                      </a:r>
                    </a:p>
                  </a:txBody>
                  <a:tcPr/>
                </a:tc>
                <a:tc>
                  <a:txBody>
                    <a:bodyPr/>
                    <a:lstStyle/>
                    <a:p>
                      <a:pPr algn="ctr"/>
                      <a:r>
                        <a:rPr lang="en-GB" sz="1100" dirty="0"/>
                        <a:t>0</a:t>
                      </a:r>
                    </a:p>
                  </a:txBody>
                  <a:tcPr/>
                </a:tc>
                <a:tc>
                  <a:txBody>
                    <a:bodyPr/>
                    <a:lstStyle/>
                    <a:p>
                      <a:pPr algn="ctr"/>
                      <a:r>
                        <a:rPr lang="en-GB" sz="1100" dirty="0"/>
                        <a:t>1</a:t>
                      </a:r>
                    </a:p>
                  </a:txBody>
                  <a:tcPr/>
                </a:tc>
                <a:tc>
                  <a:txBody>
                    <a:bodyPr/>
                    <a:lstStyle/>
                    <a:p>
                      <a:pPr algn="ctr"/>
                      <a:r>
                        <a:rPr lang="en-GB" sz="1100" dirty="0"/>
                        <a:t>False Negative</a:t>
                      </a:r>
                    </a:p>
                  </a:txBody>
                  <a:tcPr/>
                </a:tc>
                <a:extLst>
                  <a:ext uri="{0D108BD9-81ED-4DB2-BD59-A6C34878D82A}">
                    <a16:rowId xmlns:a16="http://schemas.microsoft.com/office/drawing/2014/main" val="3747905697"/>
                  </a:ext>
                </a:extLst>
              </a:tr>
              <a:tr h="370840">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Verdana"/>
                          <a:ea typeface="+mn-ea"/>
                          <a:cs typeface="+mn-cs"/>
                        </a:rPr>
                        <a:t>2021-06-15</a:t>
                      </a:r>
                      <a:endParaRPr kumimoji="0" lang="en-GB" sz="1100" b="0" i="0" u="none" strike="noStrike" kern="1200" cap="none" spc="0" normalizeH="0" baseline="0" noProof="0" dirty="0">
                        <a:ln>
                          <a:noFill/>
                        </a:ln>
                        <a:solidFill>
                          <a:prstClr val="black"/>
                        </a:solidFill>
                        <a:effectLst/>
                        <a:uLnTx/>
                        <a:uFillTx/>
                        <a:latin typeface="Verdana"/>
                        <a:ea typeface="+mn-ea"/>
                        <a:cs typeface="+mn-cs"/>
                      </a:endParaRPr>
                    </a:p>
                  </a:txBody>
                  <a:tcPr/>
                </a:tc>
                <a:tc>
                  <a:txBody>
                    <a:bodyPr/>
                    <a:lstStyle/>
                    <a:p>
                      <a:pPr algn="ctr"/>
                      <a:r>
                        <a:rPr lang="en-GB" sz="1100" dirty="0"/>
                        <a:t>8E168A94BAD9C53E7F0FA5DF274140A1</a:t>
                      </a:r>
                    </a:p>
                  </a:txBody>
                  <a:tcPr/>
                </a:tc>
                <a:tc>
                  <a:txBody>
                    <a:bodyPr/>
                    <a:lstStyle/>
                    <a:p>
                      <a:pPr algn="ctr"/>
                      <a:r>
                        <a:rPr lang="en-GB" sz="1100" dirty="0"/>
                        <a:t>1</a:t>
                      </a:r>
                    </a:p>
                  </a:txBody>
                  <a:tcPr/>
                </a:tc>
                <a:tc>
                  <a:txBody>
                    <a:bodyPr/>
                    <a:lstStyle/>
                    <a:p>
                      <a:pPr algn="ctr"/>
                      <a:r>
                        <a:rPr lang="en-GB" sz="1100" dirty="0"/>
                        <a:t>0</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GB" sz="1100" dirty="0"/>
                        <a:t>False Positive</a:t>
                      </a:r>
                    </a:p>
                    <a:p>
                      <a:pPr algn="ctr"/>
                      <a:endParaRPr lang="en-GB" sz="1100" dirty="0"/>
                    </a:p>
                  </a:txBody>
                  <a:tcPr/>
                </a:tc>
                <a:extLst>
                  <a:ext uri="{0D108BD9-81ED-4DB2-BD59-A6C34878D82A}">
                    <a16:rowId xmlns:a16="http://schemas.microsoft.com/office/drawing/2014/main" val="323904698"/>
                  </a:ext>
                </a:extLst>
              </a:tr>
              <a:tr h="370840">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Verdana"/>
                          <a:ea typeface="+mn-ea"/>
                          <a:cs typeface="+mn-cs"/>
                        </a:rPr>
                        <a:t>2021-06-15</a:t>
                      </a:r>
                      <a:endParaRPr kumimoji="0" lang="en-GB" sz="1100" b="0" i="0" u="none" strike="noStrike" kern="1200" cap="none" spc="0" normalizeH="0" baseline="0" noProof="0" dirty="0">
                        <a:ln>
                          <a:noFill/>
                        </a:ln>
                        <a:solidFill>
                          <a:prstClr val="black"/>
                        </a:solidFill>
                        <a:effectLst/>
                        <a:uLnTx/>
                        <a:uFillTx/>
                        <a:latin typeface="Verdana"/>
                        <a:ea typeface="+mn-ea"/>
                        <a:cs typeface="+mn-cs"/>
                      </a:endParaRPr>
                    </a:p>
                  </a:txBody>
                  <a:tcPr/>
                </a:tc>
                <a:tc>
                  <a:txBody>
                    <a:bodyPr/>
                    <a:lstStyle/>
                    <a:p>
                      <a:pPr algn="ctr"/>
                      <a:r>
                        <a:rPr lang="en-GB" sz="1100" dirty="0"/>
                        <a:t>22FF2E086D8E17DCD0491E024E25752A</a:t>
                      </a:r>
                    </a:p>
                  </a:txBody>
                  <a:tcPr/>
                </a:tc>
                <a:tc>
                  <a:txBody>
                    <a:bodyPr/>
                    <a:lstStyle/>
                    <a:p>
                      <a:pPr algn="ctr"/>
                      <a:r>
                        <a:rPr lang="en-GB" sz="1100" dirty="0"/>
                        <a:t>1</a:t>
                      </a:r>
                    </a:p>
                  </a:txBody>
                  <a:tcPr/>
                </a:tc>
                <a:tc>
                  <a:txBody>
                    <a:bodyPr/>
                    <a:lstStyle/>
                    <a:p>
                      <a:pPr algn="ctr"/>
                      <a:r>
                        <a:rPr lang="en-GB" sz="1100" dirty="0"/>
                        <a:t>1</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GB" sz="1100" dirty="0"/>
                        <a:t>True Positive</a:t>
                      </a:r>
                    </a:p>
                  </a:txBody>
                  <a:tcPr/>
                </a:tc>
                <a:extLst>
                  <a:ext uri="{0D108BD9-81ED-4DB2-BD59-A6C34878D82A}">
                    <a16:rowId xmlns:a16="http://schemas.microsoft.com/office/drawing/2014/main" val="4155086260"/>
                  </a:ext>
                </a:extLst>
              </a:tr>
              <a:tr h="370840">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Verdana"/>
                          <a:ea typeface="+mn-ea"/>
                          <a:cs typeface="+mn-cs"/>
                        </a:rPr>
                        <a:t>2021-06-15</a:t>
                      </a:r>
                      <a:endParaRPr kumimoji="0" lang="en-GB" sz="1100" b="0" i="0" u="none" strike="noStrike" kern="1200" cap="none" spc="0" normalizeH="0" baseline="0" noProof="0" dirty="0">
                        <a:ln>
                          <a:noFill/>
                        </a:ln>
                        <a:solidFill>
                          <a:prstClr val="black"/>
                        </a:solidFill>
                        <a:effectLst/>
                        <a:uLnTx/>
                        <a:uFillTx/>
                        <a:latin typeface="Verdana"/>
                        <a:ea typeface="+mn-ea"/>
                        <a:cs typeface="+mn-cs"/>
                      </a:endParaRPr>
                    </a:p>
                  </a:txBody>
                  <a:tcPr/>
                </a:tc>
                <a:tc>
                  <a:txBody>
                    <a:bodyPr/>
                    <a:lstStyle/>
                    <a:p>
                      <a:pPr algn="ctr"/>
                      <a:r>
                        <a:rPr lang="en-GB" sz="1100" dirty="0"/>
                        <a:t>E51FD528AE18E1223B47F7142B147CF1</a:t>
                      </a:r>
                    </a:p>
                  </a:txBody>
                  <a:tcPr/>
                </a:tc>
                <a:tc>
                  <a:txBody>
                    <a:bodyPr/>
                    <a:lstStyle/>
                    <a:p>
                      <a:pPr algn="ctr"/>
                      <a:r>
                        <a:rPr lang="en-GB" sz="1100" dirty="0"/>
                        <a:t>1</a:t>
                      </a:r>
                    </a:p>
                  </a:txBody>
                  <a:tcPr/>
                </a:tc>
                <a:tc>
                  <a:txBody>
                    <a:bodyPr/>
                    <a:lstStyle/>
                    <a:p>
                      <a:pPr algn="ctr"/>
                      <a:r>
                        <a:rPr lang="en-GB" sz="1100" dirty="0"/>
                        <a:t>0</a:t>
                      </a:r>
                    </a:p>
                  </a:txBody>
                  <a:tcPr/>
                </a:tc>
                <a:tc>
                  <a:txBody>
                    <a:bodyPr/>
                    <a:lstStyle/>
                    <a:p>
                      <a:pPr algn="ctr"/>
                      <a:r>
                        <a:rPr lang="en-GB" sz="1100" dirty="0"/>
                        <a:t>False Positive</a:t>
                      </a:r>
                    </a:p>
                  </a:txBody>
                  <a:tcPr/>
                </a:tc>
                <a:extLst>
                  <a:ext uri="{0D108BD9-81ED-4DB2-BD59-A6C34878D82A}">
                    <a16:rowId xmlns:a16="http://schemas.microsoft.com/office/drawing/2014/main" val="1751331185"/>
                  </a:ext>
                </a:extLst>
              </a:tr>
              <a:tr h="370840">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Verdana"/>
                          <a:ea typeface="+mn-ea"/>
                          <a:cs typeface="+mn-cs"/>
                        </a:rPr>
                        <a:t>2021-06-15</a:t>
                      </a:r>
                      <a:endParaRPr kumimoji="0" lang="en-GB" sz="1100" b="0" i="0" u="none" strike="noStrike" kern="1200" cap="none" spc="0" normalizeH="0" baseline="0" noProof="0" dirty="0">
                        <a:ln>
                          <a:noFill/>
                        </a:ln>
                        <a:solidFill>
                          <a:prstClr val="black"/>
                        </a:solidFill>
                        <a:effectLst/>
                        <a:uLnTx/>
                        <a:uFillTx/>
                        <a:latin typeface="Verdana"/>
                        <a:ea typeface="+mn-ea"/>
                        <a:cs typeface="+mn-cs"/>
                      </a:endParaRPr>
                    </a:p>
                  </a:txBody>
                  <a:tcPr/>
                </a:tc>
                <a:tc>
                  <a:txBody>
                    <a:bodyPr/>
                    <a:lstStyle/>
                    <a:p>
                      <a:pPr algn="ctr"/>
                      <a:r>
                        <a:rPr lang="en-GB" sz="1100" dirty="0"/>
                        <a:t>3F3016077B29CCF0A843A3E0A6C60C7B</a:t>
                      </a:r>
                    </a:p>
                  </a:txBody>
                  <a:tcPr/>
                </a:tc>
                <a:tc>
                  <a:txBody>
                    <a:bodyPr/>
                    <a:lstStyle/>
                    <a:p>
                      <a:pPr algn="ctr"/>
                      <a:r>
                        <a:rPr lang="en-GB" sz="1100" dirty="0"/>
                        <a:t>0</a:t>
                      </a:r>
                    </a:p>
                  </a:txBody>
                  <a:tcPr/>
                </a:tc>
                <a:tc>
                  <a:txBody>
                    <a:bodyPr/>
                    <a:lstStyle/>
                    <a:p>
                      <a:pPr algn="ctr"/>
                      <a:r>
                        <a:rPr lang="en-GB" sz="1100" dirty="0"/>
                        <a:t>1</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GB" sz="1100" dirty="0"/>
                        <a:t>False Negative</a:t>
                      </a:r>
                    </a:p>
                    <a:p>
                      <a:pPr algn="ctr"/>
                      <a:endParaRPr lang="en-GB" sz="1100" dirty="0"/>
                    </a:p>
                  </a:txBody>
                  <a:tcPr/>
                </a:tc>
                <a:extLst>
                  <a:ext uri="{0D108BD9-81ED-4DB2-BD59-A6C34878D82A}">
                    <a16:rowId xmlns:a16="http://schemas.microsoft.com/office/drawing/2014/main" val="491153359"/>
                  </a:ext>
                </a:extLst>
              </a:tr>
              <a:tr h="370840">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Verdana"/>
                          <a:ea typeface="+mn-ea"/>
                          <a:cs typeface="+mn-cs"/>
                        </a:rPr>
                        <a:t>2021-06-15</a:t>
                      </a:r>
                    </a:p>
                  </a:txBody>
                  <a:tcPr/>
                </a:tc>
                <a:tc>
                  <a:txBody>
                    <a:bodyPr/>
                    <a:lstStyle/>
                    <a:p>
                      <a:pPr algn="ctr"/>
                      <a:r>
                        <a:rPr lang="en-GB" sz="1100" dirty="0"/>
                        <a:t>BC13DC7938931D2BEC696156E3EB167A</a:t>
                      </a:r>
                    </a:p>
                  </a:txBody>
                  <a:tcPr/>
                </a:tc>
                <a:tc>
                  <a:txBody>
                    <a:bodyPr/>
                    <a:lstStyle/>
                    <a:p>
                      <a:pPr algn="ctr"/>
                      <a:r>
                        <a:rPr lang="en-GB" sz="1100" dirty="0"/>
                        <a:t>0</a:t>
                      </a:r>
                    </a:p>
                  </a:txBody>
                  <a:tcPr/>
                </a:tc>
                <a:tc>
                  <a:txBody>
                    <a:bodyPr/>
                    <a:lstStyle/>
                    <a:p>
                      <a:pPr algn="ctr"/>
                      <a:r>
                        <a:rPr lang="en-GB" sz="1100" dirty="0"/>
                        <a:t>0</a:t>
                      </a:r>
                    </a:p>
                  </a:txBody>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GB" sz="1100" dirty="0"/>
                        <a:t>True Negative</a:t>
                      </a:r>
                    </a:p>
                  </a:txBody>
                  <a:tcPr/>
                </a:tc>
                <a:extLst>
                  <a:ext uri="{0D108BD9-81ED-4DB2-BD59-A6C34878D82A}">
                    <a16:rowId xmlns:a16="http://schemas.microsoft.com/office/drawing/2014/main" val="3544361117"/>
                  </a:ext>
                </a:extLst>
              </a:tr>
            </a:tbl>
          </a:graphicData>
        </a:graphic>
      </p:graphicFrame>
      <p:sp>
        <p:nvSpPr>
          <p:cNvPr id="6" name="TextBox 5">
            <a:extLst>
              <a:ext uri="{FF2B5EF4-FFF2-40B4-BE49-F238E27FC236}">
                <a16:creationId xmlns:a16="http://schemas.microsoft.com/office/drawing/2014/main" id="{901F6007-2C4B-4721-A2B6-FAA2E1DF1B01}"/>
              </a:ext>
            </a:extLst>
          </p:cNvPr>
          <p:cNvSpPr txBox="1"/>
          <p:nvPr/>
        </p:nvSpPr>
        <p:spPr>
          <a:xfrm>
            <a:off x="1034473" y="4498109"/>
            <a:ext cx="10199995" cy="1384995"/>
          </a:xfrm>
          <a:prstGeom prst="rect">
            <a:avLst/>
          </a:prstGeom>
          <a:noFill/>
        </p:spPr>
        <p:txBody>
          <a:bodyPr wrap="square" lIns="0" tIns="0" rIns="0" bIns="0" rtlCol="0">
            <a:spAutoFit/>
          </a:bodyPr>
          <a:lstStyle/>
          <a:p>
            <a:pPr marL="342900" indent="-342900">
              <a:spcBef>
                <a:spcPts val="600"/>
              </a:spcBef>
              <a:buSzPct val="100000"/>
              <a:buFont typeface="+mj-lt"/>
              <a:buAutoNum type="arabicPeriod"/>
            </a:pPr>
            <a:r>
              <a:rPr lang="en-GB" sz="1400" dirty="0">
                <a:solidFill>
                  <a:srgbClr val="313131"/>
                </a:solidFill>
              </a:rPr>
              <a:t>Date : It is the model prediction date</a:t>
            </a:r>
          </a:p>
          <a:p>
            <a:pPr marL="342900" indent="-342900">
              <a:spcBef>
                <a:spcPts val="600"/>
              </a:spcBef>
              <a:buSzPct val="100000"/>
              <a:buFont typeface="+mj-lt"/>
              <a:buAutoNum type="arabicPeriod"/>
            </a:pPr>
            <a:r>
              <a:rPr lang="en-GB" sz="1400" dirty="0">
                <a:solidFill>
                  <a:srgbClr val="313131"/>
                </a:solidFill>
              </a:rPr>
              <a:t>MSISDN : Subscriber’s hashed MSISDN</a:t>
            </a:r>
          </a:p>
          <a:p>
            <a:pPr marL="342900" indent="-342900">
              <a:spcBef>
                <a:spcPts val="600"/>
              </a:spcBef>
              <a:buSzPct val="100000"/>
              <a:buFont typeface="+mj-lt"/>
              <a:buAutoNum type="arabicPeriod"/>
            </a:pPr>
            <a:r>
              <a:rPr lang="en-GB" sz="1400" dirty="0">
                <a:solidFill>
                  <a:srgbClr val="313131"/>
                </a:solidFill>
              </a:rPr>
              <a:t>Prediction score: Output of the model based on inactive churn prediction probability  </a:t>
            </a:r>
          </a:p>
          <a:p>
            <a:pPr marL="342900" indent="-342900">
              <a:spcBef>
                <a:spcPts val="600"/>
              </a:spcBef>
              <a:buSzPct val="100000"/>
              <a:buFont typeface="+mj-lt"/>
              <a:buAutoNum type="arabicPeriod"/>
            </a:pPr>
            <a:r>
              <a:rPr lang="en-GB" sz="1400" dirty="0">
                <a:solidFill>
                  <a:srgbClr val="313131"/>
                </a:solidFill>
              </a:rPr>
              <a:t>Actual Score : Actual status of the subscriber after 41</a:t>
            </a:r>
            <a:r>
              <a:rPr lang="en-GB" sz="1400" baseline="30000" dirty="0">
                <a:solidFill>
                  <a:srgbClr val="313131"/>
                </a:solidFill>
              </a:rPr>
              <a:t>st</a:t>
            </a:r>
            <a:r>
              <a:rPr lang="en-GB" sz="1400" dirty="0">
                <a:solidFill>
                  <a:srgbClr val="313131"/>
                </a:solidFill>
              </a:rPr>
              <a:t> day</a:t>
            </a:r>
          </a:p>
          <a:p>
            <a:pPr marL="342900" indent="-342900">
              <a:spcBef>
                <a:spcPts val="600"/>
              </a:spcBef>
              <a:buSzPct val="100000"/>
              <a:buFont typeface="+mj-lt"/>
              <a:buAutoNum type="arabicPeriod"/>
            </a:pPr>
            <a:r>
              <a:rPr lang="en-GB" sz="1400" dirty="0">
                <a:solidFill>
                  <a:srgbClr val="313131"/>
                </a:solidFill>
              </a:rPr>
              <a:t>Outcome: Comparison of the actual and the prediction score on which the performance will be measured.</a:t>
            </a:r>
          </a:p>
        </p:txBody>
      </p:sp>
    </p:spTree>
    <p:extLst>
      <p:ext uri="{BB962C8B-B14F-4D97-AF65-F5344CB8AC3E}">
        <p14:creationId xmlns:p14="http://schemas.microsoft.com/office/powerpoint/2010/main" val="3085405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4">
            <a:extLst>
              <a:ext uri="{FF2B5EF4-FFF2-40B4-BE49-F238E27FC236}">
                <a16:creationId xmlns:a16="http://schemas.microsoft.com/office/drawing/2014/main" id="{8B78CF46-EBC7-4EA3-ACC1-20B299DAEF85}"/>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0"/>
            <a:ext cx="9698804" cy="6857997"/>
          </a:xfrm>
          <a:prstGeom prst="rect">
            <a:avLst/>
          </a:prstGeom>
        </p:spPr>
      </p:pic>
      <p:sp>
        <p:nvSpPr>
          <p:cNvPr id="8" name="标题 3"/>
          <p:cNvSpPr>
            <a:spLocks noGrp="1"/>
          </p:cNvSpPr>
          <p:nvPr>
            <p:ph type="title"/>
          </p:nvPr>
        </p:nvSpPr>
        <p:spPr>
          <a:xfrm>
            <a:off x="7915275" y="2"/>
            <a:ext cx="4276725" cy="6857997"/>
          </a:xfrm>
          <a:solidFill>
            <a:schemeClr val="tx1"/>
          </a:solidFill>
        </p:spPr>
        <p:txBody>
          <a:bodyPr anchor="ctr" anchorCtr="0"/>
          <a:lstStyle/>
          <a:p>
            <a:pPr algn="ctr"/>
            <a:r>
              <a:rPr lang="en-US" sz="2400" dirty="0">
                <a:solidFill>
                  <a:schemeClr val="bg1"/>
                </a:solidFill>
              </a:rPr>
              <a:t>Thank you</a:t>
            </a:r>
            <a:endParaRPr lang="en-US" sz="2800" dirty="0">
              <a:solidFill>
                <a:schemeClr val="bg1"/>
              </a:solidFill>
              <a:latin typeface="+mn-lt"/>
              <a:cs typeface="Calibri" panose="020F0502020204030204" pitchFamily="34" charset="0"/>
            </a:endParaRPr>
          </a:p>
        </p:txBody>
      </p:sp>
      <p:cxnSp>
        <p:nvCxnSpPr>
          <p:cNvPr id="5" name="Straight Connector 4">
            <a:extLst>
              <a:ext uri="{FF2B5EF4-FFF2-40B4-BE49-F238E27FC236}">
                <a16:creationId xmlns:a16="http://schemas.microsoft.com/office/drawing/2014/main" id="{B9F93C75-99B5-4EC7-91A1-BB89496D4733}"/>
              </a:ext>
            </a:extLst>
          </p:cNvPr>
          <p:cNvCxnSpPr>
            <a:cxnSpLocks/>
          </p:cNvCxnSpPr>
          <p:nvPr/>
        </p:nvCxnSpPr>
        <p:spPr>
          <a:xfrm>
            <a:off x="8554021" y="4315968"/>
            <a:ext cx="2999232" cy="18288"/>
          </a:xfrm>
          <a:prstGeom prst="line">
            <a:avLst/>
          </a:prstGeom>
          <a:noFill/>
          <a:ln w="57150" cap="flat" cmpd="sng" algn="ctr">
            <a:solidFill>
              <a:schemeClr val="accent1"/>
            </a:solidFill>
            <a:prstDash val="solid"/>
            <a:miter lim="800000"/>
          </a:ln>
          <a:effectLst/>
        </p:spPr>
      </p:cxnSp>
    </p:spTree>
    <p:extLst>
      <p:ext uri="{BB962C8B-B14F-4D97-AF65-F5344CB8AC3E}">
        <p14:creationId xmlns:p14="http://schemas.microsoft.com/office/powerpoint/2010/main" val="171647897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a:noAutofit/>
          </a:bodyPr>
          <a:lstStyle/>
          <a:p>
            <a:r>
              <a:rPr lang="en-US"/>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r>
              <a:rPr lang="en-US" dirty="0"/>
              <a:t>.</a:t>
            </a:r>
          </a:p>
          <a:p>
            <a:r>
              <a:rPr lang="en-US"/>
              <a:t>This material has been prepared by Deloitte Touche Tohmatsu India LLP (“DTTILLP”), a member of Deloitte Touche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r>
              <a:rPr lang="en-US" dirty="0"/>
              <a:t>.</a:t>
            </a:r>
          </a:p>
          <a:p>
            <a:r>
              <a:rPr lang="en-US"/>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r>
              <a:rPr lang="en-US" dirty="0"/>
              <a:t>.</a:t>
            </a:r>
          </a:p>
          <a:p>
            <a:r>
              <a:rPr lang="en-US"/>
              <a:t>©2017 Deloitte Touche Tohmatsu India LLP. Member of Deloitte Touche Tohmatsu Limited</a:t>
            </a:r>
            <a:endParaRPr lang="en-US" dirty="0"/>
          </a:p>
          <a:p>
            <a:r>
              <a:rPr lang="en-US"/>
              <a:t>Deloitte Touche Tohmatsu India Private Limited (U74140MH199 5PTC093339), a private company limited by shares, was converted into Deloitte Touche Tohmatsu India LLP, a limited liability partnership (LLP Identification No. AAE-8458),with effect from October 1, 2015</a:t>
            </a:r>
            <a:r>
              <a:rPr lang="en-US" dirty="0"/>
              <a:t>.</a:t>
            </a:r>
          </a:p>
        </p:txBody>
      </p:sp>
      <p:sp>
        <p:nvSpPr>
          <p:cNvPr id="2" name="TextBox 1"/>
          <p:cNvSpPr txBox="1"/>
          <p:nvPr/>
        </p:nvSpPr>
        <p:spPr>
          <a:xfrm>
            <a:off x="501652" y="1664898"/>
            <a:ext cx="2682815" cy="36933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800" b="0" i="0" u="none" strike="noStrike" kern="1200" cap="none" spc="0" normalizeH="0" baseline="0" noProof="0">
                <a:ln>
                  <a:noFill/>
                </a:ln>
                <a:solidFill>
                  <a:srgbClr val="313131"/>
                </a:solidFill>
                <a:effectLst/>
                <a:uLnTx/>
                <a:uFillTx/>
                <a:latin typeface="Verdana"/>
                <a:ea typeface="+mn-ea"/>
                <a:cs typeface="+mn-cs"/>
              </a:rPr>
              <a:t>Thank you</a:t>
            </a:r>
            <a:endParaRPr kumimoji="0" lang="en-IN" sz="1800" b="0" i="0" u="none" strike="noStrike" kern="1200" cap="none" spc="0" normalizeH="0" baseline="0" noProof="0" dirty="0">
              <a:ln>
                <a:noFill/>
              </a:ln>
              <a:solidFill>
                <a:srgbClr val="313131"/>
              </a:solidFill>
              <a:effectLst/>
              <a:uLnTx/>
              <a:uFillTx/>
              <a:latin typeface="Verdana"/>
              <a:ea typeface="+mn-ea"/>
              <a:cs typeface="+mn-cs"/>
            </a:endParaRPr>
          </a:p>
        </p:txBody>
      </p:sp>
    </p:spTree>
    <p:extLst>
      <p:ext uri="{BB962C8B-B14F-4D97-AF65-F5344CB8AC3E}">
        <p14:creationId xmlns:p14="http://schemas.microsoft.com/office/powerpoint/2010/main" val="1776467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Deloitte_US_Onscreen">
  <a:themeElements>
    <a:clrScheme name="Deloitte colors">
      <a:dk1>
        <a:sysClr val="windowText" lastClr="000000"/>
      </a:dk1>
      <a:lt1>
        <a:sysClr val="window" lastClr="FFFFFF"/>
      </a:lt1>
      <a:dk2>
        <a:srgbClr val="44546A"/>
      </a:dk2>
      <a:lt2>
        <a:srgbClr val="E7E6E6"/>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extLst>
    <a:ext uri="{05A4C25C-085E-4340-85A3-A5531E510DB2}">
      <thm15:themeFamily xmlns:thm15="http://schemas.microsoft.com/office/thememl/2012/main" name="Presentation3" id="{B6131D4A-6D06-A545-84A0-5EA998671E86}" vid="{BE248F2D-C897-7A4C-A651-C1F199A639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24248</TotalTime>
  <Words>605</Words>
  <Application>Microsoft Office PowerPoint</Application>
  <PresentationFormat>Widescreen</PresentationFormat>
  <Paragraphs>83</Paragraphs>
  <Slides>5</Slides>
  <Notes>2</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5</vt:i4>
      </vt:variant>
    </vt:vector>
  </HeadingPairs>
  <TitlesOfParts>
    <vt:vector size="14" baseType="lpstr">
      <vt:lpstr>Arial</vt:lpstr>
      <vt:lpstr>Calibri</vt:lpstr>
      <vt:lpstr>Trebuchet MS</vt:lpstr>
      <vt:lpstr>Univers for KPMG</vt:lpstr>
      <vt:lpstr>Univers for KPMG Light</vt:lpstr>
      <vt:lpstr>Verdana</vt:lpstr>
      <vt:lpstr>Wingdings 2</vt:lpstr>
      <vt:lpstr>1_Deloitte_US_Onscreen</vt:lpstr>
      <vt:lpstr>think-cell Slide</vt:lpstr>
      <vt:lpstr>MTN 30 days Inactivity Churn : Model Monitoring  </vt:lpstr>
      <vt:lpstr>Model Monitoring Process</vt:lpstr>
      <vt:lpstr>Model Monitoring Process</vt:lpstr>
      <vt:lpstr>Thank you</vt:lpstr>
      <vt:lpstr>PowerPoint Presentation</vt:lpstr>
    </vt:vector>
  </TitlesOfParts>
  <Company>Deloitte Touche Tohmatsu Services,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Rastogi, Varun (IN - Delhi)</dc:creator>
  <cp:lastModifiedBy>Shahrukh, Mohammad</cp:lastModifiedBy>
  <cp:revision>2000</cp:revision>
  <dcterms:created xsi:type="dcterms:W3CDTF">2018-05-01T04:23:00Z</dcterms:created>
  <dcterms:modified xsi:type="dcterms:W3CDTF">2021-10-29T09:07:36Z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2021-09-30T04:24:14Z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d3082676-072d-46c2-8cee-1e6cb8b6c438</vt:lpwstr>
  </property>
  <property fmtid="{D5CDD505-2E9C-101B-9397-08002B2CF9AE}" pid="8" name="MSIP_Label_ea60d57e-af5b-4752-ac57-3e4f28ca11dc_ContentBits">
    <vt:lpwstr>0</vt:lpwstr>
  </property>
</Properties>
</file>