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7" r:id="rId2"/>
    <p:sldId id="288" r:id="rId3"/>
    <p:sldId id="305" r:id="rId4"/>
    <p:sldId id="306" r:id="rId5"/>
    <p:sldId id="261" r:id="rId6"/>
    <p:sldId id="317" r:id="rId7"/>
    <p:sldId id="379" r:id="rId8"/>
    <p:sldId id="285" r:id="rId9"/>
    <p:sldId id="375" r:id="rId10"/>
    <p:sldId id="318" r:id="rId11"/>
    <p:sldId id="372" r:id="rId12"/>
    <p:sldId id="329" r:id="rId13"/>
    <p:sldId id="381" r:id="rId14"/>
    <p:sldId id="377" r:id="rId15"/>
    <p:sldId id="378"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7D33"/>
    <a:srgbClr val="EDF4E8"/>
    <a:srgbClr val="D9E7CD"/>
    <a:srgbClr val="009A44"/>
    <a:srgbClr val="DA291C"/>
    <a:srgbClr val="575757"/>
    <a:srgbClr val="F586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62" d="100"/>
          <a:sy n="62" d="100"/>
        </p:scale>
        <p:origin x="8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600" dirty="0"/>
              <a:t>Base distribution</a:t>
            </a:r>
            <a:r>
              <a:rPr lang="en-US" sz="1600" baseline="0" dirty="0"/>
              <a:t> across Train, Test &amp; OOT datasets</a:t>
            </a:r>
            <a:endParaRPr lang="en-US" sz="1600"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Active</c:v>
                </c:pt>
              </c:strCache>
            </c:strRef>
          </c:tx>
          <c:spPr>
            <a:solidFill>
              <a:schemeClr val="accent1"/>
            </a:solidFill>
            <a:ln>
              <a:solidFill>
                <a:schemeClr val="accent1">
                  <a:lumMod val="50000"/>
                </a:schemeClr>
              </a:solidFill>
            </a:ln>
            <a:effectLst/>
          </c:spPr>
          <c:invertIfNegative val="0"/>
          <c:cat>
            <c:strRef>
              <c:f>Sheet1!$A$2:$A$4</c:f>
              <c:strCache>
                <c:ptCount val="3"/>
                <c:pt idx="0">
                  <c:v>Train</c:v>
                </c:pt>
                <c:pt idx="1">
                  <c:v>Test</c:v>
                </c:pt>
                <c:pt idx="2">
                  <c:v>OOT</c:v>
                </c:pt>
              </c:strCache>
            </c:strRef>
          </c:cat>
          <c:val>
            <c:numRef>
              <c:f>Sheet1!$B$2:$B$4</c:f>
              <c:numCache>
                <c:formatCode>#,##0</c:formatCode>
                <c:ptCount val="3"/>
                <c:pt idx="0">
                  <c:v>3083330</c:v>
                </c:pt>
                <c:pt idx="1">
                  <c:v>2054596</c:v>
                </c:pt>
                <c:pt idx="2">
                  <c:v>5310509</c:v>
                </c:pt>
              </c:numCache>
            </c:numRef>
          </c:val>
          <c:extLst>
            <c:ext xmlns:c16="http://schemas.microsoft.com/office/drawing/2014/chart" uri="{C3380CC4-5D6E-409C-BE32-E72D297353CC}">
              <c16:uniqueId val="{00000000-50F9-4A6B-8D73-09724980F00E}"/>
            </c:ext>
          </c:extLst>
        </c:ser>
        <c:ser>
          <c:idx val="1"/>
          <c:order val="1"/>
          <c:tx>
            <c:strRef>
              <c:f>Sheet1!$C$1</c:f>
              <c:strCache>
                <c:ptCount val="1"/>
                <c:pt idx="0">
                  <c:v>Inactivity Churn</c:v>
                </c:pt>
              </c:strCache>
            </c:strRef>
          </c:tx>
          <c:spPr>
            <a:solidFill>
              <a:schemeClr val="accent2"/>
            </a:solidFill>
            <a:ln>
              <a:solidFill>
                <a:schemeClr val="accent1">
                  <a:lumMod val="50000"/>
                </a:schemeClr>
              </a:solidFill>
            </a:ln>
            <a:effectLst/>
          </c:spPr>
          <c:invertIfNegative val="0"/>
          <c:cat>
            <c:strRef>
              <c:f>Sheet1!$A$2:$A$4</c:f>
              <c:strCache>
                <c:ptCount val="3"/>
                <c:pt idx="0">
                  <c:v>Train</c:v>
                </c:pt>
                <c:pt idx="1">
                  <c:v>Test</c:v>
                </c:pt>
                <c:pt idx="2">
                  <c:v>OOT</c:v>
                </c:pt>
              </c:strCache>
            </c:strRef>
          </c:cat>
          <c:val>
            <c:numRef>
              <c:f>Sheet1!$C$2:$C$4</c:f>
              <c:numCache>
                <c:formatCode>#,##0</c:formatCode>
                <c:ptCount val="3"/>
                <c:pt idx="0">
                  <c:v>337074</c:v>
                </c:pt>
                <c:pt idx="1">
                  <c:v>225674</c:v>
                </c:pt>
                <c:pt idx="2">
                  <c:v>577741</c:v>
                </c:pt>
              </c:numCache>
            </c:numRef>
          </c:val>
          <c:extLst>
            <c:ext xmlns:c16="http://schemas.microsoft.com/office/drawing/2014/chart" uri="{C3380CC4-5D6E-409C-BE32-E72D297353CC}">
              <c16:uniqueId val="{00000001-50F9-4A6B-8D73-09724980F00E}"/>
            </c:ext>
          </c:extLst>
        </c:ser>
        <c:dLbls>
          <c:showLegendKey val="0"/>
          <c:showVal val="0"/>
          <c:showCatName val="0"/>
          <c:showSerName val="0"/>
          <c:showPercent val="0"/>
          <c:showBubbleSize val="0"/>
        </c:dLbls>
        <c:gapWidth val="150"/>
        <c:overlap val="100"/>
        <c:axId val="1046704448"/>
        <c:axId val="1287021776"/>
      </c:barChart>
      <c:catAx>
        <c:axId val="1046704448"/>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Subscriber Count</a:t>
                </a:r>
              </a:p>
            </c:rich>
          </c:tx>
          <c:layout>
            <c:manualLayout>
              <c:xMode val="edge"/>
              <c:yMode val="edge"/>
              <c:x val="0.41868757990723932"/>
              <c:y val="0.94193110828030335"/>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87021776"/>
        <c:crosses val="autoZero"/>
        <c:auto val="1"/>
        <c:lblAlgn val="ctr"/>
        <c:lblOffset val="100"/>
        <c:noMultiLvlLbl val="0"/>
      </c:catAx>
      <c:valAx>
        <c:axId val="12870217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No of Subscribers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46704448"/>
        <c:crosses val="autoZero"/>
        <c:crossBetween val="between"/>
        <c:dispUnits>
          <c:builtInUnit val="millions"/>
          <c:dispUnitsLbl>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dispUnitsLbl>
        </c:dispUnits>
      </c:valAx>
      <c:dTable>
        <c:showHorzBorder val="1"/>
        <c:showVertBorder val="1"/>
        <c:showOutline val="1"/>
        <c:showKeys val="1"/>
        <c:spPr>
          <a:noFill/>
          <a:ln w="9525" cap="flat" cmpd="sng" algn="ctr">
            <a:solidFill>
              <a:srgbClr val="377D33"/>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lang="en-US" sz="1000" b="0" i="0" u="none" strike="noStrike" kern="1200" spc="0" baseline="0" dirty="0" smtClean="0">
                <a:solidFill>
                  <a:prstClr val="black">
                    <a:lumMod val="65000"/>
                    <a:lumOff val="35000"/>
                  </a:prstClr>
                </a:solidFill>
                <a:latin typeface="+mn-lt"/>
                <a:ea typeface="+mn-ea"/>
                <a:cs typeface="+mn-cs"/>
              </a:defRPr>
            </a:pPr>
            <a:r>
              <a:rPr lang="en-US" sz="1000" b="0" i="0" u="none" strike="noStrike" kern="1200" spc="0" baseline="0" dirty="0">
                <a:solidFill>
                  <a:prstClr val="black">
                    <a:lumMod val="65000"/>
                    <a:lumOff val="35000"/>
                  </a:prstClr>
                </a:solidFill>
                <a:latin typeface="+mn-lt"/>
                <a:ea typeface="+mn-ea"/>
                <a:cs typeface="+mn-cs"/>
              </a:rPr>
              <a:t>Average of 28 days revenue generation event</a:t>
            </a:r>
          </a:p>
        </c:rich>
      </c:tx>
      <c:overlay val="0"/>
      <c:spPr>
        <a:noFill/>
        <a:ln>
          <a:noFill/>
        </a:ln>
        <a:effectLst/>
      </c:spPr>
      <c:txPr>
        <a:bodyPr rot="0" spcFirstLastPara="1" vertOverflow="ellipsis" vert="horz" wrap="square" anchor="ctr" anchorCtr="1"/>
        <a:lstStyle/>
        <a:p>
          <a:pPr>
            <a:defRPr lang="en-US" sz="1000" b="0" i="0" u="none" strike="noStrike" kern="1200" spc="0" baseline="0" dirty="0" smtClean="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4.8975104090895706E-2"/>
          <c:y val="0.17963542709771721"/>
          <c:w val="0.91702758892413005"/>
          <c:h val="0.54039429810229545"/>
        </c:manualLayout>
      </c:layout>
      <c:barChart>
        <c:barDir val="col"/>
        <c:grouping val="clustered"/>
        <c:varyColors val="0"/>
        <c:ser>
          <c:idx val="0"/>
          <c:order val="0"/>
          <c:tx>
            <c:strRef>
              <c:f>Sheet1!$B$1</c:f>
              <c:strCache>
                <c:ptCount val="1"/>
                <c:pt idx="0">
                  <c:v>Series 1</c:v>
                </c:pt>
              </c:strCache>
            </c:strRef>
          </c:tx>
          <c:spPr>
            <a:solidFill>
              <a:srgbClr val="00B050"/>
            </a:solidFill>
            <a:ln>
              <a:solidFill>
                <a:srgbClr val="00B05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Decile 1</c:v>
                </c:pt>
                <c:pt idx="1">
                  <c:v>Decile 2</c:v>
                </c:pt>
                <c:pt idx="2">
                  <c:v>Decile 3</c:v>
                </c:pt>
                <c:pt idx="3">
                  <c:v>Decile 4</c:v>
                </c:pt>
                <c:pt idx="4">
                  <c:v>Decile 5</c:v>
                </c:pt>
                <c:pt idx="5">
                  <c:v>Decile 6</c:v>
                </c:pt>
                <c:pt idx="6">
                  <c:v>Decile 7</c:v>
                </c:pt>
                <c:pt idx="7">
                  <c:v>Decile 8</c:v>
                </c:pt>
                <c:pt idx="8">
                  <c:v>Decile 9</c:v>
                </c:pt>
                <c:pt idx="9">
                  <c:v>Decile 10</c:v>
                </c:pt>
              </c:strCache>
            </c:strRef>
          </c:cat>
          <c:val>
            <c:numRef>
              <c:f>Sheet1!$B$2:$B$11</c:f>
              <c:numCache>
                <c:formatCode>0.00</c:formatCode>
                <c:ptCount val="10"/>
                <c:pt idx="0">
                  <c:v>0.15476053651647301</c:v>
                </c:pt>
                <c:pt idx="1">
                  <c:v>0.32682918945928868</c:v>
                </c:pt>
                <c:pt idx="2">
                  <c:v>0.45634796207711981</c:v>
                </c:pt>
                <c:pt idx="3">
                  <c:v>0.57490418094507278</c:v>
                </c:pt>
                <c:pt idx="4">
                  <c:v>0.69285653583267548</c:v>
                </c:pt>
                <c:pt idx="5">
                  <c:v>0.71577617373932989</c:v>
                </c:pt>
                <c:pt idx="6">
                  <c:v>0.75373500764370516</c:v>
                </c:pt>
                <c:pt idx="7">
                  <c:v>0.812980359694774</c:v>
                </c:pt>
                <c:pt idx="8">
                  <c:v>0.87784873846441835</c:v>
                </c:pt>
                <c:pt idx="9">
                  <c:v>0.89786015315240097</c:v>
                </c:pt>
              </c:numCache>
            </c:numRef>
          </c:val>
          <c:extLst>
            <c:ext xmlns:c16="http://schemas.microsoft.com/office/drawing/2014/chart" uri="{C3380CC4-5D6E-409C-BE32-E72D297353CC}">
              <c16:uniqueId val="{00000000-A593-4CB0-8BD1-CE0CE4C99A9F}"/>
            </c:ext>
          </c:extLst>
        </c:ser>
        <c:dLbls>
          <c:dLblPos val="inEnd"/>
          <c:showLegendKey val="0"/>
          <c:showVal val="1"/>
          <c:showCatName val="0"/>
          <c:showSerName val="0"/>
          <c:showPercent val="0"/>
          <c:showBubbleSize val="0"/>
        </c:dLbls>
        <c:gapWidth val="219"/>
        <c:overlap val="-27"/>
        <c:axId val="819472864"/>
        <c:axId val="819471552"/>
      </c:barChart>
      <c:catAx>
        <c:axId val="81947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9471552"/>
        <c:crosses val="autoZero"/>
        <c:auto val="1"/>
        <c:lblAlgn val="ctr"/>
        <c:lblOffset val="100"/>
        <c:noMultiLvlLbl val="0"/>
      </c:catAx>
      <c:valAx>
        <c:axId val="819471552"/>
        <c:scaling>
          <c:orientation val="minMax"/>
        </c:scaling>
        <c:delete val="1"/>
        <c:axPos val="l"/>
        <c:numFmt formatCode="0.00" sourceLinked="1"/>
        <c:majorTickMark val="none"/>
        <c:minorTickMark val="none"/>
        <c:tickLblPos val="nextTo"/>
        <c:crossAx val="819472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lgn="ctr" rtl="0" eaLnBrk="1" latinLnBrk="0" hangingPunct="1">
              <a:defRPr lang="en-US" sz="1000" b="0" i="0" u="none" strike="noStrike" kern="1200" spc="0" baseline="0" dirty="0" smtClean="0">
                <a:solidFill>
                  <a:prstClr val="black">
                    <a:lumMod val="65000"/>
                    <a:lumOff val="35000"/>
                  </a:prstClr>
                </a:solidFill>
                <a:latin typeface="+mn-lt"/>
                <a:ea typeface="+mn-ea"/>
                <a:cs typeface="+mn-cs"/>
              </a:defRPr>
            </a:pPr>
            <a:r>
              <a:rPr lang="en-US" sz="1000" b="0" i="0" u="none" strike="noStrike" kern="1200" spc="0" baseline="0" dirty="0">
                <a:solidFill>
                  <a:prstClr val="black">
                    <a:lumMod val="65000"/>
                    <a:lumOff val="35000"/>
                  </a:prstClr>
                </a:solidFill>
                <a:latin typeface="+mn-lt"/>
                <a:ea typeface="+mn-ea"/>
                <a:cs typeface="+mn-cs"/>
              </a:rPr>
              <a:t>Days since last incoming SMS</a:t>
            </a:r>
          </a:p>
        </c:rich>
      </c:tx>
      <c:layout>
        <c:manualLayout>
          <c:xMode val="edge"/>
          <c:yMode val="edge"/>
          <c:x val="0.27804394535218846"/>
          <c:y val="5.0200803212851405E-2"/>
        </c:manualLayout>
      </c:layout>
      <c:overlay val="0"/>
      <c:spPr>
        <a:noFill/>
        <a:ln>
          <a:noFill/>
        </a:ln>
        <a:effectLst/>
      </c:spPr>
      <c:txPr>
        <a:bodyPr rot="0" spcFirstLastPara="1" vertOverflow="ellipsis" vert="horz" wrap="square" anchor="ctr" anchorCtr="1"/>
        <a:lstStyle/>
        <a:p>
          <a:pPr algn="ctr" rtl="0" eaLnBrk="1" latinLnBrk="0" hangingPunct="1">
            <a:defRPr lang="en-US" sz="1000" b="0" i="0" u="none" strike="noStrike" kern="1200" spc="0" baseline="0" dirty="0" smtClean="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4.8975104090895706E-2"/>
          <c:y val="0.17963542709771721"/>
          <c:w val="0.91702758892413005"/>
          <c:h val="0.54039429810229545"/>
        </c:manualLayout>
      </c:layout>
      <c:barChart>
        <c:barDir val="col"/>
        <c:grouping val="clustered"/>
        <c:varyColors val="0"/>
        <c:ser>
          <c:idx val="0"/>
          <c:order val="0"/>
          <c:tx>
            <c:strRef>
              <c:f>Sheet1!$B$1</c:f>
              <c:strCache>
                <c:ptCount val="1"/>
                <c:pt idx="0">
                  <c:v>Series 1</c:v>
                </c:pt>
              </c:strCache>
            </c:strRef>
          </c:tx>
          <c:spPr>
            <a:solidFill>
              <a:srgbClr val="00B050"/>
            </a:solidFill>
            <a:ln>
              <a:solidFill>
                <a:srgbClr val="00B05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Decile 1</c:v>
                </c:pt>
                <c:pt idx="1">
                  <c:v>Decile 2</c:v>
                </c:pt>
                <c:pt idx="2">
                  <c:v>Decile 3</c:v>
                </c:pt>
                <c:pt idx="3">
                  <c:v>Decile 4</c:v>
                </c:pt>
                <c:pt idx="4">
                  <c:v>Decile 5</c:v>
                </c:pt>
                <c:pt idx="5">
                  <c:v>Decile 6</c:v>
                </c:pt>
                <c:pt idx="6">
                  <c:v>Decile 7</c:v>
                </c:pt>
                <c:pt idx="7">
                  <c:v>Decile 8</c:v>
                </c:pt>
                <c:pt idx="8">
                  <c:v>Decile 9</c:v>
                </c:pt>
                <c:pt idx="9">
                  <c:v>Decile 10</c:v>
                </c:pt>
              </c:strCache>
            </c:strRef>
          </c:cat>
          <c:val>
            <c:numRef>
              <c:f>Sheet1!$B$2:$B$11</c:f>
              <c:numCache>
                <c:formatCode>0.00</c:formatCode>
                <c:ptCount val="10"/>
                <c:pt idx="0">
                  <c:v>26.096905191051938</c:v>
                </c:pt>
                <c:pt idx="1">
                  <c:v>2.1790358159340779</c:v>
                </c:pt>
                <c:pt idx="2">
                  <c:v>1.005740548268407</c:v>
                </c:pt>
                <c:pt idx="3">
                  <c:v>0.94541874427151174</c:v>
                </c:pt>
                <c:pt idx="4">
                  <c:v>0.91173852219254736</c:v>
                </c:pt>
                <c:pt idx="5">
                  <c:v>0.7197174018866187</c:v>
                </c:pt>
                <c:pt idx="6">
                  <c:v>0.6110109767702947</c:v>
                </c:pt>
                <c:pt idx="7">
                  <c:v>0.33833274129817958</c:v>
                </c:pt>
                <c:pt idx="8">
                  <c:v>0.30136782047739957</c:v>
                </c:pt>
                <c:pt idx="9">
                  <c:v>0</c:v>
                </c:pt>
              </c:numCache>
            </c:numRef>
          </c:val>
          <c:extLst>
            <c:ext xmlns:c16="http://schemas.microsoft.com/office/drawing/2014/chart" uri="{C3380CC4-5D6E-409C-BE32-E72D297353CC}">
              <c16:uniqueId val="{00000000-74FA-4AE6-9F9B-CEAE1399E977}"/>
            </c:ext>
          </c:extLst>
        </c:ser>
        <c:dLbls>
          <c:dLblPos val="inEnd"/>
          <c:showLegendKey val="0"/>
          <c:showVal val="1"/>
          <c:showCatName val="0"/>
          <c:showSerName val="0"/>
          <c:showPercent val="0"/>
          <c:showBubbleSize val="0"/>
        </c:dLbls>
        <c:gapWidth val="219"/>
        <c:overlap val="-27"/>
        <c:axId val="819472864"/>
        <c:axId val="819471552"/>
      </c:barChart>
      <c:catAx>
        <c:axId val="81947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9471552"/>
        <c:crosses val="autoZero"/>
        <c:auto val="1"/>
        <c:lblAlgn val="ctr"/>
        <c:lblOffset val="100"/>
        <c:noMultiLvlLbl val="0"/>
      </c:catAx>
      <c:valAx>
        <c:axId val="819471552"/>
        <c:scaling>
          <c:orientation val="minMax"/>
        </c:scaling>
        <c:delete val="1"/>
        <c:axPos val="l"/>
        <c:numFmt formatCode="0.00" sourceLinked="1"/>
        <c:majorTickMark val="none"/>
        <c:minorTickMark val="none"/>
        <c:tickLblPos val="nextTo"/>
        <c:crossAx val="819472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lgn="ctr" rtl="0" eaLnBrk="1" latinLnBrk="0" hangingPunct="1">
              <a:defRPr lang="en-US" sz="1000" b="0" i="0" u="none" strike="noStrike" kern="1200" spc="0" baseline="0" dirty="0" smtClean="0">
                <a:solidFill>
                  <a:prstClr val="black">
                    <a:lumMod val="65000"/>
                    <a:lumOff val="35000"/>
                  </a:prstClr>
                </a:solidFill>
                <a:latin typeface="+mn-lt"/>
                <a:ea typeface="+mn-ea"/>
                <a:cs typeface="+mn-cs"/>
              </a:defRPr>
            </a:pPr>
            <a:r>
              <a:rPr lang="en-US" sz="1000" b="0" i="0" u="none" strike="noStrike" kern="1200" spc="0" baseline="0" dirty="0">
                <a:solidFill>
                  <a:prstClr val="black">
                    <a:lumMod val="65000"/>
                    <a:lumOff val="35000"/>
                  </a:prstClr>
                </a:solidFill>
                <a:latin typeface="+mn-lt"/>
                <a:ea typeface="+mn-ea"/>
                <a:cs typeface="+mn-cs"/>
              </a:rPr>
              <a:t>Days since last voice incoming call</a:t>
            </a:r>
          </a:p>
        </c:rich>
      </c:tx>
      <c:overlay val="0"/>
      <c:spPr>
        <a:noFill/>
        <a:ln>
          <a:noFill/>
        </a:ln>
        <a:effectLst/>
      </c:spPr>
      <c:txPr>
        <a:bodyPr rot="0" spcFirstLastPara="1" vertOverflow="ellipsis" vert="horz" wrap="square" anchor="ctr" anchorCtr="1"/>
        <a:lstStyle/>
        <a:p>
          <a:pPr algn="ctr" rtl="0" eaLnBrk="1" latinLnBrk="0" hangingPunct="1">
            <a:defRPr lang="en-US" sz="1000" b="0" i="0" u="none" strike="noStrike" kern="1200" spc="0" baseline="0" dirty="0" smtClean="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4.8975104090895706E-2"/>
          <c:y val="0.17963542709771721"/>
          <c:w val="0.91702758892413005"/>
          <c:h val="0.54039429810229545"/>
        </c:manualLayout>
      </c:layout>
      <c:barChart>
        <c:barDir val="col"/>
        <c:grouping val="clustered"/>
        <c:varyColors val="0"/>
        <c:ser>
          <c:idx val="0"/>
          <c:order val="0"/>
          <c:tx>
            <c:strRef>
              <c:f>Sheet1!$B$1</c:f>
              <c:strCache>
                <c:ptCount val="1"/>
                <c:pt idx="0">
                  <c:v>Series 1</c:v>
                </c:pt>
              </c:strCache>
            </c:strRef>
          </c:tx>
          <c:spPr>
            <a:solidFill>
              <a:srgbClr val="00B050"/>
            </a:solidFill>
            <a:ln>
              <a:solidFill>
                <a:srgbClr val="00B05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Decile 1</c:v>
                </c:pt>
                <c:pt idx="1">
                  <c:v>Decile 2</c:v>
                </c:pt>
                <c:pt idx="2">
                  <c:v>Decile 3</c:v>
                </c:pt>
                <c:pt idx="3">
                  <c:v>Decile 4</c:v>
                </c:pt>
                <c:pt idx="4">
                  <c:v>Decile 5</c:v>
                </c:pt>
                <c:pt idx="5">
                  <c:v>Decile 6</c:v>
                </c:pt>
                <c:pt idx="6">
                  <c:v>Decile 7</c:v>
                </c:pt>
                <c:pt idx="7">
                  <c:v>Decile 8</c:v>
                </c:pt>
                <c:pt idx="8">
                  <c:v>Decile 9</c:v>
                </c:pt>
                <c:pt idx="9">
                  <c:v>Decile 10</c:v>
                </c:pt>
              </c:strCache>
            </c:strRef>
          </c:cat>
          <c:val>
            <c:numRef>
              <c:f>Sheet1!$B$2:$B$11</c:f>
              <c:numCache>
                <c:formatCode>0.00</c:formatCode>
                <c:ptCount val="10"/>
                <c:pt idx="0">
                  <c:v>36.427901081889424</c:v>
                </c:pt>
                <c:pt idx="1">
                  <c:v>11.334315673143969</c:v>
                </c:pt>
                <c:pt idx="2">
                  <c:v>6.5237099115455628</c:v>
                </c:pt>
                <c:pt idx="3">
                  <c:v>4.3005302003710089</c:v>
                </c:pt>
                <c:pt idx="4">
                  <c:v>3.880505378749008</c:v>
                </c:pt>
                <c:pt idx="5">
                  <c:v>1.0050520333118449</c:v>
                </c:pt>
                <c:pt idx="6">
                  <c:v>0.34344617084818901</c:v>
                </c:pt>
                <c:pt idx="7">
                  <c:v>0.25807908712564742</c:v>
                </c:pt>
                <c:pt idx="8">
                  <c:v>0.1133286847610151</c:v>
                </c:pt>
                <c:pt idx="9">
                  <c:v>0.1362777214978928</c:v>
                </c:pt>
              </c:numCache>
            </c:numRef>
          </c:val>
          <c:extLst>
            <c:ext xmlns:c16="http://schemas.microsoft.com/office/drawing/2014/chart" uri="{C3380CC4-5D6E-409C-BE32-E72D297353CC}">
              <c16:uniqueId val="{00000000-9866-45A0-86F0-61ABEE086C25}"/>
            </c:ext>
          </c:extLst>
        </c:ser>
        <c:dLbls>
          <c:dLblPos val="inEnd"/>
          <c:showLegendKey val="0"/>
          <c:showVal val="1"/>
          <c:showCatName val="0"/>
          <c:showSerName val="0"/>
          <c:showPercent val="0"/>
          <c:showBubbleSize val="0"/>
        </c:dLbls>
        <c:gapWidth val="219"/>
        <c:overlap val="-27"/>
        <c:axId val="819472864"/>
        <c:axId val="819471552"/>
      </c:barChart>
      <c:catAx>
        <c:axId val="81947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9471552"/>
        <c:crosses val="autoZero"/>
        <c:auto val="1"/>
        <c:lblAlgn val="ctr"/>
        <c:lblOffset val="100"/>
        <c:noMultiLvlLbl val="0"/>
      </c:catAx>
      <c:valAx>
        <c:axId val="819471552"/>
        <c:scaling>
          <c:orientation val="minMax"/>
        </c:scaling>
        <c:delete val="1"/>
        <c:axPos val="l"/>
        <c:numFmt formatCode="0.00" sourceLinked="1"/>
        <c:majorTickMark val="none"/>
        <c:minorTickMark val="none"/>
        <c:tickLblPos val="nextTo"/>
        <c:crossAx val="819472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lgn="ctr" rtl="0" eaLnBrk="1" fontAlgn="auto" latinLnBrk="0" hangingPunct="1">
              <a:defRPr lang="en-US" sz="1000" b="0" i="0" u="none" strike="noStrike" kern="1200" spc="0" baseline="0" dirty="0" smtClean="0">
                <a:solidFill>
                  <a:prstClr val="black">
                    <a:lumMod val="65000"/>
                    <a:lumOff val="35000"/>
                  </a:prstClr>
                </a:solidFill>
                <a:latin typeface="+mn-lt"/>
                <a:ea typeface="+mn-ea"/>
                <a:cs typeface="+mn-cs"/>
              </a:defRPr>
            </a:pPr>
            <a:r>
              <a:rPr lang="en-US" sz="1000" b="0" i="0" u="none" strike="noStrike" kern="1200" spc="0" baseline="0" dirty="0">
                <a:solidFill>
                  <a:prstClr val="black">
                    <a:lumMod val="65000"/>
                    <a:lumOff val="35000"/>
                  </a:prstClr>
                </a:solidFill>
                <a:latin typeface="+mn-lt"/>
                <a:ea typeface="+mn-ea"/>
                <a:cs typeface="+mn-cs"/>
              </a:rPr>
              <a:t>Days since last data usage</a:t>
            </a:r>
          </a:p>
        </c:rich>
      </c:tx>
      <c:layout>
        <c:manualLayout>
          <c:xMode val="edge"/>
          <c:yMode val="edge"/>
          <c:x val="0.28222412961905252"/>
          <c:y val="2.7889335118250782E-2"/>
        </c:manualLayout>
      </c:layout>
      <c:overlay val="0"/>
      <c:spPr>
        <a:noFill/>
        <a:ln>
          <a:noFill/>
        </a:ln>
        <a:effectLst/>
      </c:spPr>
      <c:txPr>
        <a:bodyPr rot="0" spcFirstLastPara="1" vertOverflow="ellipsis" vert="horz" wrap="square" anchor="ctr" anchorCtr="1"/>
        <a:lstStyle/>
        <a:p>
          <a:pPr algn="ctr" rtl="0" eaLnBrk="1" fontAlgn="auto" latinLnBrk="0" hangingPunct="1">
            <a:defRPr lang="en-US" sz="1000" b="0" i="0" u="none" strike="noStrike" kern="1200" spc="0" baseline="0" dirty="0" smtClean="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4.8975104090895706E-2"/>
          <c:y val="0.17963542709771721"/>
          <c:w val="0.91702758892413005"/>
          <c:h val="0.54039429810229545"/>
        </c:manualLayout>
      </c:layout>
      <c:barChart>
        <c:barDir val="col"/>
        <c:grouping val="clustered"/>
        <c:varyColors val="0"/>
        <c:ser>
          <c:idx val="0"/>
          <c:order val="0"/>
          <c:tx>
            <c:strRef>
              <c:f>Sheet1!$B$1</c:f>
              <c:strCache>
                <c:ptCount val="1"/>
                <c:pt idx="0">
                  <c:v>Series 1</c:v>
                </c:pt>
              </c:strCache>
            </c:strRef>
          </c:tx>
          <c:spPr>
            <a:solidFill>
              <a:srgbClr val="00B050"/>
            </a:solidFill>
            <a:ln>
              <a:solidFill>
                <a:srgbClr val="00B05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Decile 1</c:v>
                </c:pt>
                <c:pt idx="1">
                  <c:v>Decile 2</c:v>
                </c:pt>
                <c:pt idx="2">
                  <c:v>Decile 3</c:v>
                </c:pt>
                <c:pt idx="3">
                  <c:v>Decile 4</c:v>
                </c:pt>
                <c:pt idx="4">
                  <c:v>Decile 5</c:v>
                </c:pt>
                <c:pt idx="5">
                  <c:v>Decile 6</c:v>
                </c:pt>
                <c:pt idx="6">
                  <c:v>Decile 7</c:v>
                </c:pt>
                <c:pt idx="7">
                  <c:v>Decile 8</c:v>
                </c:pt>
                <c:pt idx="8">
                  <c:v>Decile 9</c:v>
                </c:pt>
                <c:pt idx="9">
                  <c:v>Decile 10</c:v>
                </c:pt>
              </c:strCache>
            </c:strRef>
          </c:cat>
          <c:val>
            <c:numRef>
              <c:f>Sheet1!$B$2:$B$11</c:f>
              <c:numCache>
                <c:formatCode>0.00</c:formatCode>
                <c:ptCount val="10"/>
                <c:pt idx="0">
                  <c:v>34.853162125537757</c:v>
                </c:pt>
                <c:pt idx="1">
                  <c:v>18.61961522100453</c:v>
                </c:pt>
                <c:pt idx="2">
                  <c:v>18.380279528301472</c:v>
                </c:pt>
                <c:pt idx="3">
                  <c:v>18.217123410824161</c:v>
                </c:pt>
                <c:pt idx="4">
                  <c:v>17.069461072592279</c:v>
                </c:pt>
                <c:pt idx="5">
                  <c:v>20.570778898990032</c:v>
                </c:pt>
                <c:pt idx="6">
                  <c:v>22.363834107364479</c:v>
                </c:pt>
                <c:pt idx="7">
                  <c:v>29.805742302446639</c:v>
                </c:pt>
                <c:pt idx="8">
                  <c:v>22.995298802334808</c:v>
                </c:pt>
                <c:pt idx="9">
                  <c:v>33.328276914575909</c:v>
                </c:pt>
              </c:numCache>
            </c:numRef>
          </c:val>
          <c:extLst>
            <c:ext xmlns:c16="http://schemas.microsoft.com/office/drawing/2014/chart" uri="{C3380CC4-5D6E-409C-BE32-E72D297353CC}">
              <c16:uniqueId val="{00000000-7BB8-462F-A8D3-C7D13CE7252A}"/>
            </c:ext>
          </c:extLst>
        </c:ser>
        <c:dLbls>
          <c:dLblPos val="inEnd"/>
          <c:showLegendKey val="0"/>
          <c:showVal val="1"/>
          <c:showCatName val="0"/>
          <c:showSerName val="0"/>
          <c:showPercent val="0"/>
          <c:showBubbleSize val="0"/>
        </c:dLbls>
        <c:gapWidth val="219"/>
        <c:overlap val="-27"/>
        <c:axId val="819472864"/>
        <c:axId val="819471552"/>
      </c:barChart>
      <c:catAx>
        <c:axId val="81947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9471552"/>
        <c:crosses val="autoZero"/>
        <c:auto val="1"/>
        <c:lblAlgn val="ctr"/>
        <c:lblOffset val="100"/>
        <c:noMultiLvlLbl val="0"/>
      </c:catAx>
      <c:valAx>
        <c:axId val="819471552"/>
        <c:scaling>
          <c:orientation val="minMax"/>
        </c:scaling>
        <c:delete val="1"/>
        <c:axPos val="l"/>
        <c:numFmt formatCode="0.00" sourceLinked="1"/>
        <c:majorTickMark val="none"/>
        <c:minorTickMark val="none"/>
        <c:tickLblPos val="nextTo"/>
        <c:crossAx val="819472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lgn="ctr" rtl="0">
              <a:defRPr lang="en-US" sz="1000" b="0" i="0" u="none" strike="noStrike" kern="1200" spc="0" baseline="0" dirty="0" smtClean="0">
                <a:solidFill>
                  <a:prstClr val="black">
                    <a:lumMod val="65000"/>
                    <a:lumOff val="35000"/>
                  </a:prstClr>
                </a:solidFill>
                <a:latin typeface="+mn-lt"/>
                <a:ea typeface="+mn-ea"/>
                <a:cs typeface="+mn-cs"/>
              </a:defRPr>
            </a:pPr>
            <a:r>
              <a:rPr lang="en-US" sz="1000" b="0" i="0" u="none" strike="noStrike" kern="1200" spc="0" baseline="0" dirty="0">
                <a:solidFill>
                  <a:prstClr val="black">
                    <a:lumMod val="65000"/>
                    <a:lumOff val="35000"/>
                  </a:prstClr>
                </a:solidFill>
                <a:latin typeface="+mn-lt"/>
                <a:ea typeface="+mn-ea"/>
                <a:cs typeface="+mn-cs"/>
              </a:rPr>
              <a:t>Days since last </a:t>
            </a:r>
            <a:r>
              <a:rPr lang="en-US" sz="1000" b="0" i="0" u="none" strike="noStrike" kern="1200" spc="0" baseline="0" dirty="0" err="1">
                <a:solidFill>
                  <a:prstClr val="black">
                    <a:lumMod val="65000"/>
                    <a:lumOff val="35000"/>
                  </a:prstClr>
                </a:solidFill>
                <a:latin typeface="+mn-lt"/>
                <a:ea typeface="+mn-ea"/>
                <a:cs typeface="+mn-cs"/>
              </a:rPr>
              <a:t>talktime</a:t>
            </a:r>
            <a:r>
              <a:rPr lang="en-US" sz="1000" b="0" i="0" u="none" strike="noStrike" kern="1200" spc="0" baseline="0" dirty="0">
                <a:solidFill>
                  <a:prstClr val="black">
                    <a:lumMod val="65000"/>
                    <a:lumOff val="35000"/>
                  </a:prstClr>
                </a:solidFill>
                <a:latin typeface="+mn-lt"/>
                <a:ea typeface="+mn-ea"/>
                <a:cs typeface="+mn-cs"/>
              </a:rPr>
              <a:t> recharge</a:t>
            </a:r>
          </a:p>
        </c:rich>
      </c:tx>
      <c:overlay val="0"/>
      <c:spPr>
        <a:noFill/>
        <a:ln>
          <a:noFill/>
        </a:ln>
        <a:effectLst/>
      </c:spPr>
      <c:txPr>
        <a:bodyPr rot="0" spcFirstLastPara="1" vertOverflow="ellipsis" vert="horz" wrap="square" anchor="ctr" anchorCtr="1"/>
        <a:lstStyle/>
        <a:p>
          <a:pPr algn="ctr" rtl="0">
            <a:defRPr lang="en-US" sz="1000" b="0" i="0" u="none" strike="noStrike" kern="1200" spc="0" baseline="0" dirty="0" smtClean="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4.8975104090895706E-2"/>
          <c:y val="0.17963542709771721"/>
          <c:w val="0.91702758892413005"/>
          <c:h val="0.54039429810229545"/>
        </c:manualLayout>
      </c:layout>
      <c:barChart>
        <c:barDir val="col"/>
        <c:grouping val="clustered"/>
        <c:varyColors val="0"/>
        <c:ser>
          <c:idx val="0"/>
          <c:order val="0"/>
          <c:tx>
            <c:strRef>
              <c:f>Sheet1!$B$1</c:f>
              <c:strCache>
                <c:ptCount val="1"/>
                <c:pt idx="0">
                  <c:v>Series 1</c:v>
                </c:pt>
              </c:strCache>
            </c:strRef>
          </c:tx>
          <c:spPr>
            <a:solidFill>
              <a:srgbClr val="00B050"/>
            </a:solidFill>
            <a:ln>
              <a:solidFill>
                <a:srgbClr val="00B05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Decile 1</c:v>
                </c:pt>
                <c:pt idx="1">
                  <c:v>Decile 2</c:v>
                </c:pt>
                <c:pt idx="2">
                  <c:v>Decile 3</c:v>
                </c:pt>
                <c:pt idx="3">
                  <c:v>Decile 4</c:v>
                </c:pt>
                <c:pt idx="4">
                  <c:v>Decile 5</c:v>
                </c:pt>
                <c:pt idx="5">
                  <c:v>Decile 6</c:v>
                </c:pt>
                <c:pt idx="6">
                  <c:v>Decile 7</c:v>
                </c:pt>
                <c:pt idx="7">
                  <c:v>Decile 8</c:v>
                </c:pt>
                <c:pt idx="8">
                  <c:v>Decile 9</c:v>
                </c:pt>
                <c:pt idx="9">
                  <c:v>Decile 10</c:v>
                </c:pt>
              </c:strCache>
            </c:strRef>
          </c:cat>
          <c:val>
            <c:numRef>
              <c:f>Sheet1!$B$2:$B$11</c:f>
              <c:numCache>
                <c:formatCode>0.00</c:formatCode>
                <c:ptCount val="10"/>
                <c:pt idx="0">
                  <c:v>43.519767395966269</c:v>
                </c:pt>
                <c:pt idx="1">
                  <c:v>23.525407078986259</c:v>
                </c:pt>
                <c:pt idx="2">
                  <c:v>15.52782784494819</c:v>
                </c:pt>
                <c:pt idx="3">
                  <c:v>12.72227411666162</c:v>
                </c:pt>
                <c:pt idx="4">
                  <c:v>12.48042117819381</c:v>
                </c:pt>
                <c:pt idx="5">
                  <c:v>10.29302231753257</c:v>
                </c:pt>
                <c:pt idx="6">
                  <c:v>9.9170185986747175</c:v>
                </c:pt>
                <c:pt idx="7">
                  <c:v>7.8678621391326464</c:v>
                </c:pt>
                <c:pt idx="8">
                  <c:v>8.5945787121700494</c:v>
                </c:pt>
                <c:pt idx="9">
                  <c:v>5.2384059782394186</c:v>
                </c:pt>
              </c:numCache>
            </c:numRef>
          </c:val>
          <c:extLst>
            <c:ext xmlns:c16="http://schemas.microsoft.com/office/drawing/2014/chart" uri="{C3380CC4-5D6E-409C-BE32-E72D297353CC}">
              <c16:uniqueId val="{00000000-A593-4CB0-8BD1-CE0CE4C99A9F}"/>
            </c:ext>
          </c:extLst>
        </c:ser>
        <c:dLbls>
          <c:dLblPos val="inEnd"/>
          <c:showLegendKey val="0"/>
          <c:showVal val="1"/>
          <c:showCatName val="0"/>
          <c:showSerName val="0"/>
          <c:showPercent val="0"/>
          <c:showBubbleSize val="0"/>
        </c:dLbls>
        <c:gapWidth val="219"/>
        <c:overlap val="-27"/>
        <c:axId val="819472864"/>
        <c:axId val="819471552"/>
      </c:barChart>
      <c:catAx>
        <c:axId val="81947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9471552"/>
        <c:crosses val="autoZero"/>
        <c:auto val="1"/>
        <c:lblAlgn val="ctr"/>
        <c:lblOffset val="100"/>
        <c:noMultiLvlLbl val="0"/>
      </c:catAx>
      <c:valAx>
        <c:axId val="819471552"/>
        <c:scaling>
          <c:orientation val="minMax"/>
        </c:scaling>
        <c:delete val="1"/>
        <c:axPos val="l"/>
        <c:numFmt formatCode="0.00" sourceLinked="1"/>
        <c:majorTickMark val="none"/>
        <c:minorTickMark val="none"/>
        <c:tickLblPos val="nextTo"/>
        <c:crossAx val="819472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lgn="ctr" rtl="0" eaLnBrk="1" fontAlgn="auto" latinLnBrk="0" hangingPunct="1">
              <a:defRPr lang="en-US" sz="1000" b="0" i="0" u="none" strike="noStrike" kern="1200" spc="0" baseline="0" dirty="0" smtClean="0">
                <a:solidFill>
                  <a:prstClr val="black">
                    <a:lumMod val="65000"/>
                    <a:lumOff val="35000"/>
                  </a:prstClr>
                </a:solidFill>
                <a:latin typeface="+mn-lt"/>
                <a:ea typeface="+mn-ea"/>
                <a:cs typeface="+mn-cs"/>
              </a:defRPr>
            </a:pPr>
            <a:r>
              <a:rPr lang="en-US" sz="1000" b="0" i="0" u="none" strike="noStrike" kern="1200" spc="0" baseline="0" dirty="0">
                <a:solidFill>
                  <a:prstClr val="black">
                    <a:lumMod val="65000"/>
                    <a:lumOff val="35000"/>
                  </a:prstClr>
                </a:solidFill>
                <a:latin typeface="+mn-lt"/>
                <a:ea typeface="+mn-ea"/>
                <a:cs typeface="+mn-cs"/>
              </a:rPr>
              <a:t>Sum of the total incoming calls received from social network in last 30 days </a:t>
            </a:r>
          </a:p>
        </c:rich>
      </c:tx>
      <c:layout>
        <c:manualLayout>
          <c:xMode val="edge"/>
          <c:yMode val="edge"/>
          <c:x val="0.11843449823795633"/>
          <c:y val="5.0200803212851405E-2"/>
        </c:manualLayout>
      </c:layout>
      <c:overlay val="0"/>
      <c:spPr>
        <a:noFill/>
        <a:ln>
          <a:noFill/>
        </a:ln>
        <a:effectLst/>
      </c:spPr>
      <c:txPr>
        <a:bodyPr rot="0" spcFirstLastPara="1" vertOverflow="ellipsis" vert="horz" wrap="square" anchor="ctr" anchorCtr="1"/>
        <a:lstStyle/>
        <a:p>
          <a:pPr algn="ctr" rtl="0" eaLnBrk="1" fontAlgn="auto" latinLnBrk="0" hangingPunct="1">
            <a:defRPr lang="en-US" sz="1000" b="0" i="0" u="none" strike="noStrike" kern="1200" spc="0" baseline="0" dirty="0" smtClean="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4.8975104090895706E-2"/>
          <c:y val="0.17963542709771721"/>
          <c:w val="0.91702758892413005"/>
          <c:h val="0.54039429810229545"/>
        </c:manualLayout>
      </c:layout>
      <c:barChart>
        <c:barDir val="col"/>
        <c:grouping val="clustered"/>
        <c:varyColors val="0"/>
        <c:ser>
          <c:idx val="0"/>
          <c:order val="0"/>
          <c:tx>
            <c:strRef>
              <c:f>Sheet1!$B$1</c:f>
              <c:strCache>
                <c:ptCount val="1"/>
                <c:pt idx="0">
                  <c:v>Series 1</c:v>
                </c:pt>
              </c:strCache>
            </c:strRef>
          </c:tx>
          <c:spPr>
            <a:solidFill>
              <a:srgbClr val="00B050"/>
            </a:solidFill>
            <a:ln>
              <a:solidFill>
                <a:srgbClr val="00B05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Decile 1</c:v>
                </c:pt>
                <c:pt idx="1">
                  <c:v>Decile 2</c:v>
                </c:pt>
                <c:pt idx="2">
                  <c:v>Decile 3</c:v>
                </c:pt>
                <c:pt idx="3">
                  <c:v>Decile 4</c:v>
                </c:pt>
                <c:pt idx="4">
                  <c:v>Decile 5</c:v>
                </c:pt>
                <c:pt idx="5">
                  <c:v>Decile 6</c:v>
                </c:pt>
                <c:pt idx="6">
                  <c:v>Decile 7</c:v>
                </c:pt>
                <c:pt idx="7">
                  <c:v>Decile 8</c:v>
                </c:pt>
                <c:pt idx="8">
                  <c:v>Decile 9</c:v>
                </c:pt>
                <c:pt idx="9">
                  <c:v>Decile 10</c:v>
                </c:pt>
              </c:strCache>
            </c:strRef>
          </c:cat>
          <c:val>
            <c:numRef>
              <c:f>Sheet1!$B$2:$B$11</c:f>
              <c:numCache>
                <c:formatCode>0.00</c:formatCode>
                <c:ptCount val="10"/>
                <c:pt idx="0">
                  <c:v>4.797545904651642</c:v>
                </c:pt>
                <c:pt idx="1">
                  <c:v>10.12060852442912</c:v>
                </c:pt>
                <c:pt idx="2">
                  <c:v>12.95967582786249</c:v>
                </c:pt>
                <c:pt idx="3">
                  <c:v>17.541269235660689</c:v>
                </c:pt>
                <c:pt idx="4">
                  <c:v>21.16055993369206</c:v>
                </c:pt>
                <c:pt idx="5">
                  <c:v>29.47735575173115</c:v>
                </c:pt>
                <c:pt idx="6">
                  <c:v>39.395830318339492</c:v>
                </c:pt>
                <c:pt idx="7">
                  <c:v>45.797506435641402</c:v>
                </c:pt>
                <c:pt idx="8">
                  <c:v>54.601981344314488</c:v>
                </c:pt>
                <c:pt idx="9">
                  <c:v>57.456836251847371</c:v>
                </c:pt>
              </c:numCache>
            </c:numRef>
          </c:val>
          <c:extLst>
            <c:ext xmlns:c16="http://schemas.microsoft.com/office/drawing/2014/chart" uri="{C3380CC4-5D6E-409C-BE32-E72D297353CC}">
              <c16:uniqueId val="{00000000-74FA-4AE6-9F9B-CEAE1399E977}"/>
            </c:ext>
          </c:extLst>
        </c:ser>
        <c:dLbls>
          <c:dLblPos val="inEnd"/>
          <c:showLegendKey val="0"/>
          <c:showVal val="1"/>
          <c:showCatName val="0"/>
          <c:showSerName val="0"/>
          <c:showPercent val="0"/>
          <c:showBubbleSize val="0"/>
        </c:dLbls>
        <c:gapWidth val="219"/>
        <c:overlap val="-27"/>
        <c:axId val="819472864"/>
        <c:axId val="819471552"/>
      </c:barChart>
      <c:catAx>
        <c:axId val="81947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9471552"/>
        <c:crosses val="autoZero"/>
        <c:auto val="1"/>
        <c:lblAlgn val="ctr"/>
        <c:lblOffset val="100"/>
        <c:noMultiLvlLbl val="0"/>
      </c:catAx>
      <c:valAx>
        <c:axId val="819471552"/>
        <c:scaling>
          <c:orientation val="minMax"/>
        </c:scaling>
        <c:delete val="1"/>
        <c:axPos val="l"/>
        <c:numFmt formatCode="0.00" sourceLinked="1"/>
        <c:majorTickMark val="none"/>
        <c:minorTickMark val="none"/>
        <c:tickLblPos val="nextTo"/>
        <c:crossAx val="819472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lgn="ctr" rtl="0" eaLnBrk="1" fontAlgn="auto" latinLnBrk="0" hangingPunct="1">
              <a:defRPr lang="en-US" sz="1000" b="0" i="0" u="none" strike="noStrike" kern="1200" spc="0" baseline="0" dirty="0" smtClean="0">
                <a:solidFill>
                  <a:prstClr val="black">
                    <a:lumMod val="65000"/>
                    <a:lumOff val="35000"/>
                  </a:prstClr>
                </a:solidFill>
                <a:latin typeface="+mn-lt"/>
                <a:ea typeface="+mn-ea"/>
                <a:cs typeface="+mn-cs"/>
              </a:defRPr>
            </a:pPr>
            <a:r>
              <a:rPr lang="en-US" sz="1000" b="0" i="0" u="none" strike="noStrike" kern="1200" spc="0" baseline="0" dirty="0">
                <a:solidFill>
                  <a:prstClr val="black">
                    <a:lumMod val="65000"/>
                    <a:lumOff val="35000"/>
                  </a:prstClr>
                </a:solidFill>
                <a:latin typeface="+mn-lt"/>
                <a:ea typeface="+mn-ea"/>
                <a:cs typeface="+mn-cs"/>
              </a:rPr>
              <a:t>Average of last 14 days total revenue (in Cents)</a:t>
            </a:r>
          </a:p>
        </c:rich>
      </c:tx>
      <c:overlay val="0"/>
      <c:spPr>
        <a:noFill/>
        <a:ln>
          <a:noFill/>
        </a:ln>
        <a:effectLst/>
      </c:spPr>
      <c:txPr>
        <a:bodyPr rot="0" spcFirstLastPara="1" vertOverflow="ellipsis" vert="horz" wrap="square" anchor="ctr" anchorCtr="1"/>
        <a:lstStyle/>
        <a:p>
          <a:pPr algn="ctr" rtl="0" eaLnBrk="1" fontAlgn="auto" latinLnBrk="0" hangingPunct="1">
            <a:defRPr lang="en-US" sz="1000" b="0" i="0" u="none" strike="noStrike" kern="1200" spc="0" baseline="0" dirty="0" smtClean="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4.8975104090895706E-2"/>
          <c:y val="0.17963542709771721"/>
          <c:w val="0.91702758892413005"/>
          <c:h val="0.54039429810229545"/>
        </c:manualLayout>
      </c:layout>
      <c:barChart>
        <c:barDir val="col"/>
        <c:grouping val="clustered"/>
        <c:varyColors val="0"/>
        <c:ser>
          <c:idx val="0"/>
          <c:order val="0"/>
          <c:tx>
            <c:strRef>
              <c:f>Sheet1!$B$1</c:f>
              <c:strCache>
                <c:ptCount val="1"/>
                <c:pt idx="0">
                  <c:v>Series 1</c:v>
                </c:pt>
              </c:strCache>
            </c:strRef>
          </c:tx>
          <c:spPr>
            <a:solidFill>
              <a:srgbClr val="00B050"/>
            </a:solidFill>
            <a:ln>
              <a:solidFill>
                <a:srgbClr val="00B05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Decile 1</c:v>
                </c:pt>
                <c:pt idx="1">
                  <c:v>Decile 2</c:v>
                </c:pt>
                <c:pt idx="2">
                  <c:v>Decile 3</c:v>
                </c:pt>
                <c:pt idx="3">
                  <c:v>Decile 4</c:v>
                </c:pt>
                <c:pt idx="4">
                  <c:v>Decile 5</c:v>
                </c:pt>
                <c:pt idx="5">
                  <c:v>Decile 6</c:v>
                </c:pt>
                <c:pt idx="6">
                  <c:v>Decile 7</c:v>
                </c:pt>
                <c:pt idx="7">
                  <c:v>Decile 8</c:v>
                </c:pt>
                <c:pt idx="8">
                  <c:v>Decile 9</c:v>
                </c:pt>
                <c:pt idx="9">
                  <c:v>Decile 10</c:v>
                </c:pt>
              </c:strCache>
            </c:strRef>
          </c:cat>
          <c:val>
            <c:numRef>
              <c:f>Sheet1!$B$2:$B$11</c:f>
              <c:numCache>
                <c:formatCode>0.00</c:formatCode>
                <c:ptCount val="10"/>
                <c:pt idx="0">
                  <c:v>20.566729309286679</c:v>
                </c:pt>
                <c:pt idx="1">
                  <c:v>106.182654226555</c:v>
                </c:pt>
                <c:pt idx="2">
                  <c:v>168.59092100718479</c:v>
                </c:pt>
                <c:pt idx="3">
                  <c:v>209.90274833067349</c:v>
                </c:pt>
                <c:pt idx="4">
                  <c:v>231.6795591811387</c:v>
                </c:pt>
                <c:pt idx="5">
                  <c:v>244.6417619961457</c:v>
                </c:pt>
                <c:pt idx="6">
                  <c:v>259.00573963888399</c:v>
                </c:pt>
                <c:pt idx="7">
                  <c:v>283.85506764100592</c:v>
                </c:pt>
                <c:pt idx="8">
                  <c:v>288.58812014677721</c:v>
                </c:pt>
                <c:pt idx="9">
                  <c:v>322.75473562388731</c:v>
                </c:pt>
              </c:numCache>
            </c:numRef>
          </c:val>
          <c:extLst>
            <c:ext xmlns:c16="http://schemas.microsoft.com/office/drawing/2014/chart" uri="{C3380CC4-5D6E-409C-BE32-E72D297353CC}">
              <c16:uniqueId val="{00000000-9866-45A0-86F0-61ABEE086C25}"/>
            </c:ext>
          </c:extLst>
        </c:ser>
        <c:dLbls>
          <c:dLblPos val="inEnd"/>
          <c:showLegendKey val="0"/>
          <c:showVal val="1"/>
          <c:showCatName val="0"/>
          <c:showSerName val="0"/>
          <c:showPercent val="0"/>
          <c:showBubbleSize val="0"/>
        </c:dLbls>
        <c:gapWidth val="219"/>
        <c:overlap val="-27"/>
        <c:axId val="819472864"/>
        <c:axId val="819471552"/>
      </c:barChart>
      <c:catAx>
        <c:axId val="81947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9471552"/>
        <c:crosses val="autoZero"/>
        <c:auto val="1"/>
        <c:lblAlgn val="ctr"/>
        <c:lblOffset val="100"/>
        <c:noMultiLvlLbl val="0"/>
      </c:catAx>
      <c:valAx>
        <c:axId val="819471552"/>
        <c:scaling>
          <c:orientation val="minMax"/>
        </c:scaling>
        <c:delete val="1"/>
        <c:axPos val="l"/>
        <c:numFmt formatCode="0.00" sourceLinked="1"/>
        <c:majorTickMark val="none"/>
        <c:minorTickMark val="none"/>
        <c:tickLblPos val="nextTo"/>
        <c:crossAx val="819472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lgn="ctr" rtl="0" eaLnBrk="1" fontAlgn="auto" latinLnBrk="0" hangingPunct="1">
              <a:defRPr lang="en-US" sz="1000" b="0" i="0" u="none" strike="noStrike" kern="1200" spc="0" baseline="0" dirty="0" smtClean="0">
                <a:solidFill>
                  <a:prstClr val="black">
                    <a:lumMod val="65000"/>
                    <a:lumOff val="35000"/>
                  </a:prstClr>
                </a:solidFill>
                <a:latin typeface="+mn-lt"/>
                <a:ea typeface="+mn-ea"/>
                <a:cs typeface="+mn-cs"/>
              </a:defRPr>
            </a:pPr>
            <a:r>
              <a:rPr lang="en-US" sz="1000" b="0" i="0" u="none" strike="noStrike" kern="1200" spc="0" baseline="0" dirty="0">
                <a:solidFill>
                  <a:prstClr val="black">
                    <a:lumMod val="65000"/>
                    <a:lumOff val="35000"/>
                  </a:prstClr>
                </a:solidFill>
                <a:latin typeface="+mn-lt"/>
                <a:ea typeface="+mn-ea"/>
                <a:cs typeface="+mn-cs"/>
              </a:rPr>
              <a:t>Ratio of average of last 14 to previous 28 days revenue generation event</a:t>
            </a:r>
          </a:p>
        </c:rich>
      </c:tx>
      <c:layout>
        <c:manualLayout>
          <c:xMode val="edge"/>
          <c:yMode val="edge"/>
          <c:x val="0.13682370729316459"/>
          <c:y val="1.1155734047300312E-2"/>
        </c:manualLayout>
      </c:layout>
      <c:overlay val="0"/>
      <c:spPr>
        <a:noFill/>
        <a:ln>
          <a:noFill/>
        </a:ln>
        <a:effectLst/>
      </c:spPr>
      <c:txPr>
        <a:bodyPr rot="0" spcFirstLastPara="1" vertOverflow="ellipsis" vert="horz" wrap="square" anchor="ctr" anchorCtr="1"/>
        <a:lstStyle/>
        <a:p>
          <a:pPr algn="ctr" rtl="0" eaLnBrk="1" fontAlgn="auto" latinLnBrk="0" hangingPunct="1">
            <a:defRPr lang="en-US" sz="1000" b="0" i="0" u="none" strike="noStrike" kern="1200" spc="0" baseline="0" dirty="0" smtClean="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4.8975104090895706E-2"/>
          <c:y val="0.17963542709771721"/>
          <c:w val="0.91702758892413005"/>
          <c:h val="0.54039429810229545"/>
        </c:manualLayout>
      </c:layout>
      <c:barChart>
        <c:barDir val="col"/>
        <c:grouping val="clustered"/>
        <c:varyColors val="0"/>
        <c:ser>
          <c:idx val="0"/>
          <c:order val="0"/>
          <c:tx>
            <c:strRef>
              <c:f>Sheet1!$B$1</c:f>
              <c:strCache>
                <c:ptCount val="1"/>
                <c:pt idx="0">
                  <c:v>Series 1</c:v>
                </c:pt>
              </c:strCache>
            </c:strRef>
          </c:tx>
          <c:spPr>
            <a:solidFill>
              <a:srgbClr val="00B050"/>
            </a:solidFill>
            <a:ln>
              <a:solidFill>
                <a:srgbClr val="00B05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Decile 1</c:v>
                </c:pt>
                <c:pt idx="1">
                  <c:v>Decile 2</c:v>
                </c:pt>
                <c:pt idx="2">
                  <c:v>Decile 3</c:v>
                </c:pt>
                <c:pt idx="3">
                  <c:v>Decile 4</c:v>
                </c:pt>
                <c:pt idx="4">
                  <c:v>Decile 5</c:v>
                </c:pt>
                <c:pt idx="5">
                  <c:v>Decile 6</c:v>
                </c:pt>
                <c:pt idx="6">
                  <c:v>Decile 7</c:v>
                </c:pt>
                <c:pt idx="7">
                  <c:v>Decile 8</c:v>
                </c:pt>
                <c:pt idx="8">
                  <c:v>Decile 9</c:v>
                </c:pt>
                <c:pt idx="9">
                  <c:v>Decile 10</c:v>
                </c:pt>
              </c:strCache>
            </c:strRef>
          </c:cat>
          <c:val>
            <c:numRef>
              <c:f>Sheet1!$B$2:$B$11</c:f>
              <c:numCache>
                <c:formatCode>0.00</c:formatCode>
                <c:ptCount val="10"/>
                <c:pt idx="0">
                  <c:v>0.18585616246508729</c:v>
                </c:pt>
                <c:pt idx="1">
                  <c:v>0.88261942593291898</c:v>
                </c:pt>
                <c:pt idx="2">
                  <c:v>1.186555097013835</c:v>
                </c:pt>
                <c:pt idx="3">
                  <c:v>1.2239058848330571</c:v>
                </c:pt>
                <c:pt idx="4">
                  <c:v>1.162824702900624</c:v>
                </c:pt>
                <c:pt idx="5">
                  <c:v>1.141858704841205</c:v>
                </c:pt>
                <c:pt idx="6">
                  <c:v>1.140097417970326</c:v>
                </c:pt>
                <c:pt idx="7">
                  <c:v>1.111810916239208</c:v>
                </c:pt>
                <c:pt idx="8">
                  <c:v>1.06798744100233</c:v>
                </c:pt>
                <c:pt idx="9">
                  <c:v>1.071232764817222</c:v>
                </c:pt>
              </c:numCache>
            </c:numRef>
          </c:val>
          <c:extLst>
            <c:ext xmlns:c16="http://schemas.microsoft.com/office/drawing/2014/chart" uri="{C3380CC4-5D6E-409C-BE32-E72D297353CC}">
              <c16:uniqueId val="{00000000-7BB8-462F-A8D3-C7D13CE7252A}"/>
            </c:ext>
          </c:extLst>
        </c:ser>
        <c:dLbls>
          <c:dLblPos val="inEnd"/>
          <c:showLegendKey val="0"/>
          <c:showVal val="1"/>
          <c:showCatName val="0"/>
          <c:showSerName val="0"/>
          <c:showPercent val="0"/>
          <c:showBubbleSize val="0"/>
        </c:dLbls>
        <c:gapWidth val="219"/>
        <c:overlap val="-27"/>
        <c:axId val="819472864"/>
        <c:axId val="819471552"/>
      </c:barChart>
      <c:catAx>
        <c:axId val="819472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9471552"/>
        <c:crosses val="autoZero"/>
        <c:auto val="1"/>
        <c:lblAlgn val="ctr"/>
        <c:lblOffset val="100"/>
        <c:noMultiLvlLbl val="0"/>
      </c:catAx>
      <c:valAx>
        <c:axId val="819471552"/>
        <c:scaling>
          <c:orientation val="minMax"/>
        </c:scaling>
        <c:delete val="1"/>
        <c:axPos val="l"/>
        <c:numFmt formatCode="0.00" sourceLinked="1"/>
        <c:majorTickMark val="none"/>
        <c:minorTickMark val="none"/>
        <c:tickLblPos val="nextTo"/>
        <c:crossAx val="8194728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withinLinear" id="19">
  <a:schemeClr val="accent6"/>
</cs:colorStyle>
</file>

<file path=ppt/charts/colors4.xml><?xml version="1.0" encoding="utf-8"?>
<cs:colorStyle xmlns:cs="http://schemas.microsoft.com/office/drawing/2012/chartStyle" xmlns:a="http://schemas.openxmlformats.org/drawingml/2006/main" meth="withinLinear" id="19">
  <a:schemeClr val="accent6"/>
</cs:colorStyle>
</file>

<file path=ppt/charts/colors5.xml><?xml version="1.0" encoding="utf-8"?>
<cs:colorStyle xmlns:cs="http://schemas.microsoft.com/office/drawing/2012/chartStyle" xmlns:a="http://schemas.openxmlformats.org/drawingml/2006/main" meth="withinLinear" id="19">
  <a:schemeClr val="accent6"/>
</cs:colorStyle>
</file>

<file path=ppt/charts/colors6.xml><?xml version="1.0" encoding="utf-8"?>
<cs:colorStyle xmlns:cs="http://schemas.microsoft.com/office/drawing/2012/chartStyle" xmlns:a="http://schemas.openxmlformats.org/drawingml/2006/main" meth="withinLinear" id="19">
  <a:schemeClr val="accent6"/>
</cs:colorStyle>
</file>

<file path=ppt/charts/colors7.xml><?xml version="1.0" encoding="utf-8"?>
<cs:colorStyle xmlns:cs="http://schemas.microsoft.com/office/drawing/2012/chartStyle" xmlns:a="http://schemas.openxmlformats.org/drawingml/2006/main" meth="withinLinear" id="19">
  <a:schemeClr val="accent6"/>
</cs:colorStyle>
</file>

<file path=ppt/charts/colors8.xml><?xml version="1.0" encoding="utf-8"?>
<cs:colorStyle xmlns:cs="http://schemas.microsoft.com/office/drawing/2012/chartStyle" xmlns:a="http://schemas.openxmlformats.org/drawingml/2006/main" meth="withinLinear" id="19">
  <a:schemeClr val="accent6"/>
</cs:colorStyle>
</file>

<file path=ppt/charts/colors9.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3884CE-AAE4-4E5B-B50A-F2916FF7E8C7}" type="doc">
      <dgm:prSet loTypeId="urn:microsoft.com/office/officeart/2005/8/layout/pyramid2" loCatId="pyramid" qsTypeId="urn:microsoft.com/office/officeart/2005/8/quickstyle/simple1" qsCatId="simple" csTypeId="urn:microsoft.com/office/officeart/2005/8/colors/accent1_2" csCatId="accent1" phldr="1"/>
      <dgm:spPr/>
    </dgm:pt>
    <dgm:pt modelId="{CCCDA704-ACE0-4A78-8A2B-9DA0B09BDB75}">
      <dgm:prSet phldrT="[Text]" custT="1"/>
      <dgm:spPr>
        <a:ln>
          <a:solidFill>
            <a:schemeClr val="accent1">
              <a:lumMod val="50000"/>
            </a:schemeClr>
          </a:solidFill>
        </a:ln>
      </dgm:spPr>
      <dgm:t>
        <a:bodyPr/>
        <a:lstStyle/>
        <a:p>
          <a:r>
            <a:rPr lang="en-US" sz="1500" dirty="0"/>
            <a:t>Very High Value</a:t>
          </a:r>
        </a:p>
        <a:p>
          <a:r>
            <a:rPr lang="en-US" sz="1100" dirty="0"/>
            <a:t>ARPU : ZAR &gt; 300</a:t>
          </a:r>
        </a:p>
      </dgm:t>
    </dgm:pt>
    <dgm:pt modelId="{03BC5973-7D2A-4ABD-90FD-A9CEC79636E0}" type="parTrans" cxnId="{9BC1FDAB-741B-4796-AA4B-119C6DB8B60F}">
      <dgm:prSet/>
      <dgm:spPr/>
      <dgm:t>
        <a:bodyPr/>
        <a:lstStyle/>
        <a:p>
          <a:endParaRPr lang="en-US"/>
        </a:p>
      </dgm:t>
    </dgm:pt>
    <dgm:pt modelId="{7E8837FD-5EB2-43E8-A89D-FD65FEB11A32}" type="sibTrans" cxnId="{9BC1FDAB-741B-4796-AA4B-119C6DB8B60F}">
      <dgm:prSet/>
      <dgm:spPr/>
      <dgm:t>
        <a:bodyPr/>
        <a:lstStyle/>
        <a:p>
          <a:endParaRPr lang="en-US"/>
        </a:p>
      </dgm:t>
    </dgm:pt>
    <dgm:pt modelId="{7292C0CC-AE59-4A03-BED5-2C0905F3EA14}">
      <dgm:prSet phldrT="[Text]" custT="1"/>
      <dgm:spPr>
        <a:ln>
          <a:solidFill>
            <a:schemeClr val="accent1">
              <a:lumMod val="50000"/>
            </a:schemeClr>
          </a:solidFill>
        </a:ln>
      </dgm:spPr>
      <dgm:t>
        <a:bodyPr/>
        <a:lstStyle/>
        <a:p>
          <a:r>
            <a:rPr lang="en-US" sz="1500" dirty="0"/>
            <a:t>High Value</a:t>
          </a:r>
        </a:p>
        <a:p>
          <a:r>
            <a:rPr lang="en-US" sz="1200" dirty="0"/>
            <a:t>ARPU : ZAR 125 to 300</a:t>
          </a:r>
        </a:p>
      </dgm:t>
    </dgm:pt>
    <dgm:pt modelId="{EA21DD0A-A095-466F-A83F-D66516CE3073}" type="parTrans" cxnId="{5042CC5B-9990-454B-9334-526E96E50DD9}">
      <dgm:prSet/>
      <dgm:spPr/>
      <dgm:t>
        <a:bodyPr/>
        <a:lstStyle/>
        <a:p>
          <a:endParaRPr lang="en-US"/>
        </a:p>
      </dgm:t>
    </dgm:pt>
    <dgm:pt modelId="{451614F6-21CB-413E-8B3F-F3083C03EADF}" type="sibTrans" cxnId="{5042CC5B-9990-454B-9334-526E96E50DD9}">
      <dgm:prSet/>
      <dgm:spPr/>
      <dgm:t>
        <a:bodyPr/>
        <a:lstStyle/>
        <a:p>
          <a:endParaRPr lang="en-US"/>
        </a:p>
      </dgm:t>
    </dgm:pt>
    <dgm:pt modelId="{8349600E-0B05-4D99-ACD5-BDC1C5E5DCDA}">
      <dgm:prSet phldrT="[Text]" custT="1"/>
      <dgm:spPr>
        <a:ln>
          <a:solidFill>
            <a:schemeClr val="accent1">
              <a:lumMod val="50000"/>
            </a:schemeClr>
          </a:solidFill>
        </a:ln>
      </dgm:spPr>
      <dgm:t>
        <a:bodyPr/>
        <a:lstStyle/>
        <a:p>
          <a:r>
            <a:rPr lang="en-US" sz="1500" dirty="0"/>
            <a:t>Medium Value</a:t>
          </a:r>
        </a:p>
        <a:p>
          <a:r>
            <a:rPr lang="en-US" sz="1200" dirty="0"/>
            <a:t>ARPU : ZAR 30 to 125</a:t>
          </a:r>
        </a:p>
      </dgm:t>
    </dgm:pt>
    <dgm:pt modelId="{C516C926-E5A1-48BD-AD67-CD775E5165AF}" type="parTrans" cxnId="{CCBE2F7A-6364-4C13-AB46-95ADA030DD3C}">
      <dgm:prSet/>
      <dgm:spPr/>
      <dgm:t>
        <a:bodyPr/>
        <a:lstStyle/>
        <a:p>
          <a:endParaRPr lang="en-US"/>
        </a:p>
      </dgm:t>
    </dgm:pt>
    <dgm:pt modelId="{B9045442-28CD-47A0-B80A-D81C7AB2481A}" type="sibTrans" cxnId="{CCBE2F7A-6364-4C13-AB46-95ADA030DD3C}">
      <dgm:prSet/>
      <dgm:spPr/>
      <dgm:t>
        <a:bodyPr/>
        <a:lstStyle/>
        <a:p>
          <a:endParaRPr lang="en-US"/>
        </a:p>
      </dgm:t>
    </dgm:pt>
    <dgm:pt modelId="{CDE1AFC7-D729-41A6-88E0-949B340E1090}">
      <dgm:prSet phldrT="[Text]" custT="1"/>
      <dgm:spPr>
        <a:ln>
          <a:solidFill>
            <a:schemeClr val="accent1">
              <a:lumMod val="50000"/>
            </a:schemeClr>
          </a:solidFill>
        </a:ln>
      </dgm:spPr>
      <dgm:t>
        <a:bodyPr/>
        <a:lstStyle/>
        <a:p>
          <a:r>
            <a:rPr lang="en-US" sz="1500" dirty="0"/>
            <a:t>Low Value</a:t>
          </a:r>
        </a:p>
        <a:p>
          <a:r>
            <a:rPr lang="en-US" sz="1200" dirty="0"/>
            <a:t>ARPU : ZAR 0 to 30</a:t>
          </a:r>
        </a:p>
      </dgm:t>
    </dgm:pt>
    <dgm:pt modelId="{EA1A53F0-97DE-466C-B433-34C4C9BF89D0}" type="parTrans" cxnId="{2B993935-50A3-4532-844A-6CEA3647553A}">
      <dgm:prSet/>
      <dgm:spPr/>
      <dgm:t>
        <a:bodyPr/>
        <a:lstStyle/>
        <a:p>
          <a:endParaRPr lang="en-US"/>
        </a:p>
      </dgm:t>
    </dgm:pt>
    <dgm:pt modelId="{989338E1-8C27-4B65-8878-D3D3D9F1BEEB}" type="sibTrans" cxnId="{2B993935-50A3-4532-844A-6CEA3647553A}">
      <dgm:prSet/>
      <dgm:spPr/>
      <dgm:t>
        <a:bodyPr/>
        <a:lstStyle/>
        <a:p>
          <a:endParaRPr lang="en-US"/>
        </a:p>
      </dgm:t>
    </dgm:pt>
    <dgm:pt modelId="{B67A6561-A75F-4457-BE60-37EA079F3448}" type="pres">
      <dgm:prSet presAssocID="{CE3884CE-AAE4-4E5B-B50A-F2916FF7E8C7}" presName="compositeShape" presStyleCnt="0">
        <dgm:presLayoutVars>
          <dgm:dir/>
          <dgm:resizeHandles/>
        </dgm:presLayoutVars>
      </dgm:prSet>
      <dgm:spPr/>
    </dgm:pt>
    <dgm:pt modelId="{DC908118-B83E-4A9F-9BBC-8FDC2855BA6B}" type="pres">
      <dgm:prSet presAssocID="{CE3884CE-AAE4-4E5B-B50A-F2916FF7E8C7}" presName="pyramid" presStyleLbl="node1" presStyleIdx="0" presStyleCnt="1" custLinFactNeighborX="-48213" custLinFactNeighborY="-23766"/>
      <dgm:spPr>
        <a:ln>
          <a:solidFill>
            <a:schemeClr val="accent1">
              <a:lumMod val="50000"/>
            </a:schemeClr>
          </a:solidFill>
        </a:ln>
      </dgm:spPr>
    </dgm:pt>
    <dgm:pt modelId="{F6F09257-0962-4351-9C5B-750B7787E432}" type="pres">
      <dgm:prSet presAssocID="{CE3884CE-AAE4-4E5B-B50A-F2916FF7E8C7}" presName="theList" presStyleCnt="0"/>
      <dgm:spPr/>
    </dgm:pt>
    <dgm:pt modelId="{957E3C5F-7667-4F42-A79D-B8A789BDC77A}" type="pres">
      <dgm:prSet presAssocID="{CCCDA704-ACE0-4A78-8A2B-9DA0B09BDB75}" presName="aNode" presStyleLbl="fgAcc1" presStyleIdx="0" presStyleCnt="4">
        <dgm:presLayoutVars>
          <dgm:bulletEnabled val="1"/>
        </dgm:presLayoutVars>
      </dgm:prSet>
      <dgm:spPr/>
    </dgm:pt>
    <dgm:pt modelId="{BF6DA18B-C948-4626-8599-14B5F8B1DA2F}" type="pres">
      <dgm:prSet presAssocID="{CCCDA704-ACE0-4A78-8A2B-9DA0B09BDB75}" presName="aSpace" presStyleCnt="0"/>
      <dgm:spPr/>
    </dgm:pt>
    <dgm:pt modelId="{5352101E-5882-44CC-BC65-980E1B90125F}" type="pres">
      <dgm:prSet presAssocID="{7292C0CC-AE59-4A03-BED5-2C0905F3EA14}" presName="aNode" presStyleLbl="fgAcc1" presStyleIdx="1" presStyleCnt="4">
        <dgm:presLayoutVars>
          <dgm:bulletEnabled val="1"/>
        </dgm:presLayoutVars>
      </dgm:prSet>
      <dgm:spPr/>
    </dgm:pt>
    <dgm:pt modelId="{4D774C2C-2800-403F-A858-C22C2F7A7998}" type="pres">
      <dgm:prSet presAssocID="{7292C0CC-AE59-4A03-BED5-2C0905F3EA14}" presName="aSpace" presStyleCnt="0"/>
      <dgm:spPr/>
    </dgm:pt>
    <dgm:pt modelId="{68CE46DC-9130-45B4-B761-3BD5AB7799FC}" type="pres">
      <dgm:prSet presAssocID="{8349600E-0B05-4D99-ACD5-BDC1C5E5DCDA}" presName="aNode" presStyleLbl="fgAcc1" presStyleIdx="2" presStyleCnt="4">
        <dgm:presLayoutVars>
          <dgm:bulletEnabled val="1"/>
        </dgm:presLayoutVars>
      </dgm:prSet>
      <dgm:spPr/>
    </dgm:pt>
    <dgm:pt modelId="{74759AB0-5BFF-4A4F-8C60-99759E174BD5}" type="pres">
      <dgm:prSet presAssocID="{8349600E-0B05-4D99-ACD5-BDC1C5E5DCDA}" presName="aSpace" presStyleCnt="0"/>
      <dgm:spPr/>
    </dgm:pt>
    <dgm:pt modelId="{5AEA3DB4-D260-4DC6-BA3E-F69B0DEBCE9D}" type="pres">
      <dgm:prSet presAssocID="{CDE1AFC7-D729-41A6-88E0-949B340E1090}" presName="aNode" presStyleLbl="fgAcc1" presStyleIdx="3" presStyleCnt="4">
        <dgm:presLayoutVars>
          <dgm:bulletEnabled val="1"/>
        </dgm:presLayoutVars>
      </dgm:prSet>
      <dgm:spPr/>
    </dgm:pt>
    <dgm:pt modelId="{47FD0D7E-141C-45B6-A36C-44B7C8F714AE}" type="pres">
      <dgm:prSet presAssocID="{CDE1AFC7-D729-41A6-88E0-949B340E1090}" presName="aSpace" presStyleCnt="0"/>
      <dgm:spPr/>
    </dgm:pt>
  </dgm:ptLst>
  <dgm:cxnLst>
    <dgm:cxn modelId="{CFD92A1B-40A9-4CEB-89A4-ADBFCB92D749}" type="presOf" srcId="{CDE1AFC7-D729-41A6-88E0-949B340E1090}" destId="{5AEA3DB4-D260-4DC6-BA3E-F69B0DEBCE9D}" srcOrd="0" destOrd="0" presId="urn:microsoft.com/office/officeart/2005/8/layout/pyramid2"/>
    <dgm:cxn modelId="{2B993935-50A3-4532-844A-6CEA3647553A}" srcId="{CE3884CE-AAE4-4E5B-B50A-F2916FF7E8C7}" destId="{CDE1AFC7-D729-41A6-88E0-949B340E1090}" srcOrd="3" destOrd="0" parTransId="{EA1A53F0-97DE-466C-B433-34C4C9BF89D0}" sibTransId="{989338E1-8C27-4B65-8878-D3D3D9F1BEEB}"/>
    <dgm:cxn modelId="{5042CC5B-9990-454B-9334-526E96E50DD9}" srcId="{CE3884CE-AAE4-4E5B-B50A-F2916FF7E8C7}" destId="{7292C0CC-AE59-4A03-BED5-2C0905F3EA14}" srcOrd="1" destOrd="0" parTransId="{EA21DD0A-A095-466F-A83F-D66516CE3073}" sibTransId="{451614F6-21CB-413E-8B3F-F3083C03EADF}"/>
    <dgm:cxn modelId="{6DF03F4D-EC74-4B8B-80FC-4D829C960B08}" type="presOf" srcId="{CCCDA704-ACE0-4A78-8A2B-9DA0B09BDB75}" destId="{957E3C5F-7667-4F42-A79D-B8A789BDC77A}" srcOrd="0" destOrd="0" presId="urn:microsoft.com/office/officeart/2005/8/layout/pyramid2"/>
    <dgm:cxn modelId="{2FAC9558-0663-4187-AFDC-42D0BED78896}" type="presOf" srcId="{CE3884CE-AAE4-4E5B-B50A-F2916FF7E8C7}" destId="{B67A6561-A75F-4457-BE60-37EA079F3448}" srcOrd="0" destOrd="0" presId="urn:microsoft.com/office/officeart/2005/8/layout/pyramid2"/>
    <dgm:cxn modelId="{CCBE2F7A-6364-4C13-AB46-95ADA030DD3C}" srcId="{CE3884CE-AAE4-4E5B-B50A-F2916FF7E8C7}" destId="{8349600E-0B05-4D99-ACD5-BDC1C5E5DCDA}" srcOrd="2" destOrd="0" parTransId="{C516C926-E5A1-48BD-AD67-CD775E5165AF}" sibTransId="{B9045442-28CD-47A0-B80A-D81C7AB2481A}"/>
    <dgm:cxn modelId="{57D8C587-4B15-4889-ABDC-4A7175ED2817}" type="presOf" srcId="{7292C0CC-AE59-4A03-BED5-2C0905F3EA14}" destId="{5352101E-5882-44CC-BC65-980E1B90125F}" srcOrd="0" destOrd="0" presId="urn:microsoft.com/office/officeart/2005/8/layout/pyramid2"/>
    <dgm:cxn modelId="{9BC1FDAB-741B-4796-AA4B-119C6DB8B60F}" srcId="{CE3884CE-AAE4-4E5B-B50A-F2916FF7E8C7}" destId="{CCCDA704-ACE0-4A78-8A2B-9DA0B09BDB75}" srcOrd="0" destOrd="0" parTransId="{03BC5973-7D2A-4ABD-90FD-A9CEC79636E0}" sibTransId="{7E8837FD-5EB2-43E8-A89D-FD65FEB11A32}"/>
    <dgm:cxn modelId="{F33BF0FC-ECEF-4502-80D4-464AA3EE2C22}" type="presOf" srcId="{8349600E-0B05-4D99-ACD5-BDC1C5E5DCDA}" destId="{68CE46DC-9130-45B4-B761-3BD5AB7799FC}" srcOrd="0" destOrd="0" presId="urn:microsoft.com/office/officeart/2005/8/layout/pyramid2"/>
    <dgm:cxn modelId="{EFBE2CEC-EB5B-43DE-BEDB-4FD5F4DDAFE1}" type="presParOf" srcId="{B67A6561-A75F-4457-BE60-37EA079F3448}" destId="{DC908118-B83E-4A9F-9BBC-8FDC2855BA6B}" srcOrd="0" destOrd="0" presId="urn:microsoft.com/office/officeart/2005/8/layout/pyramid2"/>
    <dgm:cxn modelId="{7C95EDDE-095E-49A8-93AC-8625ABF0C8C6}" type="presParOf" srcId="{B67A6561-A75F-4457-BE60-37EA079F3448}" destId="{F6F09257-0962-4351-9C5B-750B7787E432}" srcOrd="1" destOrd="0" presId="urn:microsoft.com/office/officeart/2005/8/layout/pyramid2"/>
    <dgm:cxn modelId="{5FA7E506-CF8A-4743-AE09-F4D292743607}" type="presParOf" srcId="{F6F09257-0962-4351-9C5B-750B7787E432}" destId="{957E3C5F-7667-4F42-A79D-B8A789BDC77A}" srcOrd="0" destOrd="0" presId="urn:microsoft.com/office/officeart/2005/8/layout/pyramid2"/>
    <dgm:cxn modelId="{1C505EBE-BB64-4402-9FC3-1799F0131DE4}" type="presParOf" srcId="{F6F09257-0962-4351-9C5B-750B7787E432}" destId="{BF6DA18B-C948-4626-8599-14B5F8B1DA2F}" srcOrd="1" destOrd="0" presId="urn:microsoft.com/office/officeart/2005/8/layout/pyramid2"/>
    <dgm:cxn modelId="{4285C685-4294-4715-BCFB-5EF7DE9EF51F}" type="presParOf" srcId="{F6F09257-0962-4351-9C5B-750B7787E432}" destId="{5352101E-5882-44CC-BC65-980E1B90125F}" srcOrd="2" destOrd="0" presId="urn:microsoft.com/office/officeart/2005/8/layout/pyramid2"/>
    <dgm:cxn modelId="{8AAE5344-8068-4C06-83CD-D43D80274DED}" type="presParOf" srcId="{F6F09257-0962-4351-9C5B-750B7787E432}" destId="{4D774C2C-2800-403F-A858-C22C2F7A7998}" srcOrd="3" destOrd="0" presId="urn:microsoft.com/office/officeart/2005/8/layout/pyramid2"/>
    <dgm:cxn modelId="{5F4000A1-FDE3-473D-9A59-FBE9738BF04C}" type="presParOf" srcId="{F6F09257-0962-4351-9C5B-750B7787E432}" destId="{68CE46DC-9130-45B4-B761-3BD5AB7799FC}" srcOrd="4" destOrd="0" presId="urn:microsoft.com/office/officeart/2005/8/layout/pyramid2"/>
    <dgm:cxn modelId="{5F18D3F3-349F-4FB7-8979-A72E29D6348C}" type="presParOf" srcId="{F6F09257-0962-4351-9C5B-750B7787E432}" destId="{74759AB0-5BFF-4A4F-8C60-99759E174BD5}" srcOrd="5" destOrd="0" presId="urn:microsoft.com/office/officeart/2005/8/layout/pyramid2"/>
    <dgm:cxn modelId="{DDEE2AB5-BCE9-4E66-B2A3-256C3C2E40B8}" type="presParOf" srcId="{F6F09257-0962-4351-9C5B-750B7787E432}" destId="{5AEA3DB4-D260-4DC6-BA3E-F69B0DEBCE9D}" srcOrd="6" destOrd="0" presId="urn:microsoft.com/office/officeart/2005/8/layout/pyramid2"/>
    <dgm:cxn modelId="{0E4866D3-214D-47D7-91A9-AA199B72AFA8}" type="presParOf" srcId="{F6F09257-0962-4351-9C5B-750B7787E432}" destId="{47FD0D7E-141C-45B6-A36C-44B7C8F714AE}" srcOrd="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908118-B83E-4A9F-9BBC-8FDC2855BA6B}">
      <dsp:nvSpPr>
        <dsp:cNvPr id="0" name=""/>
        <dsp:cNvSpPr/>
      </dsp:nvSpPr>
      <dsp:spPr>
        <a:xfrm>
          <a:off x="0" y="0"/>
          <a:ext cx="3190996" cy="4186998"/>
        </a:xfrm>
        <a:prstGeom prst="triangle">
          <a:avLst/>
        </a:prstGeom>
        <a:solidFill>
          <a:schemeClr val="accent1">
            <a:hueOff val="0"/>
            <a:satOff val="0"/>
            <a:lumOff val="0"/>
            <a:alphaOff val="0"/>
          </a:schemeClr>
        </a:solidFill>
        <a:ln w="25400" cap="flat" cmpd="sng" algn="ctr">
          <a:solidFill>
            <a:schemeClr val="accent1">
              <a:lumMod val="50000"/>
            </a:schemeClr>
          </a:solidFill>
          <a:prstDash val="solid"/>
        </a:ln>
        <a:effectLst/>
      </dsp:spPr>
      <dsp:style>
        <a:lnRef idx="2">
          <a:scrgbClr r="0" g="0" b="0"/>
        </a:lnRef>
        <a:fillRef idx="1">
          <a:scrgbClr r="0" g="0" b="0"/>
        </a:fillRef>
        <a:effectRef idx="0">
          <a:scrgbClr r="0" g="0" b="0"/>
        </a:effectRef>
        <a:fontRef idx="minor">
          <a:schemeClr val="lt1"/>
        </a:fontRef>
      </dsp:style>
    </dsp:sp>
    <dsp:sp modelId="{957E3C5F-7667-4F42-A79D-B8A789BDC77A}">
      <dsp:nvSpPr>
        <dsp:cNvPr id="0" name=""/>
        <dsp:cNvSpPr/>
      </dsp:nvSpPr>
      <dsp:spPr>
        <a:xfrm>
          <a:off x="1595498" y="419108"/>
          <a:ext cx="2074147" cy="744173"/>
        </a:xfrm>
        <a:prstGeom prst="roundRect">
          <a:avLst/>
        </a:prstGeom>
        <a:solidFill>
          <a:schemeClr val="lt1">
            <a:alpha val="90000"/>
            <a:hueOff val="0"/>
            <a:satOff val="0"/>
            <a:lumOff val="0"/>
            <a:alphaOff val="0"/>
          </a:schemeClr>
        </a:solidFill>
        <a:ln w="25400" cap="flat" cmpd="sng" algn="ctr">
          <a:solidFill>
            <a:schemeClr val="accent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Very High Value</a:t>
          </a:r>
        </a:p>
        <a:p>
          <a:pPr marL="0" lvl="0" indent="0" algn="ctr" defTabSz="666750">
            <a:lnSpc>
              <a:spcPct val="90000"/>
            </a:lnSpc>
            <a:spcBef>
              <a:spcPct val="0"/>
            </a:spcBef>
            <a:spcAft>
              <a:spcPct val="35000"/>
            </a:spcAft>
            <a:buNone/>
          </a:pPr>
          <a:r>
            <a:rPr lang="en-US" sz="1100" kern="1200" dirty="0"/>
            <a:t>ARPU : ZAR &gt; 300</a:t>
          </a:r>
        </a:p>
      </dsp:txBody>
      <dsp:txXfrm>
        <a:off x="1631826" y="455436"/>
        <a:ext cx="2001491" cy="671517"/>
      </dsp:txXfrm>
    </dsp:sp>
    <dsp:sp modelId="{5352101E-5882-44CC-BC65-980E1B90125F}">
      <dsp:nvSpPr>
        <dsp:cNvPr id="0" name=""/>
        <dsp:cNvSpPr/>
      </dsp:nvSpPr>
      <dsp:spPr>
        <a:xfrm>
          <a:off x="1595498" y="1256303"/>
          <a:ext cx="2074147" cy="744173"/>
        </a:xfrm>
        <a:prstGeom prst="roundRect">
          <a:avLst/>
        </a:prstGeom>
        <a:solidFill>
          <a:schemeClr val="lt1">
            <a:alpha val="90000"/>
            <a:hueOff val="0"/>
            <a:satOff val="0"/>
            <a:lumOff val="0"/>
            <a:alphaOff val="0"/>
          </a:schemeClr>
        </a:solidFill>
        <a:ln w="25400" cap="flat" cmpd="sng" algn="ctr">
          <a:solidFill>
            <a:schemeClr val="accent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High Value</a:t>
          </a:r>
        </a:p>
        <a:p>
          <a:pPr marL="0" lvl="0" indent="0" algn="ctr" defTabSz="666750">
            <a:lnSpc>
              <a:spcPct val="90000"/>
            </a:lnSpc>
            <a:spcBef>
              <a:spcPct val="0"/>
            </a:spcBef>
            <a:spcAft>
              <a:spcPct val="35000"/>
            </a:spcAft>
            <a:buNone/>
          </a:pPr>
          <a:r>
            <a:rPr lang="en-US" sz="1200" kern="1200" dirty="0"/>
            <a:t>ARPU : ZAR 125 to 300</a:t>
          </a:r>
        </a:p>
      </dsp:txBody>
      <dsp:txXfrm>
        <a:off x="1631826" y="1292631"/>
        <a:ext cx="2001491" cy="671517"/>
      </dsp:txXfrm>
    </dsp:sp>
    <dsp:sp modelId="{68CE46DC-9130-45B4-B761-3BD5AB7799FC}">
      <dsp:nvSpPr>
        <dsp:cNvPr id="0" name=""/>
        <dsp:cNvSpPr/>
      </dsp:nvSpPr>
      <dsp:spPr>
        <a:xfrm>
          <a:off x="1595498" y="2093498"/>
          <a:ext cx="2074147" cy="744173"/>
        </a:xfrm>
        <a:prstGeom prst="roundRect">
          <a:avLst/>
        </a:prstGeom>
        <a:solidFill>
          <a:schemeClr val="lt1">
            <a:alpha val="90000"/>
            <a:hueOff val="0"/>
            <a:satOff val="0"/>
            <a:lumOff val="0"/>
            <a:alphaOff val="0"/>
          </a:schemeClr>
        </a:solidFill>
        <a:ln w="25400" cap="flat" cmpd="sng" algn="ctr">
          <a:solidFill>
            <a:schemeClr val="accent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Medium Value</a:t>
          </a:r>
        </a:p>
        <a:p>
          <a:pPr marL="0" lvl="0" indent="0" algn="ctr" defTabSz="666750">
            <a:lnSpc>
              <a:spcPct val="90000"/>
            </a:lnSpc>
            <a:spcBef>
              <a:spcPct val="0"/>
            </a:spcBef>
            <a:spcAft>
              <a:spcPct val="35000"/>
            </a:spcAft>
            <a:buNone/>
          </a:pPr>
          <a:r>
            <a:rPr lang="en-US" sz="1200" kern="1200" dirty="0"/>
            <a:t>ARPU : ZAR 30 to 125</a:t>
          </a:r>
        </a:p>
      </dsp:txBody>
      <dsp:txXfrm>
        <a:off x="1631826" y="2129826"/>
        <a:ext cx="2001491" cy="671517"/>
      </dsp:txXfrm>
    </dsp:sp>
    <dsp:sp modelId="{5AEA3DB4-D260-4DC6-BA3E-F69B0DEBCE9D}">
      <dsp:nvSpPr>
        <dsp:cNvPr id="0" name=""/>
        <dsp:cNvSpPr/>
      </dsp:nvSpPr>
      <dsp:spPr>
        <a:xfrm>
          <a:off x="1595498" y="2930694"/>
          <a:ext cx="2074147" cy="744173"/>
        </a:xfrm>
        <a:prstGeom prst="roundRect">
          <a:avLst/>
        </a:prstGeom>
        <a:solidFill>
          <a:schemeClr val="lt1">
            <a:alpha val="90000"/>
            <a:hueOff val="0"/>
            <a:satOff val="0"/>
            <a:lumOff val="0"/>
            <a:alphaOff val="0"/>
          </a:schemeClr>
        </a:solidFill>
        <a:ln w="25400" cap="flat" cmpd="sng" algn="ctr">
          <a:solidFill>
            <a:schemeClr val="accent1">
              <a:lumMod val="5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Low Value</a:t>
          </a:r>
        </a:p>
        <a:p>
          <a:pPr marL="0" lvl="0" indent="0" algn="ctr" defTabSz="666750">
            <a:lnSpc>
              <a:spcPct val="90000"/>
            </a:lnSpc>
            <a:spcBef>
              <a:spcPct val="0"/>
            </a:spcBef>
            <a:spcAft>
              <a:spcPct val="35000"/>
            </a:spcAft>
            <a:buNone/>
          </a:pPr>
          <a:r>
            <a:rPr lang="en-US" sz="1200" kern="1200" dirty="0"/>
            <a:t>ARPU : ZAR 0 to 30</a:t>
          </a:r>
        </a:p>
      </dsp:txBody>
      <dsp:txXfrm>
        <a:off x="1631826" y="2967022"/>
        <a:ext cx="2001491" cy="671517"/>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266BB-B7E3-408C-A48F-777B4F069603}" type="datetimeFigureOut">
              <a:rPr lang="en-IN" smtClean="0"/>
              <a:t>29-10-2021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590926-B28E-4947-BB0C-6742EE907E52}" type="slidenum">
              <a:rPr lang="en-IN" smtClean="0"/>
              <a:t>‹#›</a:t>
            </a:fld>
            <a:endParaRPr lang="en-IN"/>
          </a:p>
        </p:txBody>
      </p:sp>
    </p:spTree>
    <p:extLst>
      <p:ext uri="{BB962C8B-B14F-4D97-AF65-F5344CB8AC3E}">
        <p14:creationId xmlns:p14="http://schemas.microsoft.com/office/powerpoint/2010/main" val="1538124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Header Placeholder 5"/>
          <p:cNvSpPr>
            <a:spLocks noGrp="1"/>
          </p:cNvSpPr>
          <p:nvPr>
            <p:ph type="hd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4679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FEE106-D861-6343-96FF-5BF90692C3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1531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8590926-B28E-4947-BB0C-6742EE907E52}" type="slidenum">
              <a:rPr lang="en-IN" smtClean="0"/>
              <a:t>7</a:t>
            </a:fld>
            <a:endParaRPr lang="en-IN"/>
          </a:p>
        </p:txBody>
      </p:sp>
    </p:spTree>
    <p:extLst>
      <p:ext uri="{BB962C8B-B14F-4D97-AF65-F5344CB8AC3E}">
        <p14:creationId xmlns:p14="http://schemas.microsoft.com/office/powerpoint/2010/main" val="3574488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Header Placeholder 5"/>
          <p:cNvSpPr>
            <a:spLocks noGrp="1"/>
          </p:cNvSpPr>
          <p:nvPr>
            <p:ph type="hd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3557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45327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75200" y="5530390"/>
            <a:ext cx="5592012" cy="324000"/>
          </a:xfrm>
        </p:spPr>
        <p:txBody>
          <a:bodyPr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51850315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©2017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20" name="Group 19"/>
          <p:cNvGrpSpPr/>
          <p:nvPr userDrawn="1"/>
        </p:nvGrpSpPr>
        <p:grpSpPr>
          <a:xfrm>
            <a:off x="501649" y="378001"/>
            <a:ext cx="2159032" cy="326302"/>
            <a:chOff x="439792" y="416850"/>
            <a:chExt cx="1892808" cy="359839"/>
          </a:xfrm>
        </p:grpSpPr>
        <p:sp>
          <p:nvSpPr>
            <p:cNvPr id="21"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2"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3"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4"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5"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6"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7"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8"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9"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30"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grpSp>
    </p:spTree>
    <p:extLst>
      <p:ext uri="{BB962C8B-B14F-4D97-AF65-F5344CB8AC3E}">
        <p14:creationId xmlns:p14="http://schemas.microsoft.com/office/powerpoint/2010/main" val="1065459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Tree>
    <p:extLst>
      <p:ext uri="{BB962C8B-B14F-4D97-AF65-F5344CB8AC3E}">
        <p14:creationId xmlns:p14="http://schemas.microsoft.com/office/powerpoint/2010/main" val="590448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16002" y="432906"/>
            <a:ext cx="10181167" cy="516795"/>
          </a:xfrm>
          <a:prstGeom prst="rect">
            <a:avLst/>
          </a:prstGeom>
        </p:spPr>
        <p:txBody>
          <a:bodyPr/>
          <a:lstStyle/>
          <a:p>
            <a:r>
              <a:rPr lang="en-US"/>
              <a:t>Click to edit Master title style</a:t>
            </a:r>
            <a:endParaRPr lang="en-IN"/>
          </a:p>
        </p:txBody>
      </p:sp>
      <p:sp>
        <p:nvSpPr>
          <p:cNvPr id="5" name="Rectangle 4"/>
          <p:cNvSpPr/>
          <p:nvPr userDrawn="1"/>
        </p:nvSpPr>
        <p:spPr>
          <a:xfrm>
            <a:off x="595746" y="1288473"/>
            <a:ext cx="8806296" cy="4879433"/>
          </a:xfrm>
          <a:prstGeom prst="rect">
            <a:avLst/>
          </a:prstGeom>
          <a:solidFill>
            <a:schemeClr val="bg1"/>
          </a:solidFill>
          <a:ln>
            <a:solidFill>
              <a:srgbClr val="92D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prstClr val="white"/>
              </a:solidFill>
            </a:endParaRPr>
          </a:p>
        </p:txBody>
      </p:sp>
      <p:sp>
        <p:nvSpPr>
          <p:cNvPr id="6" name="Rectangle 5"/>
          <p:cNvSpPr/>
          <p:nvPr userDrawn="1"/>
        </p:nvSpPr>
        <p:spPr>
          <a:xfrm>
            <a:off x="9573491" y="1288473"/>
            <a:ext cx="2299422" cy="4879434"/>
          </a:xfrm>
          <a:prstGeom prst="rect">
            <a:avLst/>
          </a:prstGeom>
          <a:solidFill>
            <a:schemeClr val="bg1"/>
          </a:solidFill>
          <a:ln>
            <a:solidFill>
              <a:srgbClr val="92D05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solidFill>
                <a:prstClr val="white"/>
              </a:solidFill>
            </a:endParaRPr>
          </a:p>
        </p:txBody>
      </p:sp>
    </p:spTree>
    <p:extLst>
      <p:ext uri="{BB962C8B-B14F-4D97-AF65-F5344CB8AC3E}">
        <p14:creationId xmlns:p14="http://schemas.microsoft.com/office/powerpoint/2010/main" val="21137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10" name="Text Placeholder 7"/>
          <p:cNvSpPr>
            <a:spLocks noGrp="1"/>
          </p:cNvSpPr>
          <p:nvPr>
            <p:ph type="body" sz="quarter" idx="11"/>
          </p:nvPr>
        </p:nvSpPr>
        <p:spPr>
          <a:xfrm>
            <a:off x="1016002" y="1304925"/>
            <a:ext cx="10181167" cy="4533900"/>
          </a:xfrm>
          <a:prstGeom prst="rect">
            <a:avLst/>
          </a:prstGeom>
        </p:spPr>
        <p:txBody>
          <a:bodyPr vert="horz" lIns="0" tIns="0" rIns="0" bIns="0"/>
          <a:lstStyle>
            <a:lvl1pPr>
              <a:defRPr b="1" i="0">
                <a:solidFill>
                  <a:schemeClr val="tx2"/>
                </a:solidFill>
                <a:latin typeface="Univers for KPMG"/>
                <a:cs typeface="Univers for KPMG"/>
              </a:defRPr>
            </a:lvl1pPr>
            <a:lvl2pPr marL="0" indent="0">
              <a:buFontTx/>
              <a:buNone/>
              <a:defRPr>
                <a:solidFill>
                  <a:schemeClr val="tx2"/>
                </a:solidFill>
                <a:latin typeface="Univers for KPMG Light"/>
                <a:cs typeface="Univers for KPMG Light"/>
              </a:defRPr>
            </a:lvl2pPr>
            <a:lvl3pPr marL="285750" indent="-283464">
              <a:buFont typeface="Univers for KPMG Light" panose="020B0403020202020204" pitchFamily="34" charset="0"/>
              <a:buChar char="—"/>
              <a:defRPr>
                <a:solidFill>
                  <a:schemeClr val="tx2"/>
                </a:solidFill>
                <a:latin typeface="Univers for KPMG Light"/>
                <a:cs typeface="Univers for KPMG Light"/>
              </a:defRPr>
            </a:lvl3pPr>
            <a:lvl4pPr marL="576072" indent="-228600">
              <a:buFont typeface="Univers for KPMG Light" panose="020B0403020202020204" pitchFamily="34" charset="0"/>
              <a:buChar char="-"/>
              <a:defRPr>
                <a:solidFill>
                  <a:schemeClr val="tx2"/>
                </a:solidFill>
                <a:latin typeface="Univers for KPMG Light"/>
                <a:cs typeface="Univers for KPMG Light"/>
              </a:defRPr>
            </a:lvl4pPr>
            <a:lvl5pPr>
              <a:defRPr lang="en-US" sz="1500" b="0" i="0" dirty="0" smtClean="0">
                <a:solidFill>
                  <a:schemeClr val="tx2"/>
                </a:solidFill>
                <a:latin typeface="Univers for KPMG Light"/>
                <a:cs typeface="Univers for KPMG Ligh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48034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11252200"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6588839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10" name="Title 9"/>
          <p:cNvSpPr>
            <a:spLocks noGrp="1"/>
          </p:cNvSpPr>
          <p:nvPr>
            <p:ph type="title" hasCustomPrompt="1"/>
          </p:nvPr>
        </p:nvSpPr>
        <p:spPr>
          <a:xfrm>
            <a:off x="825500" y="352426"/>
            <a:ext cx="10515600" cy="734804"/>
          </a:xfrm>
          <a:prstGeom prst="rect">
            <a:avLst/>
          </a:prstGeom>
        </p:spPr>
        <p:txBody>
          <a:bodyPr lIns="0" tIns="0" rIns="0" bIns="0" anchor="ctr"/>
          <a:lstStyle>
            <a:lvl1pPr algn="l" defTabSz="914400" rtl="0" eaLnBrk="1" latinLnBrk="0" hangingPunct="1">
              <a:lnSpc>
                <a:spcPct val="70000"/>
              </a:lnSpc>
              <a:spcBef>
                <a:spcPct val="0"/>
              </a:spcBef>
              <a:buNone/>
              <a:defRPr lang="en-US" sz="2400" b="1" kern="1200" dirty="0">
                <a:solidFill>
                  <a:schemeClr val="bg2">
                    <a:lumMod val="75000"/>
                  </a:schemeClr>
                </a:solidFill>
                <a:latin typeface="+mj-lt"/>
                <a:ea typeface="+mj-ea"/>
                <a:cs typeface="KPMG Extralight" panose="020B0303030202040204" pitchFamily="34" charset="0"/>
              </a:defRPr>
            </a:lvl1pPr>
          </a:lstStyle>
          <a:p>
            <a:r>
              <a:rPr lang="en-US" dirty="0"/>
              <a:t>XXX</a:t>
            </a:r>
          </a:p>
        </p:txBody>
      </p:sp>
    </p:spTree>
    <p:extLst>
      <p:ext uri="{BB962C8B-B14F-4D97-AF65-F5344CB8AC3E}">
        <p14:creationId xmlns:p14="http://schemas.microsoft.com/office/powerpoint/2010/main" val="4287507245"/>
      </p:ext>
    </p:extLst>
  </p:cSld>
  <p:clrMapOvr>
    <a:masterClrMapping/>
  </p:clrMapOvr>
  <p:extLst>
    <p:ext uri="{DCECCB84-F9BA-43D5-87BE-67443E8EF086}">
      <p15:sldGuideLst xmlns:p15="http://schemas.microsoft.com/office/powerpoint/2012/main">
        <p15:guide id="1" orient="horz" pos="1071">
          <p15:clr>
            <a:srgbClr val="FBAE40"/>
          </p15:clr>
        </p15:guide>
        <p15:guide id="2" pos="385">
          <p15:clr>
            <a:srgbClr val="FBAE40"/>
          </p15:clr>
        </p15:guide>
        <p15:guide id="3" pos="5375">
          <p15:clr>
            <a:srgbClr val="FBAE40"/>
          </p15:clr>
        </p15:guide>
        <p15:guide id="4" orient="horz" pos="36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69900" y="305310"/>
            <a:ext cx="11252200" cy="692151"/>
          </a:xfrm>
        </p:spPr>
        <p:txBody>
          <a:bodyPr lIns="0" tIns="0" rIns="0" bIns="0"/>
          <a:lstStyle>
            <a:lvl1pPr>
              <a:defRPr sz="20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Tree>
    <p:extLst>
      <p:ext uri="{BB962C8B-B14F-4D97-AF65-F5344CB8AC3E}">
        <p14:creationId xmlns:p14="http://schemas.microsoft.com/office/powerpoint/2010/main" val="884582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Title 4"/>
          <p:cNvSpPr>
            <a:spLocks noGrp="1"/>
          </p:cNvSpPr>
          <p:nvPr>
            <p:ph type="title"/>
          </p:nvPr>
        </p:nvSpPr>
        <p:spPr>
          <a:xfrm>
            <a:off x="1016002" y="432906"/>
            <a:ext cx="10181167" cy="577289"/>
          </a:xfrm>
        </p:spPr>
        <p:txBody>
          <a:bodyPr/>
          <a:lstStyle>
            <a:lvl1pPr>
              <a:defRPr>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909593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3"/>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17174" name="think-cell Slide" r:id="rId14" imgW="360" imgH="360" progId="">
                  <p:embed/>
                </p:oleObj>
              </mc:Choice>
              <mc:Fallback>
                <p:oleObj name="think-cell Slide" r:id="rId14" imgW="360" imgH="360" progId="">
                  <p:embed/>
                  <p:pic>
                    <p:nvPicPr>
                      <p:cNvPr id="4" name="Object 3"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19"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a:solidFill>
                  <a:prstClr val="black"/>
                </a:solidFill>
              </a:rPr>
              <a:pPr algn="r">
                <a:spcBef>
                  <a:spcPts val="800"/>
                </a:spcBef>
                <a:buSzPct val="100000"/>
                <a:buFont typeface="Arial"/>
                <a:buNone/>
              </a:pPr>
              <a:t>‹#›</a:t>
            </a:fld>
            <a:endParaRPr lang="en-US" sz="650" dirty="0">
              <a:solidFill>
                <a:prstClr val="black"/>
              </a:solidFill>
            </a:endParaRPr>
          </a:p>
        </p:txBody>
      </p:sp>
      <p:sp>
        <p:nvSpPr>
          <p:cNvPr id="8" name="TextBox 7"/>
          <p:cNvSpPr txBox="1"/>
          <p:nvPr userDrawn="1"/>
        </p:nvSpPr>
        <p:spPr>
          <a:xfrm>
            <a:off x="407590" y="6477001"/>
            <a:ext cx="4351074" cy="100027"/>
          </a:xfrm>
          <a:prstGeom prst="rect">
            <a:avLst/>
          </a:prstGeom>
          <a:noFill/>
        </p:spPr>
        <p:txBody>
          <a:bodyPr wrap="square" lIns="0" tIns="0" rIns="0" bIns="0" rtlCol="0">
            <a:spAutoFit/>
          </a:bodyPr>
          <a:lstStyle/>
          <a:p>
            <a:pPr>
              <a:spcBef>
                <a:spcPts val="600"/>
              </a:spcBef>
              <a:buSzPct val="100000"/>
              <a:buFont typeface="Arial"/>
              <a:buNone/>
            </a:pPr>
            <a:r>
              <a:rPr lang="fr-FR" sz="650" dirty="0">
                <a:solidFill>
                  <a:prstClr val="black"/>
                </a:solidFill>
              </a:rPr>
              <a:t>© 2021 Deloitte Touche Tohmatsu India LLP</a:t>
            </a:r>
          </a:p>
        </p:txBody>
      </p:sp>
    </p:spTree>
    <p:extLst>
      <p:ext uri="{BB962C8B-B14F-4D97-AF65-F5344CB8AC3E}">
        <p14:creationId xmlns:p14="http://schemas.microsoft.com/office/powerpoint/2010/main" val="356180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7" r:id="rId5"/>
    <p:sldLayoutId id="2147483668" r:id="rId6"/>
    <p:sldLayoutId id="2147483671" r:id="rId7"/>
    <p:sldLayoutId id="2147483674" r:id="rId8"/>
    <p:sldLayoutId id="2147483675" r:id="rId9"/>
    <p:sldLayoutId id="2147483676" r:id="rId10"/>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9" pos="4986">
          <p15:clr>
            <a:srgbClr val="F26B43"/>
          </p15:clr>
        </p15:guide>
        <p15:guide id="10" pos="1382">
          <p15:clr>
            <a:srgbClr val="F26B43"/>
          </p15:clr>
        </p15:guide>
        <p15:guide id="11" pos="1496">
          <p15:clr>
            <a:srgbClr val="F26B43"/>
          </p15:clr>
        </p15:guide>
        <p15:guide id="12" pos="2581">
          <p15:clr>
            <a:srgbClr val="F26B43"/>
          </p15:clr>
        </p15:guide>
        <p15:guide id="13" pos="2695">
          <p15:clr>
            <a:srgbClr val="F26B43"/>
          </p15:clr>
        </p15:guide>
        <p15:guide id="14" pos="6185">
          <p15:clr>
            <a:srgbClr val="F26B43"/>
          </p15:clr>
        </p15:guide>
        <p15:guide id="15" pos="3783">
          <p15:clr>
            <a:srgbClr val="F26B43"/>
          </p15:clr>
        </p15:guide>
        <p15:guide id="16" pos="3896">
          <p15:clr>
            <a:srgbClr val="F26B43"/>
          </p15:clr>
        </p15:guide>
        <p15:guide id="17" pos="3840">
          <p15:clr>
            <a:srgbClr val="F26B43"/>
          </p15:clr>
        </p15:guide>
        <p15:guide id="18" pos="6299">
          <p15:clr>
            <a:srgbClr val="F26B43"/>
          </p15:clr>
        </p15:guide>
        <p15:guide id="19" orient="horz" pos="1049">
          <p15:clr>
            <a:srgbClr val="F26B43"/>
          </p15:clr>
        </p15:guide>
        <p15:guide id="20" orient="horz" pos="641">
          <p15:clr>
            <a:srgbClr val="F26B43"/>
          </p15:clr>
        </p15:guide>
        <p15:guide id="21"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5.xml"/><Relationship Id="rId5" Type="http://schemas.openxmlformats.org/officeDocument/2006/relationships/chart" Target="../charts/chart5.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 Id="rId5" Type="http://schemas.openxmlformats.org/officeDocument/2006/relationships/chart" Target="../charts/chart9.xml"/><Relationship Id="rId4" Type="http://schemas.openxmlformats.org/officeDocument/2006/relationships/chart" Target="../charts/chart8.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4" descr="Technology, Media &amp;amp; Telecommunications">
            <a:extLst>
              <a:ext uri="{FF2B5EF4-FFF2-40B4-BE49-F238E27FC236}">
                <a16:creationId xmlns:a16="http://schemas.microsoft.com/office/drawing/2014/main" id="{EB8FF48E-08F1-4456-A420-6C239BD89F0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69" t="2871" r="1868" b="2871"/>
          <a:stretch/>
        </p:blipFill>
        <p:spPr bwMode="auto">
          <a:xfrm>
            <a:off x="2696356" y="196850"/>
            <a:ext cx="6642863" cy="6464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p:cNvSpPr>
            <a:spLocks noGrp="1"/>
          </p:cNvSpPr>
          <p:nvPr>
            <p:ph type="body" sz="quarter" idx="10"/>
          </p:nvPr>
        </p:nvSpPr>
        <p:spPr>
          <a:xfrm>
            <a:off x="423439" y="6362699"/>
            <a:ext cx="5594349" cy="298451"/>
          </a:xfrm>
        </p:spPr>
        <p:txBody>
          <a:bodyPr/>
          <a:lstStyle/>
          <a:p>
            <a:r>
              <a:rPr lang="en-US"/>
              <a:t>Deloitte Touche Tohmatsu India LLP</a:t>
            </a:r>
            <a:endParaRPr lang="en-US" dirty="0"/>
          </a:p>
        </p:txBody>
      </p:sp>
      <p:sp>
        <p:nvSpPr>
          <p:cNvPr id="9" name="Title 2"/>
          <p:cNvSpPr>
            <a:spLocks noGrp="1"/>
          </p:cNvSpPr>
          <p:nvPr>
            <p:ph type="ctrTitle"/>
          </p:nvPr>
        </p:nvSpPr>
        <p:spPr>
          <a:xfrm>
            <a:off x="423439" y="5263080"/>
            <a:ext cx="6770989" cy="324000"/>
          </a:xfrm>
        </p:spPr>
        <p:txBody>
          <a:bodyPr/>
          <a:lstStyle/>
          <a:p>
            <a:r>
              <a:rPr lang="en-US" noProof="0" dirty="0"/>
              <a:t>MTN</a:t>
            </a:r>
            <a:br>
              <a:rPr lang="en-US" noProof="0" dirty="0"/>
            </a:br>
            <a:r>
              <a:rPr lang="en-US" sz="1400" b="0" dirty="0"/>
              <a:t>30 days I</a:t>
            </a:r>
            <a:r>
              <a:rPr lang="en-US" sz="1400" b="0" dirty="0" err="1"/>
              <a:t>nactivity</a:t>
            </a:r>
            <a:r>
              <a:rPr lang="en-US" sz="1400" b="0" dirty="0"/>
              <a:t> Churn</a:t>
            </a:r>
            <a:br>
              <a:rPr lang="en-US" noProof="0" dirty="0"/>
            </a:br>
            <a:br>
              <a:rPr lang="en-US" noProof="0" dirty="0"/>
            </a:br>
            <a:endParaRPr lang="en-US" noProof="0" dirty="0"/>
          </a:p>
        </p:txBody>
      </p:sp>
      <p:sp>
        <p:nvSpPr>
          <p:cNvPr id="10" name="Text Placeholder 4"/>
          <p:cNvSpPr txBox="1">
            <a:spLocks/>
          </p:cNvSpPr>
          <p:nvPr/>
        </p:nvSpPr>
        <p:spPr>
          <a:xfrm>
            <a:off x="423440" y="5978369"/>
            <a:ext cx="5594349" cy="298451"/>
          </a:xfrm>
          <a:prstGeom prst="rect">
            <a:avLst/>
          </a:prstGeom>
        </p:spPr>
        <p:txBody>
          <a:bodyPr vert="horz" lIns="0" tIns="0" rIns="0" bIns="0" rtlCol="0">
            <a:noAutofit/>
          </a:bodyPr>
          <a:lstStyle>
            <a:lvl1pPr marL="0" indent="0" algn="l" defTabSz="1219170" rtl="0" eaLnBrk="1" latinLnBrk="0" hangingPunct="1">
              <a:spcBef>
                <a:spcPts val="0"/>
              </a:spcBef>
              <a:spcAft>
                <a:spcPts val="0"/>
              </a:spcAft>
              <a:buSzPct val="100000"/>
              <a:buFont typeface="Arial" panose="020B0604020202020204" pitchFamily="34" charset="0"/>
              <a:buNone/>
              <a:defRPr sz="1050" b="0" kern="1200">
                <a:solidFill>
                  <a:schemeClr val="bg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a:solidFill>
                  <a:schemeClr val="bg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a:solidFill>
                  <a:schemeClr val="bg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a:solidFill>
                  <a:schemeClr val="bg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a:solidFill>
                  <a:schemeClr val="bg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832"/>
              </a:spcBef>
              <a:spcAft>
                <a:spcPts val="0"/>
              </a:spcAft>
              <a:buClrTx/>
              <a:buSzPct val="100000"/>
              <a:buFont typeface="Arial" panose="020B0604020202020204" pitchFamily="34" charset="0"/>
              <a:buNone/>
              <a:tabLst/>
              <a:defRPr/>
            </a:pPr>
            <a:r>
              <a:rPr kumimoji="0" lang="fr-FR" sz="1050" b="0" i="0" u="none" strike="noStrike" kern="1200" cap="none" spc="0" normalizeH="0" baseline="0" noProof="0" dirty="0">
                <a:ln>
                  <a:noFill/>
                </a:ln>
                <a:solidFill>
                  <a:prstClr val="white"/>
                </a:solidFill>
                <a:effectLst/>
                <a:uLnTx/>
                <a:uFillTx/>
                <a:latin typeface="Verdana"/>
                <a:ea typeface="+mn-ea"/>
                <a:cs typeface="+mn-cs"/>
              </a:rPr>
              <a:t>October 2021</a:t>
            </a:r>
          </a:p>
          <a:p>
            <a:pPr marL="0" marR="0" lvl="0" indent="0" algn="l" defTabSz="1219170" rtl="0" eaLnBrk="1" fontAlgn="auto" latinLnBrk="0" hangingPunct="1">
              <a:lnSpc>
                <a:spcPct val="100000"/>
              </a:lnSpc>
              <a:spcBef>
                <a:spcPts val="832"/>
              </a:spcBef>
              <a:spcAft>
                <a:spcPts val="0"/>
              </a:spcAft>
              <a:buClrTx/>
              <a:buSzPct val="100000"/>
              <a:buFont typeface="Arial" panose="020B0604020202020204" pitchFamily="34" charset="0"/>
              <a:buNone/>
              <a:tabLst/>
              <a:defRPr/>
            </a:pPr>
            <a:endParaRPr kumimoji="0" lang="fr-FR" sz="1050" b="0" i="0" u="none" strike="noStrike" kern="1200" cap="none" spc="0" normalizeH="0" baseline="0" noProof="0" dirty="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94016719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18880B4-FDDF-4753-B23A-5432416E7B07}"/>
              </a:ext>
            </a:extLst>
          </p:cNvPr>
          <p:cNvSpPr/>
          <p:nvPr/>
        </p:nvSpPr>
        <p:spPr bwMode="gray">
          <a:xfrm>
            <a:off x="244549" y="2871477"/>
            <a:ext cx="11855302" cy="818021"/>
          </a:xfrm>
          <a:prstGeom prst="roundRect">
            <a:avLst/>
          </a:prstGeom>
          <a:solidFill>
            <a:schemeClr val="accent3">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Rectangle 4"/>
          <p:cNvSpPr/>
          <p:nvPr/>
        </p:nvSpPr>
        <p:spPr bwMode="gray">
          <a:xfrm>
            <a:off x="4314383" y="3944393"/>
            <a:ext cx="1411259"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7.4 M </a:t>
            </a:r>
            <a:r>
              <a:rPr lang="en-US" sz="1050" b="1" i="1" dirty="0"/>
              <a:t>(42%)</a:t>
            </a:r>
            <a:endParaRPr lang="en-IN" sz="1400" b="1" i="1" dirty="0"/>
          </a:p>
        </p:txBody>
      </p:sp>
      <p:sp>
        <p:nvSpPr>
          <p:cNvPr id="7" name="Rectangle 6"/>
          <p:cNvSpPr/>
          <p:nvPr/>
        </p:nvSpPr>
        <p:spPr bwMode="gray">
          <a:xfrm>
            <a:off x="4314383" y="3057802"/>
            <a:ext cx="1411259"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5.8 M </a:t>
            </a:r>
            <a:r>
              <a:rPr lang="en-US" sz="1050" b="1" i="1" dirty="0"/>
              <a:t>(33%)</a:t>
            </a:r>
            <a:endParaRPr lang="en-IN" sz="1050" b="1" dirty="0"/>
          </a:p>
        </p:txBody>
      </p:sp>
      <p:sp>
        <p:nvSpPr>
          <p:cNvPr id="8" name="Rectangle 7"/>
          <p:cNvSpPr/>
          <p:nvPr/>
        </p:nvSpPr>
        <p:spPr bwMode="gray">
          <a:xfrm>
            <a:off x="4296596" y="2152831"/>
            <a:ext cx="1411259"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pPr>
            <a:r>
              <a:rPr lang="en-US" sz="1400" b="1" dirty="0"/>
              <a:t>2.8 M </a:t>
            </a:r>
            <a:r>
              <a:rPr lang="en-US" sz="1050" b="1" i="1" dirty="0"/>
              <a:t>(16%)</a:t>
            </a:r>
            <a:endParaRPr lang="en-IN" sz="1050" b="1" dirty="0"/>
          </a:p>
        </p:txBody>
      </p:sp>
      <p:sp>
        <p:nvSpPr>
          <p:cNvPr id="9" name="TextBox 8"/>
          <p:cNvSpPr txBox="1"/>
          <p:nvPr/>
        </p:nvSpPr>
        <p:spPr>
          <a:xfrm>
            <a:off x="4378788" y="918028"/>
            <a:ext cx="1877438" cy="246221"/>
          </a:xfrm>
          <a:prstGeom prst="rect">
            <a:avLst/>
          </a:prstGeom>
          <a:noFill/>
        </p:spPr>
        <p:txBody>
          <a:bodyPr wrap="square" lIns="0" tIns="0" rIns="0" bIns="0" rtlCol="0">
            <a:spAutoFit/>
          </a:bodyPr>
          <a:lstStyle/>
          <a:p>
            <a:pPr>
              <a:spcBef>
                <a:spcPts val="600"/>
              </a:spcBef>
              <a:buSzPct val="100000"/>
            </a:pPr>
            <a:r>
              <a:rPr lang="en-US" sz="1600" b="1" dirty="0">
                <a:solidFill>
                  <a:srgbClr val="313131"/>
                </a:solidFill>
              </a:rPr>
              <a:t> Base Count</a:t>
            </a:r>
            <a:endParaRPr lang="en-IN" sz="1600" b="1" dirty="0">
              <a:solidFill>
                <a:srgbClr val="313131"/>
              </a:solidFill>
            </a:endParaRPr>
          </a:p>
        </p:txBody>
      </p:sp>
      <p:sp>
        <p:nvSpPr>
          <p:cNvPr id="10" name="TextBox 9"/>
          <p:cNvSpPr txBox="1"/>
          <p:nvPr/>
        </p:nvSpPr>
        <p:spPr>
          <a:xfrm>
            <a:off x="5933054" y="887937"/>
            <a:ext cx="1877438" cy="246221"/>
          </a:xfrm>
          <a:prstGeom prst="rect">
            <a:avLst/>
          </a:prstGeom>
          <a:noFill/>
        </p:spPr>
        <p:txBody>
          <a:bodyPr wrap="square" lIns="0" tIns="0" rIns="0" bIns="0" rtlCol="0">
            <a:spAutoFit/>
          </a:bodyPr>
          <a:lstStyle/>
          <a:p>
            <a:pPr algn="ctr">
              <a:spcBef>
                <a:spcPts val="600"/>
              </a:spcBef>
              <a:buSzPct val="100000"/>
            </a:pPr>
            <a:r>
              <a:rPr lang="en-US" sz="1600" b="1" dirty="0">
                <a:solidFill>
                  <a:srgbClr val="313131"/>
                </a:solidFill>
              </a:rPr>
              <a:t> Revenue*</a:t>
            </a:r>
            <a:endParaRPr lang="en-IN" sz="1600" b="1" dirty="0">
              <a:solidFill>
                <a:srgbClr val="313131"/>
              </a:solidFill>
            </a:endParaRPr>
          </a:p>
        </p:txBody>
      </p:sp>
      <p:sp>
        <p:nvSpPr>
          <p:cNvPr id="11" name="Rectangle 10"/>
          <p:cNvSpPr/>
          <p:nvPr/>
        </p:nvSpPr>
        <p:spPr bwMode="gray">
          <a:xfrm>
            <a:off x="6147231" y="3952475"/>
            <a:ext cx="150728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70 M </a:t>
            </a:r>
            <a:r>
              <a:rPr lang="en-US" sz="1050" b="1" i="1" dirty="0"/>
              <a:t>(3.7%)</a:t>
            </a:r>
            <a:endParaRPr lang="en-IN" sz="1050" b="1" i="1" dirty="0"/>
          </a:p>
        </p:txBody>
      </p:sp>
      <p:sp>
        <p:nvSpPr>
          <p:cNvPr id="12" name="Rectangle 11"/>
          <p:cNvSpPr/>
          <p:nvPr/>
        </p:nvSpPr>
        <p:spPr bwMode="gray">
          <a:xfrm>
            <a:off x="6135919" y="3065884"/>
            <a:ext cx="150728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396 M </a:t>
            </a:r>
            <a:r>
              <a:rPr lang="en-US" sz="1050" b="1" i="1" dirty="0"/>
              <a:t>(20.7%)</a:t>
            </a:r>
            <a:endParaRPr lang="en-IN" sz="1050" b="1" i="1" dirty="0"/>
          </a:p>
        </p:txBody>
      </p:sp>
      <p:sp>
        <p:nvSpPr>
          <p:cNvPr id="13" name="Rectangle 12"/>
          <p:cNvSpPr/>
          <p:nvPr/>
        </p:nvSpPr>
        <p:spPr bwMode="gray">
          <a:xfrm>
            <a:off x="6118132" y="2160913"/>
            <a:ext cx="150728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539 M </a:t>
            </a:r>
            <a:r>
              <a:rPr lang="en-US" sz="1050" b="1" i="1" dirty="0"/>
              <a:t>(28.1%)</a:t>
            </a:r>
            <a:endParaRPr lang="en-IN" sz="1050" b="1" i="1" dirty="0"/>
          </a:p>
        </p:txBody>
      </p:sp>
      <p:cxnSp>
        <p:nvCxnSpPr>
          <p:cNvPr id="16" name="Straight Connector 15"/>
          <p:cNvCxnSpPr>
            <a:cxnSpLocks/>
          </p:cNvCxnSpPr>
          <p:nvPr/>
        </p:nvCxnSpPr>
        <p:spPr>
          <a:xfrm>
            <a:off x="7832827" y="1078428"/>
            <a:ext cx="0" cy="433155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bwMode="gray">
          <a:xfrm>
            <a:off x="4296596" y="1384421"/>
            <a:ext cx="1411259"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pPr>
            <a:r>
              <a:rPr lang="en-US" sz="1400" b="1" dirty="0"/>
              <a:t>1.5 M </a:t>
            </a:r>
            <a:r>
              <a:rPr lang="en-US" sz="1050" b="1" i="1" dirty="0"/>
              <a:t>(9%)</a:t>
            </a:r>
            <a:endParaRPr lang="en-IN" sz="1050" b="1" i="1" dirty="0"/>
          </a:p>
        </p:txBody>
      </p:sp>
      <p:sp>
        <p:nvSpPr>
          <p:cNvPr id="18" name="Rectangle 17"/>
          <p:cNvSpPr/>
          <p:nvPr/>
        </p:nvSpPr>
        <p:spPr bwMode="gray">
          <a:xfrm>
            <a:off x="6118132" y="1392503"/>
            <a:ext cx="150728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911 M </a:t>
            </a:r>
            <a:r>
              <a:rPr lang="en-US" sz="1050" b="1" i="1" dirty="0"/>
              <a:t>(47.5%)</a:t>
            </a:r>
            <a:endParaRPr lang="en-IN" sz="1050" b="1" i="1" dirty="0"/>
          </a:p>
        </p:txBody>
      </p:sp>
      <p:sp>
        <p:nvSpPr>
          <p:cNvPr id="20" name="TextBox 19"/>
          <p:cNvSpPr txBox="1"/>
          <p:nvPr/>
        </p:nvSpPr>
        <p:spPr>
          <a:xfrm>
            <a:off x="7988806" y="918028"/>
            <a:ext cx="1877439" cy="246221"/>
          </a:xfrm>
          <a:prstGeom prst="rect">
            <a:avLst/>
          </a:prstGeom>
          <a:noFill/>
        </p:spPr>
        <p:txBody>
          <a:bodyPr wrap="square" lIns="0" tIns="0" rIns="0" bIns="0" rtlCol="0">
            <a:spAutoFit/>
          </a:bodyPr>
          <a:lstStyle/>
          <a:p>
            <a:pPr>
              <a:spcBef>
                <a:spcPts val="600"/>
              </a:spcBef>
              <a:buSzPct val="100000"/>
            </a:pPr>
            <a:r>
              <a:rPr lang="en-US" sz="1600" b="1" dirty="0">
                <a:solidFill>
                  <a:srgbClr val="313131"/>
                </a:solidFill>
              </a:rPr>
              <a:t>Churn %**</a:t>
            </a:r>
            <a:endParaRPr lang="en-IN" sz="1600" b="1" dirty="0">
              <a:solidFill>
                <a:srgbClr val="313131"/>
              </a:solidFill>
            </a:endParaRPr>
          </a:p>
        </p:txBody>
      </p:sp>
      <p:sp>
        <p:nvSpPr>
          <p:cNvPr id="21" name="Rectangle 20"/>
          <p:cNvSpPr/>
          <p:nvPr/>
        </p:nvSpPr>
        <p:spPr bwMode="gray">
          <a:xfrm>
            <a:off x="8016307" y="3952475"/>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9.8%</a:t>
            </a:r>
            <a:endParaRPr lang="en-IN" sz="1400" b="1" i="1" dirty="0"/>
          </a:p>
        </p:txBody>
      </p:sp>
      <p:sp>
        <p:nvSpPr>
          <p:cNvPr id="22" name="Rectangle 21"/>
          <p:cNvSpPr/>
          <p:nvPr/>
        </p:nvSpPr>
        <p:spPr bwMode="gray">
          <a:xfrm>
            <a:off x="8016307" y="3065884"/>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3.3%</a:t>
            </a:r>
            <a:endParaRPr lang="en-IN" sz="1050" b="1" dirty="0"/>
          </a:p>
        </p:txBody>
      </p:sp>
      <p:sp>
        <p:nvSpPr>
          <p:cNvPr id="23" name="Rectangle 22"/>
          <p:cNvSpPr/>
          <p:nvPr/>
        </p:nvSpPr>
        <p:spPr bwMode="gray">
          <a:xfrm>
            <a:off x="8016307" y="2160913"/>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pPr>
            <a:r>
              <a:rPr lang="en-US" sz="1400" b="1" dirty="0"/>
              <a:t>1.3%</a:t>
            </a:r>
            <a:endParaRPr lang="en-IN" sz="1050" b="1" dirty="0"/>
          </a:p>
        </p:txBody>
      </p:sp>
      <p:sp>
        <p:nvSpPr>
          <p:cNvPr id="24" name="Rectangle 23"/>
          <p:cNvSpPr/>
          <p:nvPr/>
        </p:nvSpPr>
        <p:spPr bwMode="gray">
          <a:xfrm>
            <a:off x="8016307" y="1392503"/>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0.6%</a:t>
            </a:r>
            <a:endParaRPr lang="en-IN" sz="1050" b="1" i="1" dirty="0"/>
          </a:p>
        </p:txBody>
      </p:sp>
      <p:sp>
        <p:nvSpPr>
          <p:cNvPr id="25" name="Title 2"/>
          <p:cNvSpPr txBox="1">
            <a:spLocks/>
          </p:cNvSpPr>
          <p:nvPr/>
        </p:nvSpPr>
        <p:spPr bwMode="gray">
          <a:xfrm>
            <a:off x="500400" y="316800"/>
            <a:ext cx="11252045" cy="69849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r>
              <a:rPr lang="en-US" dirty="0">
                <a:latin typeface="Verdana"/>
              </a:rPr>
              <a:t>Prepaid</a:t>
            </a:r>
            <a:r>
              <a:rPr lang="en-US" dirty="0"/>
              <a:t> subscriber base construct</a:t>
            </a:r>
            <a:endParaRPr lang="en-IN" dirty="0"/>
          </a:p>
        </p:txBody>
      </p:sp>
      <p:cxnSp>
        <p:nvCxnSpPr>
          <p:cNvPr id="26" name="Straight Connector 25"/>
          <p:cNvCxnSpPr>
            <a:cxnSpLocks/>
          </p:cNvCxnSpPr>
          <p:nvPr/>
        </p:nvCxnSpPr>
        <p:spPr>
          <a:xfrm>
            <a:off x="5881228" y="1078428"/>
            <a:ext cx="0" cy="433155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a:cxnSpLocks/>
          </p:cNvCxnSpPr>
          <p:nvPr/>
        </p:nvCxnSpPr>
        <p:spPr>
          <a:xfrm>
            <a:off x="4012306" y="4540239"/>
            <a:ext cx="714765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cxnSpLocks/>
          </p:cNvCxnSpPr>
          <p:nvPr/>
        </p:nvCxnSpPr>
        <p:spPr>
          <a:xfrm>
            <a:off x="3970043" y="2871477"/>
            <a:ext cx="71899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cxnSpLocks/>
          </p:cNvCxnSpPr>
          <p:nvPr/>
        </p:nvCxnSpPr>
        <p:spPr>
          <a:xfrm>
            <a:off x="4012306" y="3689779"/>
            <a:ext cx="714765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B3A2169-FAEC-4373-93D4-D67265B93F94}"/>
              </a:ext>
            </a:extLst>
          </p:cNvPr>
          <p:cNvSpPr txBox="1"/>
          <p:nvPr/>
        </p:nvSpPr>
        <p:spPr>
          <a:xfrm>
            <a:off x="337452" y="5409981"/>
            <a:ext cx="4493396" cy="507831"/>
          </a:xfrm>
          <a:prstGeom prst="rect">
            <a:avLst/>
          </a:prstGeom>
          <a:noFill/>
        </p:spPr>
        <p:txBody>
          <a:bodyPr wrap="square" lIns="0" tIns="0" rIns="0" bIns="0" rtlCol="0">
            <a:spAutoFit/>
          </a:bodyPr>
          <a:lstStyle/>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400" b="0" i="1" u="none" strike="noStrike" kern="1200" cap="none" spc="0" normalizeH="0" baseline="0" noProof="0" dirty="0">
                <a:ln>
                  <a:noFill/>
                </a:ln>
                <a:solidFill>
                  <a:srgbClr val="313131"/>
                </a:solidFill>
                <a:effectLst/>
                <a:uLnTx/>
                <a:uFillTx/>
                <a:latin typeface="Verdana"/>
                <a:ea typeface="+mn-ea"/>
                <a:cs typeface="+mn-cs"/>
              </a:rPr>
              <a:t>Analysis Base : Static base of 1 June 2021</a:t>
            </a:r>
          </a:p>
          <a:p>
            <a:pPr marL="203200" marR="0" lvl="0" indent="-20320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400" b="0" i="1" u="none" strike="noStrike" kern="1200" cap="none" spc="0" normalizeH="0" baseline="0" noProof="0" dirty="0">
                <a:ln>
                  <a:noFill/>
                </a:ln>
                <a:solidFill>
                  <a:srgbClr val="313131"/>
                </a:solidFill>
                <a:effectLst/>
                <a:uLnTx/>
                <a:uFillTx/>
                <a:latin typeface="Verdana"/>
                <a:ea typeface="+mn-ea"/>
                <a:cs typeface="+mn-cs"/>
              </a:rPr>
              <a:t>Tenure (Age on network) : &gt;= 120</a:t>
            </a:r>
          </a:p>
        </p:txBody>
      </p:sp>
      <p:sp>
        <p:nvSpPr>
          <p:cNvPr id="33" name="TextBox 32">
            <a:extLst>
              <a:ext uri="{FF2B5EF4-FFF2-40B4-BE49-F238E27FC236}">
                <a16:creationId xmlns:a16="http://schemas.microsoft.com/office/drawing/2014/main" id="{F4330C06-8624-4A4C-B971-520F80865B7E}"/>
              </a:ext>
            </a:extLst>
          </p:cNvPr>
          <p:cNvSpPr txBox="1"/>
          <p:nvPr/>
        </p:nvSpPr>
        <p:spPr>
          <a:xfrm>
            <a:off x="2132522" y="6358298"/>
            <a:ext cx="9971792" cy="400110"/>
          </a:xfrm>
          <a:prstGeom prst="rect">
            <a:avLst/>
          </a:prstGeom>
          <a:noFill/>
        </p:spPr>
        <p:txBody>
          <a:bodyPr wrap="square" lIns="0" tIns="0" rIns="0" bIns="0" rtlCol="0">
            <a:spAutoFit/>
          </a:bodyPr>
          <a:lstStyle/>
          <a:p>
            <a:pPr lvl="0" algn="r">
              <a:spcBef>
                <a:spcPts val="600"/>
              </a:spcBef>
              <a:buSzPct val="100000"/>
              <a:defRPr/>
            </a:pPr>
            <a:r>
              <a:rPr kumimoji="0" lang="en-US" sz="1050" b="0" i="1" u="none" strike="noStrike" kern="1200" cap="none" spc="0" normalizeH="0" baseline="0" noProof="0" dirty="0">
                <a:ln>
                  <a:noFill/>
                </a:ln>
                <a:solidFill>
                  <a:srgbClr val="313131"/>
                </a:solidFill>
                <a:effectLst/>
                <a:uLnTx/>
                <a:uFillTx/>
                <a:latin typeface="Verdana"/>
                <a:ea typeface="+mn-ea"/>
                <a:cs typeface="+mn-cs"/>
              </a:rPr>
              <a:t>*Average last</a:t>
            </a:r>
            <a:r>
              <a:rPr lang="en-US" sz="1050" i="1" dirty="0">
                <a:solidFill>
                  <a:srgbClr val="313131"/>
                </a:solidFill>
                <a:latin typeface="Verdana"/>
              </a:rPr>
              <a:t> 3 months monthly revenue, </a:t>
            </a:r>
            <a:r>
              <a:rPr kumimoji="0" lang="en-US" sz="1050" b="0" i="1" u="none" strike="noStrike" kern="1200" cap="none" spc="0" normalizeH="0" baseline="0" noProof="0" dirty="0">
                <a:ln>
                  <a:noFill/>
                </a:ln>
                <a:solidFill>
                  <a:srgbClr val="313131"/>
                </a:solidFill>
                <a:effectLst/>
                <a:uLnTx/>
                <a:uFillTx/>
                <a:latin typeface="Verdana"/>
                <a:ea typeface="+mn-ea"/>
                <a:cs typeface="+mn-cs"/>
              </a:rPr>
              <a:t>** </a:t>
            </a:r>
            <a:r>
              <a:rPr lang="en-US" sz="1050" i="1" dirty="0">
                <a:solidFill>
                  <a:srgbClr val="313131"/>
                </a:solidFill>
                <a:latin typeface="Verdana"/>
              </a:rPr>
              <a:t>Subscribers with DOLA &gt;=90 on 90th day from 1</a:t>
            </a:r>
            <a:r>
              <a:rPr lang="en-US" sz="1050" i="1" baseline="30000" dirty="0">
                <a:solidFill>
                  <a:srgbClr val="313131"/>
                </a:solidFill>
                <a:latin typeface="Verdana"/>
              </a:rPr>
              <a:t>st</a:t>
            </a:r>
            <a:r>
              <a:rPr lang="en-US" sz="1050" i="1" dirty="0">
                <a:solidFill>
                  <a:srgbClr val="313131"/>
                </a:solidFill>
                <a:latin typeface="Verdana"/>
              </a:rPr>
              <a:t> June 2021, ARPU : Average revenue per user</a:t>
            </a:r>
          </a:p>
          <a:p>
            <a:pPr lvl="0" algn="r">
              <a:spcBef>
                <a:spcPts val="600"/>
              </a:spcBef>
              <a:buSzPct val="100000"/>
              <a:defRPr/>
            </a:pPr>
            <a:r>
              <a:rPr kumimoji="0" lang="en-US" sz="1050" b="0" i="1" u="none" strike="noStrike" kern="1200" cap="none" spc="0" normalizeH="0" baseline="0" noProof="0" dirty="0">
                <a:ln>
                  <a:noFill/>
                </a:ln>
                <a:solidFill>
                  <a:srgbClr val="313131"/>
                </a:solidFill>
                <a:effectLst/>
                <a:uLnTx/>
                <a:uFillTx/>
                <a:latin typeface="Verdana"/>
                <a:ea typeface="+mn-ea"/>
                <a:cs typeface="+mn-cs"/>
              </a:rPr>
              <a:t>^ Value loss </a:t>
            </a:r>
            <a:r>
              <a:rPr lang="en-US" sz="1050" i="1" dirty="0">
                <a:solidFill>
                  <a:srgbClr val="313131"/>
                </a:solidFill>
                <a:latin typeface="Verdana"/>
              </a:rPr>
              <a:t>is product of</a:t>
            </a:r>
            <a:r>
              <a:rPr kumimoji="0" lang="en-US" sz="1050" b="0" i="1" u="none" strike="noStrike" kern="1200" cap="none" spc="0" normalizeH="0" baseline="0" noProof="0" dirty="0">
                <a:ln>
                  <a:noFill/>
                </a:ln>
                <a:solidFill>
                  <a:srgbClr val="313131"/>
                </a:solidFill>
                <a:effectLst/>
                <a:uLnTx/>
                <a:uFillTx/>
                <a:latin typeface="Verdana"/>
                <a:ea typeface="+mn-ea"/>
                <a:cs typeface="+mn-cs"/>
              </a:rPr>
              <a:t> </a:t>
            </a:r>
            <a:r>
              <a:rPr lang="en-US" sz="1050" i="1" dirty="0">
                <a:solidFill>
                  <a:srgbClr val="313131"/>
                </a:solidFill>
                <a:latin typeface="Verdana"/>
              </a:rPr>
              <a:t>l</a:t>
            </a:r>
            <a:r>
              <a:rPr kumimoji="0" lang="en-US" sz="1050" b="0" i="1" u="none" strike="noStrike" kern="1200" cap="none" spc="0" normalizeH="0" baseline="0" noProof="0" dirty="0" err="1">
                <a:ln>
                  <a:noFill/>
                </a:ln>
                <a:solidFill>
                  <a:srgbClr val="313131"/>
                </a:solidFill>
                <a:effectLst/>
                <a:uLnTx/>
                <a:uFillTx/>
                <a:latin typeface="Verdana"/>
                <a:ea typeface="+mn-ea"/>
                <a:cs typeface="+mn-cs"/>
              </a:rPr>
              <a:t>ast</a:t>
            </a:r>
            <a:r>
              <a:rPr kumimoji="0" lang="en-US" sz="1050" b="0" i="1" u="none" strike="noStrike" kern="1200" cap="none" spc="0" normalizeH="0" baseline="0" noProof="0" dirty="0">
                <a:ln>
                  <a:noFill/>
                </a:ln>
                <a:solidFill>
                  <a:srgbClr val="313131"/>
                </a:solidFill>
                <a:effectLst/>
                <a:uLnTx/>
                <a:uFillTx/>
                <a:latin typeface="Verdana"/>
                <a:ea typeface="+mn-ea"/>
                <a:cs typeface="+mn-cs"/>
              </a:rPr>
              <a:t> 3 months ARPU, base &amp; churn percentage</a:t>
            </a:r>
          </a:p>
        </p:txBody>
      </p:sp>
      <p:sp>
        <p:nvSpPr>
          <p:cNvPr id="38" name="Rectangle 37">
            <a:extLst>
              <a:ext uri="{FF2B5EF4-FFF2-40B4-BE49-F238E27FC236}">
                <a16:creationId xmlns:a16="http://schemas.microsoft.com/office/drawing/2014/main" id="{C42FE33E-BE9C-4BE4-BBA9-841C7B0790ED}"/>
              </a:ext>
            </a:extLst>
          </p:cNvPr>
          <p:cNvSpPr/>
          <p:nvPr/>
        </p:nvSpPr>
        <p:spPr bwMode="gray">
          <a:xfrm>
            <a:off x="4311051" y="4694000"/>
            <a:ext cx="1414590"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pPr>
            <a:r>
              <a:rPr lang="en-US" sz="1400" b="1" dirty="0"/>
              <a:t>17.6 M</a:t>
            </a:r>
            <a:endParaRPr lang="en-IN" sz="1050" b="1" dirty="0"/>
          </a:p>
        </p:txBody>
      </p:sp>
      <p:sp>
        <p:nvSpPr>
          <p:cNvPr id="39" name="Rectangle 38">
            <a:extLst>
              <a:ext uri="{FF2B5EF4-FFF2-40B4-BE49-F238E27FC236}">
                <a16:creationId xmlns:a16="http://schemas.microsoft.com/office/drawing/2014/main" id="{EFE08887-09A4-4800-8217-5536C0C9261C}"/>
              </a:ext>
            </a:extLst>
          </p:cNvPr>
          <p:cNvSpPr/>
          <p:nvPr/>
        </p:nvSpPr>
        <p:spPr bwMode="gray">
          <a:xfrm>
            <a:off x="6147231" y="4691808"/>
            <a:ext cx="150728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1918 M</a:t>
            </a:r>
            <a:endParaRPr lang="en-IN" sz="1050" b="1" i="1" dirty="0"/>
          </a:p>
        </p:txBody>
      </p:sp>
      <p:sp>
        <p:nvSpPr>
          <p:cNvPr id="41" name="Rectangle 40">
            <a:extLst>
              <a:ext uri="{FF2B5EF4-FFF2-40B4-BE49-F238E27FC236}">
                <a16:creationId xmlns:a16="http://schemas.microsoft.com/office/drawing/2014/main" id="{24DB11DC-B2AC-498C-86AF-95E328044E6D}"/>
              </a:ext>
            </a:extLst>
          </p:cNvPr>
          <p:cNvSpPr/>
          <p:nvPr/>
        </p:nvSpPr>
        <p:spPr bwMode="gray">
          <a:xfrm>
            <a:off x="8042086" y="4702081"/>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5.5%</a:t>
            </a:r>
            <a:endParaRPr lang="en-IN" sz="1050" b="1" i="1" dirty="0"/>
          </a:p>
        </p:txBody>
      </p:sp>
      <p:cxnSp>
        <p:nvCxnSpPr>
          <p:cNvPr id="42" name="Straight Connector 41">
            <a:extLst>
              <a:ext uri="{FF2B5EF4-FFF2-40B4-BE49-F238E27FC236}">
                <a16:creationId xmlns:a16="http://schemas.microsoft.com/office/drawing/2014/main" id="{3FBBB4E1-C96A-4716-A356-F46FE411F43E}"/>
              </a:ext>
            </a:extLst>
          </p:cNvPr>
          <p:cNvCxnSpPr>
            <a:cxnSpLocks/>
          </p:cNvCxnSpPr>
          <p:nvPr/>
        </p:nvCxnSpPr>
        <p:spPr>
          <a:xfrm>
            <a:off x="3970043" y="2026745"/>
            <a:ext cx="71899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2" name="Diagram 1">
            <a:extLst>
              <a:ext uri="{FF2B5EF4-FFF2-40B4-BE49-F238E27FC236}">
                <a16:creationId xmlns:a16="http://schemas.microsoft.com/office/drawing/2014/main" id="{B652DA5F-B02E-45A9-A9D0-7599C9EE9B1C}"/>
              </a:ext>
            </a:extLst>
          </p:cNvPr>
          <p:cNvGraphicFramePr/>
          <p:nvPr>
            <p:extLst>
              <p:ext uri="{D42A27DB-BD31-4B8C-83A1-F6EECF244321}">
                <p14:modId xmlns:p14="http://schemas.microsoft.com/office/powerpoint/2010/main" val="3264452640"/>
              </p:ext>
            </p:extLst>
          </p:nvPr>
        </p:nvGraphicFramePr>
        <p:xfrm>
          <a:off x="375926" y="826791"/>
          <a:ext cx="3669646" cy="41869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043EB750-E4BE-4F34-ABB2-695107919AD4}"/>
              </a:ext>
            </a:extLst>
          </p:cNvPr>
          <p:cNvSpPr txBox="1"/>
          <p:nvPr/>
        </p:nvSpPr>
        <p:spPr>
          <a:xfrm>
            <a:off x="11036595" y="3097743"/>
            <a:ext cx="910846" cy="369332"/>
          </a:xfrm>
          <a:prstGeom prst="rect">
            <a:avLst/>
          </a:prstGeom>
          <a:noFill/>
        </p:spPr>
        <p:txBody>
          <a:bodyPr wrap="square" lIns="0" tIns="0" rIns="0" bIns="0" rtlCol="0">
            <a:spAutoFit/>
          </a:bodyPr>
          <a:lstStyle/>
          <a:p>
            <a:pPr>
              <a:spcBef>
                <a:spcPts val="600"/>
              </a:spcBef>
              <a:buSzPct val="100000"/>
            </a:pPr>
            <a:r>
              <a:rPr lang="en-US" sz="1200" b="1" dirty="0">
                <a:solidFill>
                  <a:schemeClr val="accent1">
                    <a:lumMod val="50000"/>
                  </a:schemeClr>
                </a:solidFill>
              </a:rPr>
              <a:t>Focused Segment</a:t>
            </a:r>
          </a:p>
        </p:txBody>
      </p:sp>
      <p:sp>
        <p:nvSpPr>
          <p:cNvPr id="40" name="TextBox 39">
            <a:extLst>
              <a:ext uri="{FF2B5EF4-FFF2-40B4-BE49-F238E27FC236}">
                <a16:creationId xmlns:a16="http://schemas.microsoft.com/office/drawing/2014/main" id="{1233426F-10A5-44D2-93EE-5AA795DF3C8E}"/>
              </a:ext>
            </a:extLst>
          </p:cNvPr>
          <p:cNvSpPr txBox="1"/>
          <p:nvPr/>
        </p:nvSpPr>
        <p:spPr>
          <a:xfrm>
            <a:off x="3539640" y="4757590"/>
            <a:ext cx="860806" cy="246221"/>
          </a:xfrm>
          <a:prstGeom prst="rect">
            <a:avLst/>
          </a:prstGeom>
          <a:noFill/>
        </p:spPr>
        <p:txBody>
          <a:bodyPr wrap="square" lIns="0" tIns="0" rIns="0" bIns="0" rtlCol="0">
            <a:spAutoFit/>
          </a:bodyPr>
          <a:lstStyle/>
          <a:p>
            <a:pPr>
              <a:spcBef>
                <a:spcPts val="600"/>
              </a:spcBef>
              <a:buSzPct val="100000"/>
            </a:pPr>
            <a:r>
              <a:rPr lang="en-US" sz="1600" b="1" dirty="0">
                <a:solidFill>
                  <a:srgbClr val="313131"/>
                </a:solidFill>
              </a:rPr>
              <a:t>TOTAL</a:t>
            </a:r>
            <a:endParaRPr lang="en-IN" sz="1600" b="1" dirty="0">
              <a:solidFill>
                <a:srgbClr val="313131"/>
              </a:solidFill>
            </a:endParaRPr>
          </a:p>
        </p:txBody>
      </p:sp>
      <p:cxnSp>
        <p:nvCxnSpPr>
          <p:cNvPr id="34" name="Straight Connector 33">
            <a:extLst>
              <a:ext uri="{FF2B5EF4-FFF2-40B4-BE49-F238E27FC236}">
                <a16:creationId xmlns:a16="http://schemas.microsoft.com/office/drawing/2014/main" id="{D1F9BF7A-46A0-42E0-9FF3-1D94F8B2A00E}"/>
              </a:ext>
            </a:extLst>
          </p:cNvPr>
          <p:cNvCxnSpPr>
            <a:cxnSpLocks/>
          </p:cNvCxnSpPr>
          <p:nvPr/>
        </p:nvCxnSpPr>
        <p:spPr>
          <a:xfrm>
            <a:off x="9431750" y="1114710"/>
            <a:ext cx="0" cy="433155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780B347-77DA-4F11-B6C7-74169A67EEBC}"/>
              </a:ext>
            </a:extLst>
          </p:cNvPr>
          <p:cNvSpPr txBox="1"/>
          <p:nvPr/>
        </p:nvSpPr>
        <p:spPr>
          <a:xfrm>
            <a:off x="9587728" y="911203"/>
            <a:ext cx="1877439" cy="246221"/>
          </a:xfrm>
          <a:prstGeom prst="rect">
            <a:avLst/>
          </a:prstGeom>
          <a:noFill/>
        </p:spPr>
        <p:txBody>
          <a:bodyPr wrap="square" lIns="0" tIns="0" rIns="0" bIns="0" rtlCol="0">
            <a:spAutoFit/>
          </a:bodyPr>
          <a:lstStyle/>
          <a:p>
            <a:pPr>
              <a:spcBef>
                <a:spcPts val="600"/>
              </a:spcBef>
              <a:buSzPct val="100000"/>
            </a:pPr>
            <a:r>
              <a:rPr lang="en-US" sz="1600" b="1" dirty="0">
                <a:solidFill>
                  <a:srgbClr val="313131"/>
                </a:solidFill>
              </a:rPr>
              <a:t>Value Loss^</a:t>
            </a:r>
            <a:endParaRPr lang="en-IN" sz="1600" b="1" dirty="0">
              <a:solidFill>
                <a:srgbClr val="313131"/>
              </a:solidFill>
            </a:endParaRPr>
          </a:p>
        </p:txBody>
      </p:sp>
      <p:sp>
        <p:nvSpPr>
          <p:cNvPr id="36" name="Rectangle 35">
            <a:extLst>
              <a:ext uri="{FF2B5EF4-FFF2-40B4-BE49-F238E27FC236}">
                <a16:creationId xmlns:a16="http://schemas.microsoft.com/office/drawing/2014/main" id="{75BC5FDF-A14C-4C6B-A224-A8C46A513125}"/>
              </a:ext>
            </a:extLst>
          </p:cNvPr>
          <p:cNvSpPr/>
          <p:nvPr/>
        </p:nvSpPr>
        <p:spPr bwMode="gray">
          <a:xfrm>
            <a:off x="9615229" y="3945650"/>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19.7%</a:t>
            </a:r>
            <a:endParaRPr lang="en-IN" sz="1400" b="1" i="1" dirty="0"/>
          </a:p>
        </p:txBody>
      </p:sp>
      <p:sp>
        <p:nvSpPr>
          <p:cNvPr id="37" name="Rectangle 36">
            <a:extLst>
              <a:ext uri="{FF2B5EF4-FFF2-40B4-BE49-F238E27FC236}">
                <a16:creationId xmlns:a16="http://schemas.microsoft.com/office/drawing/2014/main" id="{36DA9B15-8BD3-4E70-A526-150287ACFC92}"/>
              </a:ext>
            </a:extLst>
          </p:cNvPr>
          <p:cNvSpPr/>
          <p:nvPr/>
        </p:nvSpPr>
        <p:spPr bwMode="gray">
          <a:xfrm>
            <a:off x="9615229" y="3059059"/>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41.6%</a:t>
            </a:r>
            <a:endParaRPr lang="en-IN" sz="1050" b="1" dirty="0"/>
          </a:p>
        </p:txBody>
      </p:sp>
      <p:sp>
        <p:nvSpPr>
          <p:cNvPr id="43" name="Rectangle 42">
            <a:extLst>
              <a:ext uri="{FF2B5EF4-FFF2-40B4-BE49-F238E27FC236}">
                <a16:creationId xmlns:a16="http://schemas.microsoft.com/office/drawing/2014/main" id="{54B5D1A4-9685-4312-A7B5-4974DCCFAAB4}"/>
              </a:ext>
            </a:extLst>
          </p:cNvPr>
          <p:cNvSpPr/>
          <p:nvPr/>
        </p:nvSpPr>
        <p:spPr bwMode="gray">
          <a:xfrm>
            <a:off x="9615229" y="2154088"/>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pPr>
            <a:r>
              <a:rPr lang="en-US" sz="1400" b="1" dirty="0"/>
              <a:t>22.9%</a:t>
            </a:r>
            <a:endParaRPr lang="en-IN" sz="1050" b="1" dirty="0"/>
          </a:p>
        </p:txBody>
      </p:sp>
      <p:sp>
        <p:nvSpPr>
          <p:cNvPr id="44" name="Rectangle 43">
            <a:extLst>
              <a:ext uri="{FF2B5EF4-FFF2-40B4-BE49-F238E27FC236}">
                <a16:creationId xmlns:a16="http://schemas.microsoft.com/office/drawing/2014/main" id="{F43C4D48-AD11-4B76-A9B8-E91CD0D7D7CA}"/>
              </a:ext>
            </a:extLst>
          </p:cNvPr>
          <p:cNvSpPr/>
          <p:nvPr/>
        </p:nvSpPr>
        <p:spPr bwMode="gray">
          <a:xfrm>
            <a:off x="9615229" y="1385678"/>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15.8%</a:t>
            </a:r>
            <a:endParaRPr lang="en-IN" sz="1050" b="1" i="1" dirty="0"/>
          </a:p>
        </p:txBody>
      </p:sp>
      <p:sp>
        <p:nvSpPr>
          <p:cNvPr id="45" name="Rectangle 44">
            <a:extLst>
              <a:ext uri="{FF2B5EF4-FFF2-40B4-BE49-F238E27FC236}">
                <a16:creationId xmlns:a16="http://schemas.microsoft.com/office/drawing/2014/main" id="{E236238E-87CF-4BC0-B47F-351017000698}"/>
              </a:ext>
            </a:extLst>
          </p:cNvPr>
          <p:cNvSpPr/>
          <p:nvPr/>
        </p:nvSpPr>
        <p:spPr bwMode="gray">
          <a:xfrm>
            <a:off x="9641008" y="4695256"/>
            <a:ext cx="1203492" cy="447472"/>
          </a:xfrm>
          <a:prstGeom prst="rect">
            <a:avLst/>
          </a:prstGeom>
          <a:solidFill>
            <a:schemeClr val="accent1">
              <a:lumMod val="20000"/>
              <a:lumOff val="80000"/>
            </a:schemeClr>
          </a:solidFill>
          <a:ln w="19050" algn="ctr">
            <a:solidFill>
              <a:schemeClr val="accent1">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t>100.0%</a:t>
            </a:r>
            <a:endParaRPr lang="en-IN" sz="1050" b="1" i="1" dirty="0"/>
          </a:p>
        </p:txBody>
      </p:sp>
    </p:spTree>
    <p:extLst>
      <p:ext uri="{BB962C8B-B14F-4D97-AF65-F5344CB8AC3E}">
        <p14:creationId xmlns:p14="http://schemas.microsoft.com/office/powerpoint/2010/main" val="1867819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1219170"/>
            <a:r>
              <a:rPr lang="en-IN" sz="2000" b="0" dirty="0">
                <a:solidFill>
                  <a:schemeClr val="tx1"/>
                </a:solidFill>
                <a:latin typeface="Verdana" panose="020B0604030504040204" pitchFamily="34" charset="0"/>
                <a:ea typeface="Verdana" panose="020B0604030504040204" pitchFamily="34" charset="0"/>
                <a:cs typeface="Verdana" panose="020B0604030504040204" pitchFamily="34" charset="0"/>
              </a:rPr>
              <a:t>Hypothesis Building</a:t>
            </a:r>
          </a:p>
        </p:txBody>
      </p:sp>
      <p:sp>
        <p:nvSpPr>
          <p:cNvPr id="9" name="Rounded Rectangle 8"/>
          <p:cNvSpPr/>
          <p:nvPr/>
        </p:nvSpPr>
        <p:spPr>
          <a:xfrm>
            <a:off x="2006293" y="1782881"/>
            <a:ext cx="1487253" cy="818923"/>
          </a:xfrm>
          <a:prstGeom prst="roundRect">
            <a:avLst/>
          </a:prstGeom>
          <a:solidFill>
            <a:schemeClr val="accent2"/>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Verdana"/>
                <a:ea typeface="+mn-ea"/>
                <a:cs typeface="+mn-cs"/>
              </a:rPr>
              <a:t>Revenue</a:t>
            </a:r>
          </a:p>
        </p:txBody>
      </p:sp>
      <p:sp>
        <p:nvSpPr>
          <p:cNvPr id="10" name="Rounded Rectangle 9"/>
          <p:cNvSpPr/>
          <p:nvPr/>
        </p:nvSpPr>
        <p:spPr>
          <a:xfrm>
            <a:off x="3712749" y="1782881"/>
            <a:ext cx="1487253" cy="818923"/>
          </a:xfrm>
          <a:prstGeom prst="roundRect">
            <a:avLst/>
          </a:prstGeom>
          <a:solidFill>
            <a:schemeClr val="accent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Verdana"/>
                <a:ea typeface="+mn-ea"/>
                <a:cs typeface="+mn-cs"/>
              </a:rPr>
              <a:t>Data</a:t>
            </a:r>
          </a:p>
        </p:txBody>
      </p:sp>
      <p:sp>
        <p:nvSpPr>
          <p:cNvPr id="11" name="Rounded Rectangle 10"/>
          <p:cNvSpPr/>
          <p:nvPr/>
        </p:nvSpPr>
        <p:spPr>
          <a:xfrm>
            <a:off x="3713751" y="2850235"/>
            <a:ext cx="1487253" cy="818923"/>
          </a:xfrm>
          <a:prstGeom prst="roundRect">
            <a:avLst/>
          </a:prstGeom>
          <a:solidFill>
            <a:schemeClr val="accent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Verdana"/>
                <a:ea typeface="+mn-ea"/>
                <a:cs typeface="+mn-cs"/>
              </a:rPr>
              <a:t>Voice</a:t>
            </a:r>
          </a:p>
        </p:txBody>
      </p:sp>
      <p:sp>
        <p:nvSpPr>
          <p:cNvPr id="12" name="Rounded Rectangle 11"/>
          <p:cNvSpPr/>
          <p:nvPr/>
        </p:nvSpPr>
        <p:spPr>
          <a:xfrm>
            <a:off x="7219545" y="1782881"/>
            <a:ext cx="1487253" cy="818923"/>
          </a:xfrm>
          <a:prstGeom prst="roundRect">
            <a:avLst/>
          </a:prstGeom>
          <a:solidFill>
            <a:schemeClr val="accent4"/>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prstClr val="white"/>
                </a:solidFill>
                <a:latin typeface="Verdana"/>
              </a:rPr>
              <a:t>Recharge</a:t>
            </a:r>
          </a:p>
        </p:txBody>
      </p:sp>
      <p:sp>
        <p:nvSpPr>
          <p:cNvPr id="14" name="Rounded Rectangle 13"/>
          <p:cNvSpPr/>
          <p:nvPr/>
        </p:nvSpPr>
        <p:spPr>
          <a:xfrm>
            <a:off x="9022249" y="1782881"/>
            <a:ext cx="1487253" cy="818923"/>
          </a:xfrm>
          <a:prstGeom prst="roundRect">
            <a:avLst/>
          </a:prstGeom>
          <a:solidFill>
            <a:schemeClr val="bg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Handset</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17" name="Rounded Rectangle 16"/>
          <p:cNvSpPr/>
          <p:nvPr/>
        </p:nvSpPr>
        <p:spPr>
          <a:xfrm>
            <a:off x="5470574" y="1789828"/>
            <a:ext cx="1487253" cy="818923"/>
          </a:xfrm>
          <a:prstGeom prst="roundRect">
            <a:avLst/>
          </a:prstGeom>
          <a:solidFill>
            <a:schemeClr val="accent4"/>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Loyalty</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18" name="Rounded Rectangle 17"/>
          <p:cNvSpPr/>
          <p:nvPr/>
        </p:nvSpPr>
        <p:spPr>
          <a:xfrm>
            <a:off x="5470577" y="2861511"/>
            <a:ext cx="1487253" cy="818923"/>
          </a:xfrm>
          <a:prstGeom prst="roundRect">
            <a:avLst/>
          </a:prstGeom>
          <a:solidFill>
            <a:schemeClr val="accent4"/>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Verdana"/>
                <a:ea typeface="+mn-ea"/>
                <a:cs typeface="+mn-cs"/>
              </a:rPr>
              <a:t>VAS</a:t>
            </a:r>
          </a:p>
        </p:txBody>
      </p:sp>
      <p:sp>
        <p:nvSpPr>
          <p:cNvPr id="19" name="Rounded Rectangle 18"/>
          <p:cNvSpPr/>
          <p:nvPr/>
        </p:nvSpPr>
        <p:spPr>
          <a:xfrm>
            <a:off x="7218132" y="2861511"/>
            <a:ext cx="1487253" cy="818923"/>
          </a:xfrm>
          <a:prstGeom prst="roundRect">
            <a:avLst/>
          </a:prstGeom>
          <a:solidFill>
            <a:schemeClr val="accent4"/>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SMS</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22" name="Rounded Rectangle 21"/>
          <p:cNvSpPr/>
          <p:nvPr/>
        </p:nvSpPr>
        <p:spPr>
          <a:xfrm>
            <a:off x="9033472" y="2830044"/>
            <a:ext cx="1487253" cy="818923"/>
          </a:xfrm>
          <a:prstGeom prst="roundRect">
            <a:avLst/>
          </a:prstGeom>
          <a:solidFill>
            <a:schemeClr val="accent3"/>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Tenure</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25" name="Oval 24"/>
          <p:cNvSpPr/>
          <p:nvPr/>
        </p:nvSpPr>
        <p:spPr>
          <a:xfrm>
            <a:off x="5470574" y="4272830"/>
            <a:ext cx="1483830" cy="610744"/>
          </a:xfrm>
          <a:prstGeom prst="ellipse">
            <a:avLst/>
          </a:prstGeom>
          <a:solidFill>
            <a:schemeClr val="accent4"/>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Verdana"/>
                <a:ea typeface="+mn-ea"/>
                <a:cs typeface="+mn-cs"/>
              </a:rPr>
              <a:t>Count</a:t>
            </a:r>
          </a:p>
        </p:txBody>
      </p:sp>
      <p:sp>
        <p:nvSpPr>
          <p:cNvPr id="26" name="Oval 25"/>
          <p:cNvSpPr/>
          <p:nvPr/>
        </p:nvSpPr>
        <p:spPr>
          <a:xfrm>
            <a:off x="2006294" y="4272830"/>
            <a:ext cx="1483830" cy="610744"/>
          </a:xfrm>
          <a:prstGeom prst="ellipse">
            <a:avLst/>
          </a:prstGeom>
          <a:solidFill>
            <a:schemeClr val="accent2"/>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Verdana"/>
                <a:ea typeface="+mn-ea"/>
                <a:cs typeface="+mn-cs"/>
              </a:rPr>
              <a:t>Value</a:t>
            </a:r>
          </a:p>
        </p:txBody>
      </p:sp>
      <p:sp>
        <p:nvSpPr>
          <p:cNvPr id="28" name="Oval 27"/>
          <p:cNvSpPr/>
          <p:nvPr/>
        </p:nvSpPr>
        <p:spPr>
          <a:xfrm>
            <a:off x="3712750" y="4300270"/>
            <a:ext cx="1483830" cy="610744"/>
          </a:xfrm>
          <a:prstGeom prst="ellipse">
            <a:avLst/>
          </a:prstGeom>
          <a:solidFill>
            <a:schemeClr val="accent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Verdana"/>
                <a:ea typeface="+mn-ea"/>
                <a:cs typeface="+mn-cs"/>
              </a:rPr>
              <a:t>Usage</a:t>
            </a:r>
          </a:p>
        </p:txBody>
      </p:sp>
      <p:sp>
        <p:nvSpPr>
          <p:cNvPr id="33" name="Oval 32"/>
          <p:cNvSpPr/>
          <p:nvPr/>
        </p:nvSpPr>
        <p:spPr>
          <a:xfrm>
            <a:off x="9033472" y="4276978"/>
            <a:ext cx="1483831" cy="610745"/>
          </a:xfrm>
          <a:prstGeom prst="ellipse">
            <a:avLst/>
          </a:prstGeom>
          <a:solidFill>
            <a:schemeClr val="bg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Flag</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35" name="Left Brace 34"/>
          <p:cNvSpPr/>
          <p:nvPr/>
        </p:nvSpPr>
        <p:spPr>
          <a:xfrm>
            <a:off x="1190623" y="1898187"/>
            <a:ext cx="246782" cy="1569182"/>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dirty="0">
              <a:ln>
                <a:noFill/>
              </a:ln>
              <a:solidFill>
                <a:prstClr val="black"/>
              </a:solidFill>
              <a:effectLst/>
              <a:uLnTx/>
              <a:uFillTx/>
              <a:latin typeface="Verdana"/>
              <a:ea typeface="+mn-ea"/>
              <a:cs typeface="+mn-cs"/>
            </a:endParaRPr>
          </a:p>
        </p:txBody>
      </p:sp>
      <p:sp>
        <p:nvSpPr>
          <p:cNvPr id="36" name="TextBox 35"/>
          <p:cNvSpPr txBox="1"/>
          <p:nvPr/>
        </p:nvSpPr>
        <p:spPr>
          <a:xfrm>
            <a:off x="720790" y="1898187"/>
            <a:ext cx="400110" cy="1530813"/>
          </a:xfrm>
          <a:prstGeom prst="rect">
            <a:avLst/>
          </a:prstGeom>
          <a:noFill/>
        </p:spPr>
        <p:txBody>
          <a:bodyPr vert="vert270"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003087"/>
                </a:solidFill>
                <a:effectLst/>
                <a:uLnTx/>
                <a:uFillTx/>
                <a:latin typeface="Verdana"/>
                <a:ea typeface="+mn-ea"/>
                <a:cs typeface="Univers for KPMG"/>
              </a:rPr>
              <a:t>KPI</a:t>
            </a:r>
          </a:p>
        </p:txBody>
      </p:sp>
      <p:sp>
        <p:nvSpPr>
          <p:cNvPr id="38" name="Left Brace 37"/>
          <p:cNvSpPr/>
          <p:nvPr/>
        </p:nvSpPr>
        <p:spPr>
          <a:xfrm>
            <a:off x="1224356" y="3949349"/>
            <a:ext cx="209225" cy="1251132"/>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dirty="0">
              <a:ln>
                <a:noFill/>
              </a:ln>
              <a:solidFill>
                <a:prstClr val="black"/>
              </a:solidFill>
              <a:effectLst/>
              <a:uLnTx/>
              <a:uFillTx/>
              <a:latin typeface="Verdana"/>
              <a:ea typeface="+mn-ea"/>
              <a:cs typeface="+mn-cs"/>
            </a:endParaRPr>
          </a:p>
        </p:txBody>
      </p:sp>
      <p:sp>
        <p:nvSpPr>
          <p:cNvPr id="39" name="TextBox 38"/>
          <p:cNvSpPr txBox="1"/>
          <p:nvPr/>
        </p:nvSpPr>
        <p:spPr>
          <a:xfrm>
            <a:off x="718800" y="3949348"/>
            <a:ext cx="400110" cy="1251133"/>
          </a:xfrm>
          <a:prstGeom prst="rect">
            <a:avLst/>
          </a:prstGeom>
          <a:noFill/>
        </p:spPr>
        <p:txBody>
          <a:bodyPr vert="vert270"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003087"/>
                </a:solidFill>
                <a:effectLst/>
                <a:uLnTx/>
                <a:uFillTx/>
                <a:latin typeface="Verdana"/>
                <a:ea typeface="+mn-ea"/>
                <a:cs typeface="Univers for KPMG"/>
              </a:rPr>
              <a:t>Frequency</a:t>
            </a:r>
          </a:p>
        </p:txBody>
      </p:sp>
      <p:sp>
        <p:nvSpPr>
          <p:cNvPr id="40" name="TextBox 39"/>
          <p:cNvSpPr txBox="1"/>
          <p:nvPr/>
        </p:nvSpPr>
        <p:spPr>
          <a:xfrm>
            <a:off x="404931" y="5622373"/>
            <a:ext cx="11382137" cy="307777"/>
          </a:xfrm>
          <a:prstGeom prst="rect">
            <a:avLst/>
          </a:prstGeom>
          <a:noFill/>
        </p:spPr>
        <p:txBody>
          <a:bodyPr wrap="square" rtlCol="0">
            <a:spAutoFit/>
          </a:bodyPr>
          <a:lstStyle/>
          <a:p>
            <a:pPr algn="ctr">
              <a:defRPr/>
            </a:pPr>
            <a:r>
              <a:rPr lang="en-IN" sz="1400" b="1" dirty="0">
                <a:solidFill>
                  <a:srgbClr val="003087"/>
                </a:solidFill>
                <a:latin typeface="Univers for KPMG"/>
                <a:cs typeface="Univers for KPMG"/>
              </a:rPr>
              <a:t>D</a:t>
            </a:r>
            <a:r>
              <a:rPr kumimoji="0" lang="en-IN" sz="1400" b="1" i="0" u="none" strike="noStrike" kern="1200" cap="none" spc="0" normalizeH="0" baseline="0" noProof="0" dirty="0" err="1">
                <a:ln>
                  <a:noFill/>
                </a:ln>
                <a:solidFill>
                  <a:srgbClr val="003087"/>
                </a:solidFill>
                <a:effectLst/>
                <a:uLnTx/>
                <a:uFillTx/>
                <a:latin typeface="Univers for KPMG"/>
                <a:ea typeface="+mn-ea"/>
                <a:cs typeface="Univers for KPMG"/>
              </a:rPr>
              <a:t>ata</a:t>
            </a:r>
            <a:r>
              <a:rPr kumimoji="0" lang="en-IN" sz="1400" b="1" i="0" u="none" strike="noStrike" kern="1200" cap="none" spc="0" normalizeH="0" baseline="0" noProof="0" dirty="0">
                <a:ln>
                  <a:noFill/>
                </a:ln>
                <a:solidFill>
                  <a:srgbClr val="003087"/>
                </a:solidFill>
                <a:effectLst/>
                <a:uLnTx/>
                <a:uFillTx/>
                <a:latin typeface="Univers for KPMG"/>
                <a:ea typeface="+mn-ea"/>
                <a:cs typeface="Univers for KPMG"/>
              </a:rPr>
              <a:t> was prepared at different levels </a:t>
            </a:r>
            <a:r>
              <a:rPr lang="en-IN" sz="1400" b="1" dirty="0">
                <a:solidFill>
                  <a:srgbClr val="003087"/>
                </a:solidFill>
                <a:latin typeface="Univers for KPMG"/>
                <a:cs typeface="Univers for KPMG"/>
              </a:rPr>
              <a:t>including Sum, Ratio &amp; Mean of l</a:t>
            </a:r>
            <a:r>
              <a:rPr kumimoji="0" lang="en-IN" sz="1400" b="1" i="0" u="none" strike="noStrike" kern="1200" cap="none" spc="0" normalizeH="0" baseline="0" noProof="0" dirty="0" err="1">
                <a:ln>
                  <a:noFill/>
                </a:ln>
                <a:solidFill>
                  <a:srgbClr val="003087"/>
                </a:solidFill>
                <a:effectLst/>
                <a:uLnTx/>
                <a:uFillTx/>
                <a:latin typeface="Univers for KPMG"/>
                <a:ea typeface="+mn-ea"/>
                <a:cs typeface="Univers for KPMG"/>
              </a:rPr>
              <a:t>ast</a:t>
            </a:r>
            <a:r>
              <a:rPr kumimoji="0" lang="en-IN" sz="1400" b="1" i="0" u="none" strike="noStrike" kern="1200" cap="none" spc="0" normalizeH="0" baseline="0" noProof="0" dirty="0">
                <a:ln>
                  <a:noFill/>
                </a:ln>
                <a:solidFill>
                  <a:srgbClr val="003087"/>
                </a:solidFill>
                <a:effectLst/>
                <a:uLnTx/>
                <a:uFillTx/>
                <a:latin typeface="Univers for KPMG"/>
                <a:ea typeface="+mn-ea"/>
                <a:cs typeface="Univers for KPMG"/>
              </a:rPr>
              <a:t> 7 days, 14 days, 28 days</a:t>
            </a:r>
            <a:endParaRPr kumimoji="0" lang="en-IN" sz="1400" b="0" i="0" u="none" strike="noStrike" kern="1200" cap="none" spc="0" normalizeH="0" baseline="0" noProof="0" dirty="0">
              <a:ln>
                <a:noFill/>
              </a:ln>
              <a:solidFill>
                <a:srgbClr val="003087"/>
              </a:solidFill>
              <a:effectLst/>
              <a:uLnTx/>
              <a:uFillTx/>
              <a:latin typeface="Univers for KPMG"/>
              <a:ea typeface="+mn-ea"/>
              <a:cs typeface="Univers for KPMG"/>
            </a:endParaRPr>
          </a:p>
        </p:txBody>
      </p:sp>
      <p:sp>
        <p:nvSpPr>
          <p:cNvPr id="41" name="TextBox 40"/>
          <p:cNvSpPr txBox="1"/>
          <p:nvPr/>
        </p:nvSpPr>
        <p:spPr>
          <a:xfrm>
            <a:off x="6096000" y="6588490"/>
            <a:ext cx="599832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1" u="none" strike="noStrike" kern="1200" cap="none" spc="0" normalizeH="0" baseline="0" noProof="0" dirty="0">
                <a:ln>
                  <a:noFill/>
                </a:ln>
                <a:solidFill>
                  <a:srgbClr val="75787B"/>
                </a:solidFill>
                <a:effectLst/>
                <a:uLnTx/>
                <a:uFillTx/>
                <a:latin typeface="Verdana"/>
                <a:ea typeface="+mn-ea"/>
                <a:cs typeface="Univers for KPMG"/>
              </a:rPr>
              <a:t>Note: There are few KPI’s where we have frequency, value and count overlaps</a:t>
            </a:r>
          </a:p>
        </p:txBody>
      </p:sp>
      <p:sp>
        <p:nvSpPr>
          <p:cNvPr id="5" name="TextBox 4"/>
          <p:cNvSpPr txBox="1"/>
          <p:nvPr/>
        </p:nvSpPr>
        <p:spPr>
          <a:xfrm>
            <a:off x="404931" y="858795"/>
            <a:ext cx="10769373" cy="461665"/>
          </a:xfrm>
          <a:prstGeom prst="rect">
            <a:avLst/>
          </a:prstGeom>
          <a:noFill/>
        </p:spPr>
        <p:txBody>
          <a:bodyPr wrap="square" rtlCol="0">
            <a:spAutoFit/>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Verdana"/>
                <a:ea typeface="+mn-ea"/>
                <a:cs typeface="+mn-cs"/>
              </a:rPr>
              <a:t>Hypothesis were built on customers usage, revenue behaviour and patterns</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Verdana"/>
                <a:ea typeface="+mn-ea"/>
                <a:cs typeface="+mn-cs"/>
              </a:rPr>
              <a:t>Transformations are done on KPI’s like usage,</a:t>
            </a:r>
            <a:r>
              <a:rPr kumimoji="0" lang="en-IN" sz="1200" b="0" i="0" u="none" strike="noStrike" kern="1200" cap="none" spc="0" normalizeH="0" noProof="0" dirty="0">
                <a:ln>
                  <a:noFill/>
                </a:ln>
                <a:solidFill>
                  <a:prstClr val="black"/>
                </a:solidFill>
                <a:effectLst/>
                <a:uLnTx/>
                <a:uFillTx/>
                <a:latin typeface="Verdana"/>
                <a:ea typeface="+mn-ea"/>
                <a:cs typeface="+mn-cs"/>
              </a:rPr>
              <a:t> </a:t>
            </a:r>
            <a:r>
              <a:rPr kumimoji="0" lang="en-IN" sz="1200" b="0" i="0" u="none" strike="noStrike" kern="1200" cap="none" spc="0" normalizeH="0" baseline="0" noProof="0" dirty="0">
                <a:ln>
                  <a:noFill/>
                </a:ln>
                <a:solidFill>
                  <a:prstClr val="black"/>
                </a:solidFill>
                <a:effectLst/>
                <a:uLnTx/>
                <a:uFillTx/>
                <a:latin typeface="Verdana"/>
                <a:ea typeface="+mn-ea"/>
                <a:cs typeface="+mn-cs"/>
              </a:rPr>
              <a:t>value and ratio at weekly, fortnightly and monthly level</a:t>
            </a:r>
          </a:p>
        </p:txBody>
      </p:sp>
      <p:sp>
        <p:nvSpPr>
          <p:cNvPr id="43" name="Oval 42"/>
          <p:cNvSpPr/>
          <p:nvPr/>
        </p:nvSpPr>
        <p:spPr>
          <a:xfrm>
            <a:off x="7218132" y="4327711"/>
            <a:ext cx="1483831" cy="555863"/>
          </a:xfrm>
          <a:prstGeom prst="ellipse">
            <a:avLst/>
          </a:prstGeom>
          <a:solidFill>
            <a:schemeClr val="accent3"/>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Verdana"/>
                <a:ea typeface="+mn-ea"/>
                <a:cs typeface="+mn-cs"/>
              </a:rPr>
              <a:t>No. of Days</a:t>
            </a:r>
            <a:endParaRPr kumimoji="0" lang="en-IN" sz="1400" b="1" i="0" u="none" strike="noStrike" kern="1200" cap="none" spc="0" normalizeH="0" baseline="0" noProof="0" dirty="0">
              <a:ln>
                <a:noFill/>
              </a:ln>
              <a:solidFill>
                <a:prstClr val="white"/>
              </a:solidFill>
              <a:effectLst/>
              <a:uLnTx/>
              <a:uFillTx/>
              <a:latin typeface="Verdana"/>
              <a:ea typeface="+mn-ea"/>
              <a:cs typeface="+mn-cs"/>
            </a:endParaRPr>
          </a:p>
        </p:txBody>
      </p:sp>
      <p:sp>
        <p:nvSpPr>
          <p:cNvPr id="32" name="Rounded Rectangle 8">
            <a:extLst>
              <a:ext uri="{FF2B5EF4-FFF2-40B4-BE49-F238E27FC236}">
                <a16:creationId xmlns:a16="http://schemas.microsoft.com/office/drawing/2014/main" id="{70782307-4ECB-4837-A5FB-EA7266F4EA72}"/>
              </a:ext>
            </a:extLst>
          </p:cNvPr>
          <p:cNvSpPr/>
          <p:nvPr/>
        </p:nvSpPr>
        <p:spPr>
          <a:xfrm>
            <a:off x="2008598" y="2829222"/>
            <a:ext cx="1487253" cy="818923"/>
          </a:xfrm>
          <a:prstGeom prst="roundRect">
            <a:avLst/>
          </a:prstGeom>
          <a:solidFill>
            <a:schemeClr val="accent2"/>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Verdana"/>
                <a:ea typeface="+mn-ea"/>
                <a:cs typeface="+mn-cs"/>
              </a:rPr>
              <a:t>Mobile Money</a:t>
            </a:r>
          </a:p>
        </p:txBody>
      </p:sp>
    </p:spTree>
    <p:extLst>
      <p:ext uri="{BB962C8B-B14F-4D97-AF65-F5344CB8AC3E}">
        <p14:creationId xmlns:p14="http://schemas.microsoft.com/office/powerpoint/2010/main" val="2183247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0034" y="322609"/>
            <a:ext cx="11165280" cy="577289"/>
          </a:xfrm>
        </p:spPr>
        <p:txBody>
          <a:bodyPr vert="horz" lIns="0" tIns="0" rIns="0" bIns="0" rtlCol="0" anchor="t" anchorCtr="0">
            <a:noAutofit/>
          </a:bodyPr>
          <a:lstStyle/>
          <a:p>
            <a:r>
              <a:rPr lang="en-US" dirty="0">
                <a:solidFill>
                  <a:schemeClr val="tx1"/>
                </a:solidFill>
                <a:latin typeface="Verdana"/>
              </a:rPr>
              <a:t>Out of the 1661 feature engineered variables, Key variable were identified after data cleaning &amp; EDA</a:t>
            </a:r>
          </a:p>
        </p:txBody>
      </p:sp>
      <p:sp>
        <p:nvSpPr>
          <p:cNvPr id="2" name="Rectangle 1"/>
          <p:cNvSpPr/>
          <p:nvPr/>
        </p:nvSpPr>
        <p:spPr>
          <a:xfrm>
            <a:off x="4639602" y="2206547"/>
            <a:ext cx="7005712" cy="892373"/>
          </a:xfrm>
          <a:prstGeom prst="rect">
            <a:avLst/>
          </a:prstGeom>
          <a:noFill/>
          <a:ln w="3175" cap="sq">
            <a:solidFill>
              <a:srgbClr val="377D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tx1"/>
                </a:solidFill>
              </a:rPr>
              <a:t>All the variables with missing values &gt;20% are dropped from analysis.</a:t>
            </a:r>
          </a:p>
          <a:p>
            <a:pPr marL="171450" indent="-171450">
              <a:buFont typeface="Arial" panose="020B0604020202020204" pitchFamily="34" charset="0"/>
              <a:buChar char="•"/>
            </a:pPr>
            <a:r>
              <a:rPr lang="en-US" sz="1200" dirty="0">
                <a:solidFill>
                  <a:schemeClr val="tx1"/>
                </a:solidFill>
              </a:rPr>
              <a:t>Rows with missing values are dropped if variable has &lt;1% missing values.</a:t>
            </a:r>
          </a:p>
          <a:p>
            <a:pPr marL="171450" indent="-171450">
              <a:buFont typeface="Arial" panose="020B0604020202020204" pitchFamily="34" charset="0"/>
              <a:buChar char="•"/>
            </a:pPr>
            <a:r>
              <a:rPr lang="en-US" sz="1200" dirty="0">
                <a:solidFill>
                  <a:schemeClr val="tx1"/>
                </a:solidFill>
              </a:rPr>
              <a:t>Missing values &lt;20% are categorized as “Others”</a:t>
            </a:r>
            <a:endParaRPr lang="en-IN" sz="1200" dirty="0">
              <a:solidFill>
                <a:schemeClr val="tx1"/>
              </a:solidFill>
            </a:endParaRPr>
          </a:p>
        </p:txBody>
      </p:sp>
      <p:sp>
        <p:nvSpPr>
          <p:cNvPr id="5" name="Rectangle 4"/>
          <p:cNvSpPr/>
          <p:nvPr/>
        </p:nvSpPr>
        <p:spPr>
          <a:xfrm>
            <a:off x="4639602" y="3238903"/>
            <a:ext cx="7005712" cy="917114"/>
          </a:xfrm>
          <a:prstGeom prst="rect">
            <a:avLst/>
          </a:prstGeom>
          <a:noFill/>
          <a:ln w="3175" cap="sq">
            <a:solidFill>
              <a:srgbClr val="377D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tx1"/>
                </a:solidFill>
              </a:rPr>
              <a:t>All the variables with missing values &gt; 20% are dropped from analysis.</a:t>
            </a:r>
          </a:p>
          <a:p>
            <a:pPr marL="171450" indent="-171450">
              <a:buFont typeface="Arial" panose="020B0604020202020204" pitchFamily="34" charset="0"/>
              <a:buChar char="•"/>
            </a:pPr>
            <a:r>
              <a:rPr lang="en-US" sz="1200" dirty="0">
                <a:solidFill>
                  <a:schemeClr val="tx1"/>
                </a:solidFill>
              </a:rPr>
              <a:t>Missing values &lt;20% are imputed with median value of the variable.</a:t>
            </a:r>
            <a:endParaRPr lang="en-IN" sz="1200" dirty="0">
              <a:solidFill>
                <a:schemeClr val="tx1"/>
              </a:solidFill>
            </a:endParaRPr>
          </a:p>
        </p:txBody>
      </p:sp>
      <p:sp>
        <p:nvSpPr>
          <p:cNvPr id="6" name="Rectangle 5"/>
          <p:cNvSpPr/>
          <p:nvPr/>
        </p:nvSpPr>
        <p:spPr>
          <a:xfrm>
            <a:off x="4639602" y="4316547"/>
            <a:ext cx="7005712" cy="917114"/>
          </a:xfrm>
          <a:prstGeom prst="rect">
            <a:avLst/>
          </a:prstGeom>
          <a:noFill/>
          <a:ln w="3175" cap="sq">
            <a:solidFill>
              <a:srgbClr val="377D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IN" sz="1200" dirty="0">
                <a:solidFill>
                  <a:schemeClr val="tx1"/>
                </a:solidFill>
              </a:rPr>
              <a:t>Capping is done at the 99</a:t>
            </a:r>
            <a:r>
              <a:rPr lang="en-IN" sz="1200" baseline="30000" dirty="0">
                <a:solidFill>
                  <a:schemeClr val="tx1"/>
                </a:solidFill>
              </a:rPr>
              <a:t>th</a:t>
            </a:r>
            <a:r>
              <a:rPr lang="en-IN" sz="1200" dirty="0">
                <a:solidFill>
                  <a:schemeClr val="tx1"/>
                </a:solidFill>
              </a:rPr>
              <a:t> percentile for the observations where maximum value was 5 times that of the 99</a:t>
            </a:r>
            <a:r>
              <a:rPr lang="en-IN" sz="1200" baseline="30000" dirty="0">
                <a:solidFill>
                  <a:schemeClr val="tx1"/>
                </a:solidFill>
              </a:rPr>
              <a:t>th</a:t>
            </a:r>
            <a:r>
              <a:rPr lang="en-IN" sz="1200" dirty="0">
                <a:solidFill>
                  <a:schemeClr val="tx1"/>
                </a:solidFill>
              </a:rPr>
              <a:t> percentile value.</a:t>
            </a:r>
          </a:p>
          <a:p>
            <a:pPr marL="171450" indent="-171450">
              <a:buFont typeface="Arial" panose="020B0604020202020204" pitchFamily="34" charset="0"/>
              <a:buChar char="•"/>
            </a:pPr>
            <a:r>
              <a:rPr lang="en-IN" sz="1200" dirty="0">
                <a:solidFill>
                  <a:schemeClr val="tx1"/>
                </a:solidFill>
              </a:rPr>
              <a:t>Any negative observation are floored to zero.</a:t>
            </a:r>
          </a:p>
        </p:txBody>
      </p:sp>
      <p:sp>
        <p:nvSpPr>
          <p:cNvPr id="8" name="Rectangle 7"/>
          <p:cNvSpPr/>
          <p:nvPr/>
        </p:nvSpPr>
        <p:spPr bwMode="gray">
          <a:xfrm>
            <a:off x="940526" y="1545726"/>
            <a:ext cx="3030583" cy="435428"/>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Activity</a:t>
            </a:r>
            <a:endParaRPr lang="en-IN" sz="1400" b="1" dirty="0">
              <a:solidFill>
                <a:schemeClr val="bg1"/>
              </a:solidFill>
            </a:endParaRPr>
          </a:p>
        </p:txBody>
      </p:sp>
      <p:sp>
        <p:nvSpPr>
          <p:cNvPr id="10" name="Rectangle 9"/>
          <p:cNvSpPr/>
          <p:nvPr/>
        </p:nvSpPr>
        <p:spPr bwMode="gray">
          <a:xfrm>
            <a:off x="940526" y="2181807"/>
            <a:ext cx="3030583" cy="917114"/>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pPr>
            <a:r>
              <a:rPr lang="en-IN" sz="1400" b="1" dirty="0">
                <a:solidFill>
                  <a:schemeClr val="bg1"/>
                </a:solidFill>
              </a:rPr>
              <a:t>Fill Rate Analysis : Categorical</a:t>
            </a:r>
          </a:p>
        </p:txBody>
      </p:sp>
      <p:sp>
        <p:nvSpPr>
          <p:cNvPr id="11" name="Rectangle 10"/>
          <p:cNvSpPr/>
          <p:nvPr/>
        </p:nvSpPr>
        <p:spPr bwMode="gray">
          <a:xfrm>
            <a:off x="940526" y="3238903"/>
            <a:ext cx="3030583" cy="917114"/>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pPr>
            <a:r>
              <a:rPr lang="en-IN" sz="1400" b="1" dirty="0">
                <a:solidFill>
                  <a:schemeClr val="bg1"/>
                </a:solidFill>
              </a:rPr>
              <a:t>Fill Rate Analysis : Numerical</a:t>
            </a:r>
          </a:p>
        </p:txBody>
      </p:sp>
      <p:sp>
        <p:nvSpPr>
          <p:cNvPr id="12" name="Rectangle 11"/>
          <p:cNvSpPr/>
          <p:nvPr/>
        </p:nvSpPr>
        <p:spPr bwMode="gray">
          <a:xfrm>
            <a:off x="940525" y="4316547"/>
            <a:ext cx="3030583" cy="917114"/>
          </a:xfrm>
          <a:prstGeom prst="rect">
            <a:avLst/>
          </a:prstGeom>
          <a:solidFill>
            <a:schemeClr val="accent2"/>
          </a:solidFill>
          <a:ln w="19050" algn="ctr">
            <a:noFill/>
            <a:miter lim="800000"/>
            <a:headEnd/>
            <a:tailEnd/>
          </a:ln>
        </p:spPr>
        <p:txBody>
          <a:bodyPr wrap="square" lIns="88900" tIns="88900" rIns="88900" bIns="88900" rtlCol="0" anchor="ctr"/>
          <a:lstStyle/>
          <a:p>
            <a:pPr lvl="0" algn="ctr"/>
            <a:r>
              <a:rPr lang="en-IN" sz="1400" b="1" dirty="0">
                <a:solidFill>
                  <a:schemeClr val="bg1"/>
                </a:solidFill>
              </a:rPr>
              <a:t>Outlier Treatment</a:t>
            </a:r>
          </a:p>
        </p:txBody>
      </p:sp>
      <p:sp>
        <p:nvSpPr>
          <p:cNvPr id="14" name="Rectangle 13">
            <a:extLst>
              <a:ext uri="{FF2B5EF4-FFF2-40B4-BE49-F238E27FC236}">
                <a16:creationId xmlns:a16="http://schemas.microsoft.com/office/drawing/2014/main" id="{F64D2D62-F764-4262-9BF3-ADE42E4EC39A}"/>
              </a:ext>
            </a:extLst>
          </p:cNvPr>
          <p:cNvSpPr/>
          <p:nvPr/>
        </p:nvSpPr>
        <p:spPr bwMode="gray">
          <a:xfrm>
            <a:off x="4639602" y="1522749"/>
            <a:ext cx="7005712" cy="435428"/>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Rules</a:t>
            </a:r>
            <a:endParaRPr lang="en-IN" sz="1400" b="1" dirty="0">
              <a:solidFill>
                <a:schemeClr val="bg1"/>
              </a:solidFill>
            </a:endParaRPr>
          </a:p>
        </p:txBody>
      </p:sp>
    </p:spTree>
    <p:extLst>
      <p:ext uri="{BB962C8B-B14F-4D97-AF65-F5344CB8AC3E}">
        <p14:creationId xmlns:p14="http://schemas.microsoft.com/office/powerpoint/2010/main" val="3361137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69900" y="305310"/>
            <a:ext cx="11252200" cy="692151"/>
          </a:xfrm>
        </p:spPr>
        <p:txBody>
          <a:bodyPr/>
          <a:lstStyle/>
          <a:p>
            <a:r>
              <a:rPr lang="en-GB" dirty="0">
                <a:latin typeface="Verdana" panose="020B0604030504040204" pitchFamily="34" charset="0"/>
                <a:ea typeface="Verdana" panose="020B0604030504040204" pitchFamily="34" charset="0"/>
                <a:cs typeface="Verdana" panose="020B0604030504040204" pitchFamily="34" charset="0"/>
              </a:rPr>
              <a:t>Observation and performance windows for inactivity churn model were fixed based on which the prediction model was developed</a:t>
            </a:r>
            <a:br>
              <a:rPr lang="en-GB" dirty="0">
                <a:latin typeface="Verdana" panose="020B0604030504040204" pitchFamily="34" charset="0"/>
                <a:ea typeface="Verdana" panose="020B0604030504040204" pitchFamily="34" charset="0"/>
                <a:cs typeface="Verdana" panose="020B0604030504040204" pitchFamily="34" charset="0"/>
              </a:rPr>
            </a:br>
            <a:endParaRPr lang="en-IN" dirty="0">
              <a:latin typeface="Verdana" panose="020B0604030504040204" pitchFamily="34" charset="0"/>
              <a:ea typeface="Verdana" panose="020B0604030504040204" pitchFamily="34" charset="0"/>
              <a:cs typeface="Verdana" panose="020B0604030504040204" pitchFamily="34" charset="0"/>
            </a:endParaRPr>
          </a:p>
        </p:txBody>
      </p:sp>
      <p:grpSp>
        <p:nvGrpSpPr>
          <p:cNvPr id="7" name="Group 6"/>
          <p:cNvGrpSpPr/>
          <p:nvPr/>
        </p:nvGrpSpPr>
        <p:grpSpPr>
          <a:xfrm>
            <a:off x="1168315" y="2703848"/>
            <a:ext cx="10199852" cy="779613"/>
            <a:chOff x="0" y="1855862"/>
            <a:chExt cx="7431204" cy="980116"/>
          </a:xfrm>
        </p:grpSpPr>
        <p:cxnSp>
          <p:nvCxnSpPr>
            <p:cNvPr id="8" name="Straight Arrow Connector 4"/>
            <p:cNvCxnSpPr>
              <a:cxnSpLocks noChangeShapeType="1"/>
            </p:cNvCxnSpPr>
            <p:nvPr/>
          </p:nvCxnSpPr>
          <p:spPr bwMode="auto">
            <a:xfrm>
              <a:off x="343424" y="2310707"/>
              <a:ext cx="6583680" cy="0"/>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 name="TextBox 5"/>
            <p:cNvSpPr txBox="1">
              <a:spLocks noChangeArrowheads="1"/>
            </p:cNvSpPr>
            <p:nvPr/>
          </p:nvSpPr>
          <p:spPr bwMode="auto">
            <a:xfrm>
              <a:off x="6959600" y="2204344"/>
              <a:ext cx="471604" cy="230832"/>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Time</a:t>
              </a:r>
            </a:p>
          </p:txBody>
        </p:sp>
        <p:cxnSp>
          <p:nvCxnSpPr>
            <p:cNvPr id="10" name="Straight Connector 9"/>
            <p:cNvCxnSpPr/>
            <p:nvPr/>
          </p:nvCxnSpPr>
          <p:spPr bwMode="auto">
            <a:xfrm>
              <a:off x="3627548" y="2215456"/>
              <a:ext cx="0" cy="17145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bwMode="auto">
            <a:xfrm>
              <a:off x="6172200" y="2215457"/>
              <a:ext cx="0" cy="17145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Connector 50"/>
            <p:cNvCxnSpPr>
              <a:cxnSpLocks noChangeShapeType="1"/>
            </p:cNvCxnSpPr>
            <p:nvPr/>
          </p:nvCxnSpPr>
          <p:spPr bwMode="auto">
            <a:xfrm>
              <a:off x="3627548" y="1855862"/>
              <a:ext cx="628" cy="496749"/>
            </a:xfrm>
            <a:prstGeom prst="line">
              <a:avLst/>
            </a:prstGeom>
            <a:noFill/>
            <a:ln w="9525" algn="ctr">
              <a:solidFill>
                <a:schemeClr val="tx1"/>
              </a:solidFill>
              <a:prstDash val="dashDot"/>
              <a:round/>
              <a:headEnd/>
              <a:tailEnd/>
            </a:ln>
            <a:extLst>
              <a:ext uri="{909E8E84-426E-40DD-AFC4-6F175D3DCCD1}">
                <a14:hiddenFill xmlns:a14="http://schemas.microsoft.com/office/drawing/2010/main">
                  <a:noFill/>
                </a14:hiddenFill>
              </a:ext>
            </a:extLst>
          </p:spPr>
        </p:cxnSp>
        <p:sp>
          <p:nvSpPr>
            <p:cNvPr id="13" name="TextBox 69"/>
            <p:cNvSpPr txBox="1">
              <a:spLocks noChangeArrowheads="1"/>
            </p:cNvSpPr>
            <p:nvPr/>
          </p:nvSpPr>
          <p:spPr bwMode="auto">
            <a:xfrm>
              <a:off x="3018540" y="2545780"/>
              <a:ext cx="1218017" cy="290198"/>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GB" sz="1000" b="1" dirty="0">
                  <a:solidFill>
                    <a:prstClr val="black"/>
                  </a:solidFill>
                  <a:latin typeface="Trebuchet MS" panose="020B0603020202020204" pitchFamily="34" charset="0"/>
                </a:rPr>
                <a:t>15 June 2021</a:t>
              </a:r>
              <a:endParaRPr kumimoji="0" lang="en-US"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sp>
          <p:nvSpPr>
            <p:cNvPr id="14" name="TextBox 69"/>
            <p:cNvSpPr txBox="1">
              <a:spLocks noChangeArrowheads="1"/>
            </p:cNvSpPr>
            <p:nvPr/>
          </p:nvSpPr>
          <p:spPr bwMode="auto">
            <a:xfrm>
              <a:off x="5563783" y="2387769"/>
              <a:ext cx="1218017" cy="290198"/>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26 July 2021</a:t>
              </a:r>
              <a:endParaRPr kumimoji="0" lang="en-US"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sp>
          <p:nvSpPr>
            <p:cNvPr id="15" name="TextBox 69"/>
            <p:cNvSpPr txBox="1">
              <a:spLocks noChangeArrowheads="1"/>
            </p:cNvSpPr>
            <p:nvPr/>
          </p:nvSpPr>
          <p:spPr bwMode="auto">
            <a:xfrm>
              <a:off x="4230825" y="2284871"/>
              <a:ext cx="2133008" cy="228600"/>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30 days</a:t>
              </a:r>
              <a:endParaRPr kumimoji="0" lang="en-US"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cxnSp>
          <p:nvCxnSpPr>
            <p:cNvPr id="16" name="Straight Connector 15"/>
            <p:cNvCxnSpPr/>
            <p:nvPr/>
          </p:nvCxnSpPr>
          <p:spPr bwMode="auto">
            <a:xfrm>
              <a:off x="357850" y="2217044"/>
              <a:ext cx="0" cy="171450"/>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7" name="TextBox 69"/>
            <p:cNvSpPr txBox="1">
              <a:spLocks noChangeArrowheads="1"/>
            </p:cNvSpPr>
            <p:nvPr/>
          </p:nvSpPr>
          <p:spPr bwMode="auto">
            <a:xfrm>
              <a:off x="0" y="2387768"/>
              <a:ext cx="914400" cy="290198"/>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GB" sz="1000" b="1" dirty="0">
                  <a:solidFill>
                    <a:prstClr val="black"/>
                  </a:solidFill>
                  <a:latin typeface="Trebuchet MS" panose="020B0603020202020204" pitchFamily="34" charset="0"/>
                </a:rPr>
                <a:t>20</a:t>
              </a:r>
              <a:r>
                <a:rPr kumimoji="0" lang="en-GB"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 </a:t>
              </a:r>
              <a:r>
                <a:rPr lang="en-GB" sz="1000" b="1" dirty="0">
                  <a:solidFill>
                    <a:prstClr val="black"/>
                  </a:solidFill>
                  <a:latin typeface="Trebuchet MS" panose="020B0603020202020204" pitchFamily="34" charset="0"/>
                </a:rPr>
                <a:t>Apr</a:t>
              </a:r>
              <a:r>
                <a:rPr kumimoji="0" lang="en-GB"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 2021</a:t>
              </a:r>
              <a:endParaRPr kumimoji="0" lang="en-US"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cxnSp>
          <p:nvCxnSpPr>
            <p:cNvPr id="19" name="Straight Arrow Connector 18"/>
            <p:cNvCxnSpPr>
              <a:cxnSpLocks/>
            </p:cNvCxnSpPr>
            <p:nvPr/>
          </p:nvCxnSpPr>
          <p:spPr>
            <a:xfrm>
              <a:off x="4315930" y="2104328"/>
              <a:ext cx="1856270" cy="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grpSp>
      <p:sp>
        <p:nvSpPr>
          <p:cNvPr id="22" name="Rectangle 21"/>
          <p:cNvSpPr/>
          <p:nvPr/>
        </p:nvSpPr>
        <p:spPr>
          <a:xfrm>
            <a:off x="719847" y="3989361"/>
            <a:ext cx="10622604" cy="21854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lvl="0" indent="-342900">
              <a:lnSpc>
                <a:spcPct val="150000"/>
              </a:lnSpc>
              <a:buFont typeface="+mj-lt"/>
              <a:buAutoNum type="arabicPeriod"/>
              <a:defRPr/>
            </a:pPr>
            <a:r>
              <a:rPr lang="en-GB" sz="1100" dirty="0">
                <a:solidFill>
                  <a:prstClr val="black"/>
                </a:solidFill>
              </a:rPr>
              <a:t>MTN prepaid subscribers as of </a:t>
            </a:r>
            <a:r>
              <a:rPr lang="en-GB" sz="1100" b="1" dirty="0">
                <a:solidFill>
                  <a:prstClr val="black"/>
                </a:solidFill>
              </a:rPr>
              <a:t>15 June 2021</a:t>
            </a:r>
            <a:r>
              <a:rPr lang="en-GB" sz="1100" dirty="0">
                <a:solidFill>
                  <a:prstClr val="black"/>
                </a:solidFill>
              </a:rPr>
              <a:t> considered for the inactivity churn model. </a:t>
            </a:r>
          </a:p>
          <a:p>
            <a:pPr marL="342900" indent="-342900">
              <a:lnSpc>
                <a:spcPct val="150000"/>
              </a:lnSpc>
              <a:buFont typeface="+mj-lt"/>
              <a:buAutoNum type="arabicPeriod"/>
              <a:defRPr/>
            </a:pPr>
            <a:r>
              <a:rPr lang="en-GB" sz="1100" dirty="0">
                <a:solidFill>
                  <a:prstClr val="black"/>
                </a:solidFill>
              </a:rPr>
              <a:t>Customers who are active (Tenure &gt;= 120 and</a:t>
            </a:r>
            <a:r>
              <a:rPr lang="en-GB" sz="1100" b="1" dirty="0">
                <a:solidFill>
                  <a:prstClr val="black"/>
                </a:solidFill>
              </a:rPr>
              <a:t> </a:t>
            </a:r>
            <a:r>
              <a:rPr lang="en-GB" sz="1100" dirty="0">
                <a:solidFill>
                  <a:prstClr val="black"/>
                </a:solidFill>
              </a:rPr>
              <a:t>Last 3 months ARPU is ZAR 30 to 125 ) are considered for prediction</a:t>
            </a:r>
          </a:p>
          <a:p>
            <a:pPr marL="342900" indent="-342900">
              <a:lnSpc>
                <a:spcPct val="150000"/>
              </a:lnSpc>
              <a:buFont typeface="+mj-lt"/>
              <a:buAutoNum type="arabicPeriod"/>
              <a:defRPr/>
            </a:pPr>
            <a:r>
              <a:rPr lang="en-GB" sz="1100" dirty="0">
                <a:solidFill>
                  <a:prstClr val="black"/>
                </a:solidFill>
              </a:rPr>
              <a:t>Inactivity churn definition – Subscribers with inactivity of 30 days or more by the end of performance window are termed as inactive churn</a:t>
            </a:r>
            <a:endParaRPr lang="en-US" sz="1100" dirty="0">
              <a:solidFill>
                <a:srgbClr val="080808"/>
              </a:solidFill>
              <a:cs typeface="Unilever DIN Offc Pro" panose="020B0504020101020102" pitchFamily="34" charset="0"/>
            </a:endParaRPr>
          </a:p>
          <a:p>
            <a:pPr marL="342900" indent="-342900">
              <a:lnSpc>
                <a:spcPct val="150000"/>
              </a:lnSpc>
              <a:buFont typeface="+mj-lt"/>
              <a:buAutoNum type="arabicPeriod"/>
              <a:defRPr/>
            </a:pPr>
            <a:r>
              <a:rPr lang="en-US" sz="1100" dirty="0">
                <a:solidFill>
                  <a:srgbClr val="080808"/>
                </a:solidFill>
                <a:cs typeface="Unilever DIN Offc Pro" panose="020B0504020101020102" pitchFamily="34" charset="0"/>
              </a:rPr>
              <a:t>Observation window is split into 2 buckets – training and test  basis 60:40 rule</a:t>
            </a:r>
          </a:p>
          <a:p>
            <a:pPr marL="342900" lvl="0" indent="-342900">
              <a:lnSpc>
                <a:spcPct val="150000"/>
              </a:lnSpc>
              <a:buFont typeface="+mj-lt"/>
              <a:buAutoNum type="arabicPeriod"/>
              <a:defRPr/>
            </a:pPr>
            <a:r>
              <a:rPr lang="en-GB" sz="1100" dirty="0">
                <a:solidFill>
                  <a:prstClr val="black"/>
                </a:solidFill>
              </a:rPr>
              <a:t>Training dataset – Model is trained basis feature engineered variables (MOV) from subscriber’s historical data </a:t>
            </a:r>
            <a:r>
              <a:rPr lang="en-GB" sz="1100" b="1" dirty="0">
                <a:solidFill>
                  <a:prstClr val="black"/>
                </a:solidFill>
              </a:rPr>
              <a:t>(20 Apr – 15 June 2021)</a:t>
            </a:r>
          </a:p>
          <a:p>
            <a:pPr marL="342900" lvl="0" indent="-342900">
              <a:lnSpc>
                <a:spcPct val="150000"/>
              </a:lnSpc>
              <a:buFont typeface="+mj-lt"/>
              <a:buAutoNum type="arabicPeriod"/>
              <a:defRPr/>
            </a:pPr>
            <a:r>
              <a:rPr lang="en-GB" sz="1100" dirty="0">
                <a:solidFill>
                  <a:prstClr val="black"/>
                </a:solidFill>
              </a:rPr>
              <a:t>Test dataset -  Dataset on which trained model is tested to ensure robustness</a:t>
            </a:r>
          </a:p>
          <a:p>
            <a:pPr marL="342900" marR="0" lvl="0" indent="-342900" algn="l" defTabSz="914400" rtl="0" eaLnBrk="1" fontAlgn="auto" latinLnBrk="0" hangingPunct="1">
              <a:lnSpc>
                <a:spcPct val="150000"/>
              </a:lnSpc>
              <a:spcBef>
                <a:spcPts val="0"/>
              </a:spcBef>
              <a:spcAft>
                <a:spcPts val="0"/>
              </a:spcAft>
              <a:buClrTx/>
              <a:buSzTx/>
              <a:buFont typeface="+mj-lt"/>
              <a:buAutoNum type="arabicPeriod"/>
              <a:tabLst/>
              <a:defRPr/>
            </a:pPr>
            <a:r>
              <a:rPr kumimoji="0" lang="en-GB" sz="1100" b="0" i="0" u="none" strike="noStrike" kern="1200" cap="none" spc="0" normalizeH="0" baseline="0" noProof="0" dirty="0">
                <a:ln>
                  <a:noFill/>
                </a:ln>
                <a:solidFill>
                  <a:prstClr val="black"/>
                </a:solidFill>
                <a:effectLst/>
                <a:uLnTx/>
                <a:uFillTx/>
                <a:latin typeface="Verdana"/>
              </a:rPr>
              <a:t>Observation window – The customer behaviour in this window of </a:t>
            </a:r>
            <a:r>
              <a:rPr lang="en-GB" sz="1100" dirty="0">
                <a:solidFill>
                  <a:prstClr val="black"/>
                </a:solidFill>
                <a:latin typeface="Verdana"/>
              </a:rPr>
              <a:t>56</a:t>
            </a:r>
            <a:r>
              <a:rPr kumimoji="0" lang="en-GB" sz="1100" b="0" i="0" u="none" strike="noStrike" kern="1200" cap="none" spc="0" normalizeH="0" baseline="0" noProof="0" dirty="0">
                <a:ln>
                  <a:noFill/>
                </a:ln>
                <a:solidFill>
                  <a:prstClr val="black"/>
                </a:solidFill>
                <a:effectLst/>
                <a:uLnTx/>
                <a:uFillTx/>
                <a:latin typeface="Verdana"/>
              </a:rPr>
              <a:t> days </a:t>
            </a:r>
            <a:r>
              <a:rPr kumimoji="0" lang="en-GB" sz="1100" b="1" i="0" u="none" strike="noStrike" kern="1200" cap="none" spc="0" normalizeH="0" baseline="0" noProof="0" dirty="0">
                <a:ln>
                  <a:noFill/>
                </a:ln>
                <a:solidFill>
                  <a:prstClr val="black"/>
                </a:solidFill>
                <a:effectLst/>
                <a:uLnTx/>
                <a:uFillTx/>
                <a:latin typeface="Verdana"/>
              </a:rPr>
              <a:t>(20 Apr – 15 June 2021)</a:t>
            </a:r>
            <a:r>
              <a:rPr kumimoji="0" lang="en-GB" sz="1100" b="0" i="0" u="none" strike="noStrike" kern="1200" cap="none" spc="0" normalizeH="0" baseline="0" noProof="0" dirty="0">
                <a:ln>
                  <a:noFill/>
                </a:ln>
                <a:solidFill>
                  <a:prstClr val="black"/>
                </a:solidFill>
                <a:effectLst/>
                <a:uLnTx/>
                <a:uFillTx/>
                <a:latin typeface="Verdana"/>
              </a:rPr>
              <a:t> were studied to model for the </a:t>
            </a:r>
            <a:r>
              <a:rPr lang="en-GB" sz="1100" dirty="0">
                <a:solidFill>
                  <a:prstClr val="black"/>
                </a:solidFill>
                <a:latin typeface="Verdana"/>
              </a:rPr>
              <a:t>inactivity</a:t>
            </a:r>
            <a:r>
              <a:rPr kumimoji="0" lang="en-GB" sz="1100" b="0" i="0" u="none" strike="noStrike" kern="1200" cap="none" spc="0" normalizeH="0" baseline="0" noProof="0" dirty="0">
                <a:ln>
                  <a:noFill/>
                </a:ln>
                <a:solidFill>
                  <a:prstClr val="black"/>
                </a:solidFill>
                <a:effectLst/>
                <a:uLnTx/>
                <a:uFillTx/>
                <a:latin typeface="Verdana"/>
              </a:rPr>
              <a:t> event in the performance window.</a:t>
            </a:r>
          </a:p>
          <a:p>
            <a:pPr marL="342900" indent="-342900">
              <a:lnSpc>
                <a:spcPct val="150000"/>
              </a:lnSpc>
              <a:buFont typeface="+mj-lt"/>
              <a:buAutoNum type="arabicPeriod"/>
              <a:defRPr/>
            </a:pPr>
            <a:r>
              <a:rPr lang="en-GB" sz="1100" dirty="0">
                <a:solidFill>
                  <a:prstClr val="black"/>
                </a:solidFill>
              </a:rPr>
              <a:t>Performance window – This is the window by end of which the inactivity churn event is observed.</a:t>
            </a:r>
          </a:p>
          <a:p>
            <a:pPr>
              <a:lnSpc>
                <a:spcPct val="150000"/>
              </a:lnSpc>
              <a:defRPr/>
            </a:pPr>
            <a:endParaRPr kumimoji="0" lang="en-GB" sz="1100" b="0" i="0" u="none" strike="noStrike" kern="1200" cap="none" spc="0" normalizeH="0" baseline="0" noProof="0" dirty="0">
              <a:ln>
                <a:noFill/>
              </a:ln>
              <a:solidFill>
                <a:prstClr val="black"/>
              </a:solidFill>
              <a:effectLst/>
              <a:uLnTx/>
              <a:uFillTx/>
              <a:latin typeface="Verdana"/>
            </a:endParaRPr>
          </a:p>
        </p:txBody>
      </p:sp>
      <p:cxnSp>
        <p:nvCxnSpPr>
          <p:cNvPr id="24" name="Straight Connector 23"/>
          <p:cNvCxnSpPr/>
          <p:nvPr/>
        </p:nvCxnSpPr>
        <p:spPr bwMode="auto">
          <a:xfrm>
            <a:off x="7085143" y="3006085"/>
            <a:ext cx="7091" cy="197936"/>
          </a:xfrm>
          <a:prstGeom prst="line">
            <a:avLst/>
          </a:prstGeom>
          <a:ln w="28575">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7" name="TextBox 69"/>
          <p:cNvSpPr txBox="1">
            <a:spLocks noChangeArrowheads="1"/>
          </p:cNvSpPr>
          <p:nvPr/>
        </p:nvSpPr>
        <p:spPr bwMode="auto">
          <a:xfrm>
            <a:off x="6236308" y="3061416"/>
            <a:ext cx="770955" cy="230832"/>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GB" sz="1000" dirty="0">
                <a:solidFill>
                  <a:prstClr val="black"/>
                </a:solidFill>
                <a:latin typeface="Trebuchet MS" panose="020B0603020202020204" pitchFamily="34" charset="0"/>
              </a:rPr>
              <a:t>11</a:t>
            </a:r>
            <a:r>
              <a:rPr kumimoji="0" lang="en-GB" sz="10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 days</a:t>
            </a:r>
            <a:endParaRPr kumimoji="0" lang="en-US"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cxnSp>
        <p:nvCxnSpPr>
          <p:cNvPr id="28" name="Straight Arrow Connector 27"/>
          <p:cNvCxnSpPr>
            <a:cxnSpLocks/>
          </p:cNvCxnSpPr>
          <p:nvPr/>
        </p:nvCxnSpPr>
        <p:spPr>
          <a:xfrm flipV="1">
            <a:off x="1795854" y="2928583"/>
            <a:ext cx="4362117" cy="4808"/>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69"/>
          <p:cNvSpPr txBox="1">
            <a:spLocks noChangeArrowheads="1"/>
          </p:cNvSpPr>
          <p:nvPr/>
        </p:nvSpPr>
        <p:spPr bwMode="auto">
          <a:xfrm>
            <a:off x="6291008" y="3244080"/>
            <a:ext cx="1671814" cy="230832"/>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26 June 2021</a:t>
            </a:r>
            <a:endParaRPr kumimoji="0" lang="en-US"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cxnSp>
        <p:nvCxnSpPr>
          <p:cNvPr id="26" name="Straight Connector 50">
            <a:extLst>
              <a:ext uri="{FF2B5EF4-FFF2-40B4-BE49-F238E27FC236}">
                <a16:creationId xmlns:a16="http://schemas.microsoft.com/office/drawing/2014/main" id="{17B80DCA-C90A-43DC-9B53-5CAF549A4088}"/>
              </a:ext>
            </a:extLst>
          </p:cNvPr>
          <p:cNvCxnSpPr>
            <a:cxnSpLocks noChangeShapeType="1"/>
          </p:cNvCxnSpPr>
          <p:nvPr/>
        </p:nvCxnSpPr>
        <p:spPr bwMode="auto">
          <a:xfrm>
            <a:off x="7082912" y="2689332"/>
            <a:ext cx="862" cy="395129"/>
          </a:xfrm>
          <a:prstGeom prst="line">
            <a:avLst/>
          </a:prstGeom>
          <a:noFill/>
          <a:ln w="9525" algn="ctr">
            <a:solidFill>
              <a:schemeClr val="tx1"/>
            </a:solidFill>
            <a:prstDash val="dashDot"/>
            <a:round/>
            <a:headEnd/>
            <a:tailEnd/>
          </a:ln>
          <a:extLst>
            <a:ext uri="{909E8E84-426E-40DD-AFC4-6F175D3DCCD1}">
              <a14:hiddenFill xmlns:a14="http://schemas.microsoft.com/office/drawing/2010/main">
                <a:noFill/>
              </a14:hiddenFill>
            </a:ext>
          </a:extLst>
        </p:spPr>
      </p:cxnSp>
      <p:sp>
        <p:nvSpPr>
          <p:cNvPr id="29" name="TextBox 69">
            <a:extLst>
              <a:ext uri="{FF2B5EF4-FFF2-40B4-BE49-F238E27FC236}">
                <a16:creationId xmlns:a16="http://schemas.microsoft.com/office/drawing/2014/main" id="{D2720BB4-FEEC-4FC2-A239-6F83AD79714A}"/>
              </a:ext>
            </a:extLst>
          </p:cNvPr>
          <p:cNvSpPr txBox="1">
            <a:spLocks noChangeArrowheads="1"/>
          </p:cNvSpPr>
          <p:nvPr/>
        </p:nvSpPr>
        <p:spPr bwMode="auto">
          <a:xfrm>
            <a:off x="6157056" y="2341894"/>
            <a:ext cx="935178" cy="369332"/>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Action Window</a:t>
            </a:r>
            <a:endParaRPr kumimoji="0" lang="en-US"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sp>
        <p:nvSpPr>
          <p:cNvPr id="30" name="TextBox 69">
            <a:extLst>
              <a:ext uri="{FF2B5EF4-FFF2-40B4-BE49-F238E27FC236}">
                <a16:creationId xmlns:a16="http://schemas.microsoft.com/office/drawing/2014/main" id="{0D5C4A93-E046-43F2-BE1E-FBDDFD9A4971}"/>
              </a:ext>
            </a:extLst>
          </p:cNvPr>
          <p:cNvSpPr txBox="1">
            <a:spLocks noChangeArrowheads="1"/>
          </p:cNvSpPr>
          <p:nvPr/>
        </p:nvSpPr>
        <p:spPr bwMode="auto">
          <a:xfrm>
            <a:off x="3265572" y="3069880"/>
            <a:ext cx="770955" cy="230832"/>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56 days</a:t>
            </a:r>
            <a:endParaRPr kumimoji="0" lang="en-US" sz="10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sp>
        <p:nvSpPr>
          <p:cNvPr id="32" name="TextBox 69">
            <a:extLst>
              <a:ext uri="{FF2B5EF4-FFF2-40B4-BE49-F238E27FC236}">
                <a16:creationId xmlns:a16="http://schemas.microsoft.com/office/drawing/2014/main" id="{68A3BA85-DD36-4EDA-AE84-9ECC9C06AE11}"/>
              </a:ext>
            </a:extLst>
          </p:cNvPr>
          <p:cNvSpPr txBox="1">
            <a:spLocks noChangeArrowheads="1"/>
          </p:cNvSpPr>
          <p:nvPr/>
        </p:nvSpPr>
        <p:spPr bwMode="auto">
          <a:xfrm>
            <a:off x="4862254" y="2643200"/>
            <a:ext cx="1671814" cy="230832"/>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Prediction date</a:t>
            </a:r>
          </a:p>
        </p:txBody>
      </p:sp>
      <p:sp>
        <p:nvSpPr>
          <p:cNvPr id="39" name="Rounded Rectangle 17">
            <a:extLst>
              <a:ext uri="{FF2B5EF4-FFF2-40B4-BE49-F238E27FC236}">
                <a16:creationId xmlns:a16="http://schemas.microsoft.com/office/drawing/2014/main" id="{AD1C3FE1-F0E4-4938-A6E6-9704077AB81E}"/>
              </a:ext>
            </a:extLst>
          </p:cNvPr>
          <p:cNvSpPr/>
          <p:nvPr/>
        </p:nvSpPr>
        <p:spPr bwMode="gray">
          <a:xfrm>
            <a:off x="1915948" y="2195581"/>
            <a:ext cx="4231431" cy="420340"/>
          </a:xfrm>
          <a:prstGeom prst="roundRect">
            <a:avLst/>
          </a:prstGeom>
          <a:solidFill>
            <a:srgbClr val="FFFF00">
              <a:alpha val="40000"/>
            </a:srgbClr>
          </a:solidFill>
          <a:ln w="19050" algn="ctr">
            <a:solidFill>
              <a:schemeClr val="accent1">
                <a:lumMod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black"/>
                </a:solidFill>
                <a:effectLst/>
                <a:uLnTx/>
                <a:uFillTx/>
                <a:latin typeface="Verdana"/>
                <a:ea typeface="+mn-ea"/>
                <a:cs typeface="+mn-cs"/>
              </a:rPr>
              <a:t>Test</a:t>
            </a:r>
            <a:endParaRPr kumimoji="0" lang="en-IN" sz="1100" b="1" i="0" u="none" strike="noStrike" kern="1200" cap="none" spc="0" normalizeH="0" baseline="0" noProof="0" dirty="0">
              <a:ln>
                <a:noFill/>
              </a:ln>
              <a:solidFill>
                <a:prstClr val="black"/>
              </a:solidFill>
              <a:effectLst/>
              <a:uLnTx/>
              <a:uFillTx/>
              <a:latin typeface="Verdana"/>
              <a:ea typeface="+mn-ea"/>
              <a:cs typeface="+mn-cs"/>
            </a:endParaRPr>
          </a:p>
        </p:txBody>
      </p:sp>
      <p:sp>
        <p:nvSpPr>
          <p:cNvPr id="40" name="Rounded Rectangle 19">
            <a:extLst>
              <a:ext uri="{FF2B5EF4-FFF2-40B4-BE49-F238E27FC236}">
                <a16:creationId xmlns:a16="http://schemas.microsoft.com/office/drawing/2014/main" id="{4AD986E3-1216-438B-84DC-A56C6BA5A8AD}"/>
              </a:ext>
            </a:extLst>
          </p:cNvPr>
          <p:cNvSpPr/>
          <p:nvPr/>
        </p:nvSpPr>
        <p:spPr bwMode="gray">
          <a:xfrm>
            <a:off x="1915949" y="1480000"/>
            <a:ext cx="4231432" cy="644365"/>
          </a:xfrm>
          <a:prstGeom prst="roundRect">
            <a:avLst/>
          </a:prstGeom>
          <a:solidFill>
            <a:schemeClr val="accent3">
              <a:alpha val="40000"/>
            </a:schemeClr>
          </a:solidFill>
          <a:ln w="19050" algn="ctr">
            <a:solidFill>
              <a:schemeClr val="accent1">
                <a:lumMod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black"/>
                </a:solidFill>
                <a:effectLst/>
                <a:uLnTx/>
                <a:uFillTx/>
                <a:latin typeface="Verdana"/>
                <a:ea typeface="+mn-ea"/>
                <a:cs typeface="+mn-cs"/>
              </a:rPr>
              <a:t>Train</a:t>
            </a:r>
            <a:endParaRPr kumimoji="0" lang="en-IN" sz="1100" b="1" i="0" u="none" strike="noStrike" kern="1200" cap="none" spc="0" normalizeH="0" baseline="0" noProof="0" dirty="0">
              <a:ln>
                <a:noFill/>
              </a:ln>
              <a:solidFill>
                <a:prstClr val="black"/>
              </a:solidFill>
              <a:effectLst/>
              <a:uLnTx/>
              <a:uFillTx/>
              <a:latin typeface="Verdana"/>
              <a:ea typeface="+mn-ea"/>
              <a:cs typeface="+mn-cs"/>
            </a:endParaRPr>
          </a:p>
        </p:txBody>
      </p:sp>
      <p:sp>
        <p:nvSpPr>
          <p:cNvPr id="41" name="Rounded Rectangle 20">
            <a:extLst>
              <a:ext uri="{FF2B5EF4-FFF2-40B4-BE49-F238E27FC236}">
                <a16:creationId xmlns:a16="http://schemas.microsoft.com/office/drawing/2014/main" id="{A4B63877-DE4E-4CD6-926F-BD2E8A5818BE}"/>
              </a:ext>
            </a:extLst>
          </p:cNvPr>
          <p:cNvSpPr/>
          <p:nvPr/>
        </p:nvSpPr>
        <p:spPr bwMode="gray">
          <a:xfrm>
            <a:off x="7082912" y="1480000"/>
            <a:ext cx="2557183" cy="1135920"/>
          </a:xfrm>
          <a:prstGeom prst="roundRect">
            <a:avLst/>
          </a:prstGeom>
          <a:solidFill>
            <a:schemeClr val="accent1">
              <a:lumMod val="40000"/>
              <a:lumOff val="60000"/>
              <a:alpha val="40000"/>
            </a:schemeClr>
          </a:solidFill>
          <a:ln w="19050" algn="ctr">
            <a:solidFill>
              <a:schemeClr val="accent1">
                <a:lumMod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100" b="1" i="0" u="none" strike="noStrike" kern="1200" cap="none" spc="0" normalizeH="0" baseline="0" noProof="0" dirty="0">
              <a:ln>
                <a:noFill/>
              </a:ln>
              <a:solidFill>
                <a:prstClr val="black"/>
              </a:solidFill>
              <a:effectLst/>
              <a:uLnTx/>
              <a:uFillTx/>
              <a:latin typeface="Verdana"/>
              <a:ea typeface="+mn-ea"/>
              <a:cs typeface="+mn-cs"/>
            </a:endParaRPr>
          </a:p>
        </p:txBody>
      </p:sp>
      <p:sp>
        <p:nvSpPr>
          <p:cNvPr id="42" name="Title 1">
            <a:extLst>
              <a:ext uri="{FF2B5EF4-FFF2-40B4-BE49-F238E27FC236}">
                <a16:creationId xmlns:a16="http://schemas.microsoft.com/office/drawing/2014/main" id="{27A106F1-DFDA-4038-B8D2-1AD2483B6649}"/>
              </a:ext>
            </a:extLst>
          </p:cNvPr>
          <p:cNvSpPr txBox="1">
            <a:spLocks/>
          </p:cNvSpPr>
          <p:nvPr/>
        </p:nvSpPr>
        <p:spPr bwMode="auto">
          <a:xfrm rot="16200000">
            <a:off x="1104218" y="1864949"/>
            <a:ext cx="1258412" cy="313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hlink"/>
                </a:solidFill>
                <a:latin typeface="Arial" pitchFamily="34" charset="0"/>
                <a:ea typeface="MS PGothic" pitchFamily="34" charset="-128"/>
              </a:defRPr>
            </a:lvl1pPr>
            <a:lvl2pPr marL="742950" indent="-285750" eaLnBrk="0" hangingPunct="0">
              <a:defRPr sz="2200">
                <a:solidFill>
                  <a:schemeClr val="hlink"/>
                </a:solidFill>
                <a:latin typeface="Arial" pitchFamily="34" charset="0"/>
                <a:ea typeface="MS PGothic" pitchFamily="34" charset="-128"/>
              </a:defRPr>
            </a:lvl2pPr>
            <a:lvl3pPr marL="1143000" indent="-228600" eaLnBrk="0" hangingPunct="0">
              <a:defRPr sz="2200">
                <a:solidFill>
                  <a:schemeClr val="hlink"/>
                </a:solidFill>
                <a:latin typeface="Arial" pitchFamily="34" charset="0"/>
                <a:ea typeface="MS PGothic" pitchFamily="34" charset="-128"/>
              </a:defRPr>
            </a:lvl3pPr>
            <a:lvl4pPr marL="1600200" indent="-228600" eaLnBrk="0" hangingPunct="0">
              <a:defRPr sz="2200">
                <a:solidFill>
                  <a:schemeClr val="hlink"/>
                </a:solidFill>
                <a:latin typeface="Arial" pitchFamily="34" charset="0"/>
                <a:ea typeface="MS PGothic" pitchFamily="34" charset="-128"/>
              </a:defRPr>
            </a:lvl4pPr>
            <a:lvl5pPr marL="2057400" indent="-228600" eaLnBrk="0" hangingPunct="0">
              <a:defRPr sz="2200">
                <a:solidFill>
                  <a:schemeClr val="hlink"/>
                </a:solidFill>
                <a:latin typeface="Arial" pitchFamily="34" charset="0"/>
                <a:ea typeface="MS PGothic" pitchFamily="34" charset="-128"/>
              </a:defRPr>
            </a:lvl5pPr>
            <a:lvl6pPr marL="2514600" indent="-228600" eaLnBrk="0" fontAlgn="base" hangingPunct="0">
              <a:spcBef>
                <a:spcPct val="0"/>
              </a:spcBef>
              <a:spcAft>
                <a:spcPct val="0"/>
              </a:spcAft>
              <a:defRPr sz="2200">
                <a:solidFill>
                  <a:schemeClr val="hlink"/>
                </a:solidFill>
                <a:latin typeface="Arial" pitchFamily="34" charset="0"/>
                <a:ea typeface="MS PGothic" pitchFamily="34" charset="-128"/>
              </a:defRPr>
            </a:lvl6pPr>
            <a:lvl7pPr marL="2971800" indent="-228600" eaLnBrk="0" fontAlgn="base" hangingPunct="0">
              <a:spcBef>
                <a:spcPct val="0"/>
              </a:spcBef>
              <a:spcAft>
                <a:spcPct val="0"/>
              </a:spcAft>
              <a:defRPr sz="2200">
                <a:solidFill>
                  <a:schemeClr val="hlink"/>
                </a:solidFill>
                <a:latin typeface="Arial" pitchFamily="34" charset="0"/>
                <a:ea typeface="MS PGothic" pitchFamily="34" charset="-128"/>
              </a:defRPr>
            </a:lvl7pPr>
            <a:lvl8pPr marL="3429000" indent="-228600" eaLnBrk="0" fontAlgn="base" hangingPunct="0">
              <a:spcBef>
                <a:spcPct val="0"/>
              </a:spcBef>
              <a:spcAft>
                <a:spcPct val="0"/>
              </a:spcAft>
              <a:defRPr sz="2200">
                <a:solidFill>
                  <a:schemeClr val="hlink"/>
                </a:solidFill>
                <a:latin typeface="Arial" pitchFamily="34" charset="0"/>
                <a:ea typeface="MS PGothic" pitchFamily="34" charset="-128"/>
              </a:defRPr>
            </a:lvl8pPr>
            <a:lvl9pPr marL="3886200" indent="-228600" eaLnBrk="0" fontAlgn="base" hangingPunct="0">
              <a:spcBef>
                <a:spcPct val="0"/>
              </a:spcBef>
              <a:spcAft>
                <a:spcPct val="0"/>
              </a:spcAft>
              <a:defRPr sz="2200">
                <a:solidFill>
                  <a:schemeClr val="hlink"/>
                </a:solidFill>
                <a:latin typeface="Arial" pitchFamily="34" charset="0"/>
                <a:ea typeface="MS PGothic"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200" b="1" dirty="0">
                <a:solidFill>
                  <a:prstClr val="black"/>
                </a:solidFill>
                <a:latin typeface="Trebuchet MS" panose="020B0603020202020204" pitchFamily="34" charset="0"/>
              </a:rPr>
              <a:t> 40%      60%</a:t>
            </a:r>
            <a:endParaRPr kumimoji="0" lang="en-US" altLang="en-US" sz="1200" b="1" i="0" u="none" strike="noStrike" kern="1200" cap="none" spc="0" normalizeH="0" baseline="0" noProof="0" dirty="0">
              <a:ln>
                <a:noFill/>
              </a:ln>
              <a:solidFill>
                <a:prstClr val="black"/>
              </a:solidFill>
              <a:effectLst/>
              <a:uLnTx/>
              <a:uFillTx/>
              <a:latin typeface="Trebuchet MS" panose="020B0603020202020204" pitchFamily="34" charset="0"/>
              <a:ea typeface="MS PGothic" pitchFamily="34" charset="-128"/>
              <a:cs typeface="+mn-cs"/>
            </a:endParaRPr>
          </a:p>
        </p:txBody>
      </p:sp>
      <p:sp>
        <p:nvSpPr>
          <p:cNvPr id="43" name="TextBox 42">
            <a:extLst>
              <a:ext uri="{FF2B5EF4-FFF2-40B4-BE49-F238E27FC236}">
                <a16:creationId xmlns:a16="http://schemas.microsoft.com/office/drawing/2014/main" id="{16DD042D-0E49-416E-9B54-4FA95D076AD2}"/>
              </a:ext>
            </a:extLst>
          </p:cNvPr>
          <p:cNvSpPr txBox="1"/>
          <p:nvPr/>
        </p:nvSpPr>
        <p:spPr>
          <a:xfrm>
            <a:off x="1915947" y="1235028"/>
            <a:ext cx="4231431" cy="184666"/>
          </a:xfrm>
          <a:prstGeom prst="rect">
            <a:avLst/>
          </a:prstGeom>
          <a:noFill/>
        </p:spPr>
        <p:txBody>
          <a:bodyPr wrap="square" lIns="0" tIns="0" rIns="0" bIns="0" rtlCol="0">
            <a:spAutoFit/>
          </a:bodyPr>
          <a:lstStyle/>
          <a:p>
            <a:pPr algn="ctr">
              <a:spcBef>
                <a:spcPts val="600"/>
              </a:spcBef>
              <a:buSzPct val="100000"/>
            </a:pPr>
            <a:r>
              <a:rPr lang="en-US" sz="1200" b="1" i="1" dirty="0">
                <a:solidFill>
                  <a:srgbClr val="313131"/>
                </a:solidFill>
              </a:rPr>
              <a:t>Observation window</a:t>
            </a:r>
            <a:endParaRPr lang="en-IN" sz="1200" b="1" i="1" dirty="0">
              <a:solidFill>
                <a:srgbClr val="313131"/>
              </a:solidFill>
            </a:endParaRPr>
          </a:p>
        </p:txBody>
      </p:sp>
      <p:sp>
        <p:nvSpPr>
          <p:cNvPr id="44" name="TextBox 43">
            <a:extLst>
              <a:ext uri="{FF2B5EF4-FFF2-40B4-BE49-F238E27FC236}">
                <a16:creationId xmlns:a16="http://schemas.microsoft.com/office/drawing/2014/main" id="{0842F0EB-7160-460A-8160-85F4D6B586AC}"/>
              </a:ext>
            </a:extLst>
          </p:cNvPr>
          <p:cNvSpPr txBox="1"/>
          <p:nvPr/>
        </p:nvSpPr>
        <p:spPr>
          <a:xfrm>
            <a:off x="7330075" y="1918669"/>
            <a:ext cx="2062856" cy="184666"/>
          </a:xfrm>
          <a:prstGeom prst="rect">
            <a:avLst/>
          </a:prstGeom>
          <a:noFill/>
        </p:spPr>
        <p:txBody>
          <a:bodyPr wrap="square" lIns="0" tIns="0" rIns="0" bIns="0" rtlCol="0">
            <a:spAutoFit/>
          </a:bodyPr>
          <a:lstStyle/>
          <a:p>
            <a:pPr algn="ctr">
              <a:spcBef>
                <a:spcPts val="600"/>
              </a:spcBef>
              <a:buSzPct val="100000"/>
            </a:pPr>
            <a:r>
              <a:rPr lang="en-US" sz="1200" b="1" i="1" dirty="0">
                <a:solidFill>
                  <a:srgbClr val="313131"/>
                </a:solidFill>
              </a:rPr>
              <a:t>Performance window</a:t>
            </a:r>
            <a:endParaRPr lang="en-IN" sz="1200" b="1" i="1" dirty="0">
              <a:solidFill>
                <a:srgbClr val="313131"/>
              </a:solidFill>
            </a:endParaRPr>
          </a:p>
        </p:txBody>
      </p:sp>
      <p:sp>
        <p:nvSpPr>
          <p:cNvPr id="33" name="TextBox 32">
            <a:extLst>
              <a:ext uri="{FF2B5EF4-FFF2-40B4-BE49-F238E27FC236}">
                <a16:creationId xmlns:a16="http://schemas.microsoft.com/office/drawing/2014/main" id="{BE20F323-7D32-45B0-9031-8754A02F6E3C}"/>
              </a:ext>
            </a:extLst>
          </p:cNvPr>
          <p:cNvSpPr txBox="1"/>
          <p:nvPr/>
        </p:nvSpPr>
        <p:spPr>
          <a:xfrm>
            <a:off x="6096000" y="6588490"/>
            <a:ext cx="5998322"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100" b="0" i="1" u="none" strike="noStrike" kern="1200" cap="none" spc="0" normalizeH="0" baseline="0" noProof="0" dirty="0">
                <a:ln>
                  <a:noFill/>
                </a:ln>
                <a:solidFill>
                  <a:srgbClr val="75787B"/>
                </a:solidFill>
                <a:effectLst/>
                <a:uLnTx/>
                <a:uFillTx/>
                <a:latin typeface="Verdana"/>
                <a:ea typeface="+mn-ea"/>
                <a:cs typeface="Univers for KPMG"/>
              </a:rPr>
              <a:t>MOV : Modelling one view</a:t>
            </a:r>
          </a:p>
        </p:txBody>
      </p:sp>
    </p:spTree>
    <p:extLst>
      <p:ext uri="{BB962C8B-B14F-4D97-AF65-F5344CB8AC3E}">
        <p14:creationId xmlns:p14="http://schemas.microsoft.com/office/powerpoint/2010/main" val="61790154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B3395BA4-DE3A-45F2-B6D8-47DBC2CB1C7B}"/>
              </a:ext>
            </a:extLst>
          </p:cNvPr>
          <p:cNvGraphicFramePr/>
          <p:nvPr>
            <p:extLst>
              <p:ext uri="{D42A27DB-BD31-4B8C-83A1-F6EECF244321}">
                <p14:modId xmlns:p14="http://schemas.microsoft.com/office/powerpoint/2010/main" val="3342826618"/>
              </p:ext>
            </p:extLst>
          </p:nvPr>
        </p:nvGraphicFramePr>
        <p:xfrm>
          <a:off x="864162" y="1152164"/>
          <a:ext cx="10871199" cy="4190402"/>
        </p:xfrm>
        <a:graphic>
          <a:graphicData uri="http://schemas.openxmlformats.org/drawingml/2006/chart">
            <c:chart xmlns:c="http://schemas.openxmlformats.org/drawingml/2006/chart" xmlns:r="http://schemas.openxmlformats.org/officeDocument/2006/relationships" r:id="rId2"/>
          </a:graphicData>
        </a:graphic>
      </p:graphicFrame>
      <p:sp>
        <p:nvSpPr>
          <p:cNvPr id="8" name="Title 7"/>
          <p:cNvSpPr>
            <a:spLocks noGrp="1"/>
          </p:cNvSpPr>
          <p:nvPr>
            <p:ph type="title" idx="4294967295"/>
          </p:nvPr>
        </p:nvSpPr>
        <p:spPr>
          <a:xfrm>
            <a:off x="469900" y="305310"/>
            <a:ext cx="11252200" cy="692151"/>
          </a:xfrm>
        </p:spPr>
        <p:txBody>
          <a:bodyPr/>
          <a:lstStyle/>
          <a:p>
            <a:r>
              <a:rPr lang="en-IN" dirty="0">
                <a:latin typeface="Verdana" panose="020B0604030504040204" pitchFamily="34" charset="0"/>
                <a:ea typeface="Verdana" panose="020B0604030504040204" pitchFamily="34" charset="0"/>
                <a:cs typeface="+mj-cs"/>
              </a:rPr>
              <a:t>Data Preparation</a:t>
            </a:r>
          </a:p>
        </p:txBody>
      </p:sp>
      <p:sp>
        <p:nvSpPr>
          <p:cNvPr id="30" name="TextBox 29"/>
          <p:cNvSpPr txBox="1"/>
          <p:nvPr/>
        </p:nvSpPr>
        <p:spPr>
          <a:xfrm>
            <a:off x="1039881" y="735683"/>
            <a:ext cx="10871200" cy="307777"/>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en-IN" sz="1400" b="0" i="0" u="none" strike="noStrike" kern="1200" cap="none" spc="0" normalizeH="0" baseline="0" noProof="0" dirty="0">
                <a:ln>
                  <a:noFill/>
                </a:ln>
                <a:effectLst/>
                <a:uLnTx/>
                <a:uFillTx/>
                <a:latin typeface="Verdana"/>
                <a:cs typeface="Univers for KPMG"/>
              </a:rPr>
              <a:t>Consistent</a:t>
            </a:r>
            <a:r>
              <a:rPr kumimoji="0" lang="en-IN" sz="1400" b="0" i="0" u="none" strike="noStrike" kern="1200" cap="none" spc="0" normalizeH="0" noProof="0" dirty="0">
                <a:ln>
                  <a:noFill/>
                </a:ln>
                <a:effectLst/>
                <a:uLnTx/>
                <a:uFillTx/>
                <a:latin typeface="Verdana"/>
                <a:cs typeface="Univers for KPMG"/>
              </a:rPr>
              <a:t> </a:t>
            </a:r>
            <a:r>
              <a:rPr lang="en-IN" sz="1400" dirty="0">
                <a:latin typeface="Verdana"/>
                <a:cs typeface="Univers for KPMG"/>
              </a:rPr>
              <a:t>Inactivity churn</a:t>
            </a:r>
            <a:r>
              <a:rPr kumimoji="0" lang="en-IN" sz="1400" b="0" i="0" u="none" strike="noStrike" kern="1200" cap="none" spc="0" normalizeH="0" noProof="0" dirty="0">
                <a:ln>
                  <a:noFill/>
                </a:ln>
                <a:effectLst/>
                <a:uLnTx/>
                <a:uFillTx/>
                <a:latin typeface="Verdana"/>
                <a:cs typeface="Univers for KPMG"/>
              </a:rPr>
              <a:t> of 9.8% observed in all windows – Train, Test and Out of time (OOT) data sets</a:t>
            </a:r>
            <a:endParaRPr kumimoji="0" lang="en-IN" sz="1400" b="0" i="0" u="none" strike="noStrike" kern="1200" cap="none" spc="0" normalizeH="0" baseline="0" noProof="0" dirty="0">
              <a:ln>
                <a:noFill/>
              </a:ln>
              <a:effectLst/>
              <a:uLnTx/>
              <a:uFillTx/>
              <a:latin typeface="Verdana"/>
              <a:cs typeface="Univers for KPMG"/>
            </a:endParaRPr>
          </a:p>
        </p:txBody>
      </p:sp>
      <p:sp>
        <p:nvSpPr>
          <p:cNvPr id="40" name="TextBox 1"/>
          <p:cNvSpPr txBox="1"/>
          <p:nvPr/>
        </p:nvSpPr>
        <p:spPr>
          <a:xfrm>
            <a:off x="3428186" y="2708333"/>
            <a:ext cx="1914188"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1" u="none" strike="noStrike" kern="1200" cap="none" spc="0" normalizeH="0" baseline="0" dirty="0">
                <a:ln>
                  <a:noFill/>
                </a:ln>
                <a:solidFill>
                  <a:srgbClr val="C6007E"/>
                </a:solidFill>
                <a:effectLst/>
                <a:uLnTx/>
                <a:uFillTx/>
                <a:latin typeface="Verdana"/>
                <a:ea typeface="+mn-ea"/>
                <a:cs typeface="Univers for KPMG"/>
              </a:rPr>
              <a:t>9.85</a:t>
            </a:r>
            <a:r>
              <a:rPr kumimoji="0" lang="en-IN" sz="1050" b="0" i="1" u="none" strike="noStrike" kern="1200" cap="none" spc="0" normalizeH="0" baseline="0" noProof="0" dirty="0">
                <a:ln>
                  <a:noFill/>
                </a:ln>
                <a:solidFill>
                  <a:srgbClr val="C6007E"/>
                </a:solidFill>
                <a:effectLst/>
                <a:uLnTx/>
                <a:uFillTx/>
                <a:latin typeface="Verdana"/>
                <a:ea typeface="+mn-ea"/>
                <a:cs typeface="Univers for KPMG"/>
              </a:rPr>
              <a:t>%</a:t>
            </a:r>
          </a:p>
        </p:txBody>
      </p:sp>
      <p:sp>
        <p:nvSpPr>
          <p:cNvPr id="41" name="TextBox 1"/>
          <p:cNvSpPr txBox="1"/>
          <p:nvPr/>
        </p:nvSpPr>
        <p:spPr>
          <a:xfrm>
            <a:off x="5908014" y="3123592"/>
            <a:ext cx="1914188"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1" u="none" strike="noStrike" kern="1200" cap="none" spc="0" normalizeH="0" baseline="0" noProof="0" dirty="0">
                <a:ln>
                  <a:noFill/>
                </a:ln>
                <a:solidFill>
                  <a:srgbClr val="C6007E"/>
                </a:solidFill>
                <a:effectLst/>
                <a:uLnTx/>
                <a:uFillTx/>
                <a:latin typeface="Verdana"/>
                <a:ea typeface="+mn-ea"/>
                <a:cs typeface="Univers for KPMG"/>
              </a:rPr>
              <a:t>9.89%</a:t>
            </a:r>
          </a:p>
        </p:txBody>
      </p:sp>
      <p:sp>
        <p:nvSpPr>
          <p:cNvPr id="42" name="TextBox 1"/>
          <p:cNvSpPr txBox="1"/>
          <p:nvPr/>
        </p:nvSpPr>
        <p:spPr>
          <a:xfrm>
            <a:off x="8462708" y="1757191"/>
            <a:ext cx="1914188"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1" u="none" strike="noStrike" kern="1200" cap="none" spc="0" normalizeH="0" baseline="0" noProof="0" dirty="0">
                <a:ln>
                  <a:noFill/>
                </a:ln>
                <a:solidFill>
                  <a:srgbClr val="C6007E"/>
                </a:solidFill>
                <a:effectLst/>
                <a:uLnTx/>
                <a:uFillTx/>
                <a:latin typeface="Verdana"/>
                <a:ea typeface="+mn-ea"/>
                <a:cs typeface="Univers for KPMG"/>
              </a:rPr>
              <a:t>9.81%</a:t>
            </a:r>
          </a:p>
        </p:txBody>
      </p:sp>
      <p:sp>
        <p:nvSpPr>
          <p:cNvPr id="44" name="TextBox 1"/>
          <p:cNvSpPr txBox="1"/>
          <p:nvPr/>
        </p:nvSpPr>
        <p:spPr>
          <a:xfrm>
            <a:off x="3428186" y="3538868"/>
            <a:ext cx="1914188"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i="1" dirty="0">
                <a:solidFill>
                  <a:srgbClr val="003087"/>
                </a:solidFill>
                <a:latin typeface="Verdana"/>
                <a:cs typeface="Univers for KPMG"/>
              </a:rPr>
              <a:t>90.15</a:t>
            </a:r>
            <a:r>
              <a:rPr kumimoji="0" lang="en-IN" sz="1050" b="0" i="1" u="none" strike="noStrike" kern="1200" cap="none" spc="0" normalizeH="0" baseline="0" noProof="0" dirty="0">
                <a:ln>
                  <a:noFill/>
                </a:ln>
                <a:solidFill>
                  <a:srgbClr val="003087"/>
                </a:solidFill>
                <a:effectLst/>
                <a:uLnTx/>
                <a:uFillTx/>
                <a:latin typeface="Verdana"/>
                <a:ea typeface="+mn-ea"/>
                <a:cs typeface="Univers for KPMG"/>
              </a:rPr>
              <a:t>%</a:t>
            </a:r>
          </a:p>
        </p:txBody>
      </p:sp>
      <p:sp>
        <p:nvSpPr>
          <p:cNvPr id="45" name="TextBox 1"/>
          <p:cNvSpPr txBox="1"/>
          <p:nvPr/>
        </p:nvSpPr>
        <p:spPr>
          <a:xfrm>
            <a:off x="5908014" y="3720155"/>
            <a:ext cx="1914188"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i="1" dirty="0">
                <a:solidFill>
                  <a:srgbClr val="003087"/>
                </a:solidFill>
                <a:latin typeface="Verdana"/>
                <a:cs typeface="Univers for KPMG"/>
              </a:rPr>
              <a:t>90.11</a:t>
            </a:r>
            <a:r>
              <a:rPr kumimoji="0" lang="en-IN" sz="1050" b="0" i="1" u="none" strike="noStrike" kern="1200" cap="none" spc="0" normalizeH="0" baseline="0" noProof="0" dirty="0">
                <a:ln>
                  <a:noFill/>
                </a:ln>
                <a:solidFill>
                  <a:srgbClr val="003087"/>
                </a:solidFill>
                <a:effectLst/>
                <a:uLnTx/>
                <a:uFillTx/>
                <a:latin typeface="Verdana"/>
                <a:ea typeface="+mn-ea"/>
                <a:cs typeface="Univers for KPMG"/>
              </a:rPr>
              <a:t>%</a:t>
            </a:r>
          </a:p>
        </p:txBody>
      </p:sp>
      <p:sp>
        <p:nvSpPr>
          <p:cNvPr id="46" name="TextBox 1"/>
          <p:cNvSpPr txBox="1"/>
          <p:nvPr/>
        </p:nvSpPr>
        <p:spPr>
          <a:xfrm>
            <a:off x="8462708" y="3137658"/>
            <a:ext cx="1914188" cy="253916"/>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50" i="1" dirty="0">
                <a:solidFill>
                  <a:srgbClr val="003087"/>
                </a:solidFill>
                <a:latin typeface="Verdana"/>
                <a:cs typeface="Univers for KPMG"/>
              </a:rPr>
              <a:t>90.19</a:t>
            </a:r>
            <a:r>
              <a:rPr kumimoji="0" lang="en-IN" sz="1050" b="0" i="1" u="none" strike="noStrike" kern="1200" cap="none" spc="0" normalizeH="0" baseline="0" noProof="0" dirty="0">
                <a:ln>
                  <a:noFill/>
                </a:ln>
                <a:solidFill>
                  <a:srgbClr val="003087"/>
                </a:solidFill>
                <a:effectLst/>
                <a:uLnTx/>
                <a:uFillTx/>
                <a:latin typeface="Verdana"/>
                <a:ea typeface="+mn-ea"/>
                <a:cs typeface="Univers for KPMG"/>
              </a:rPr>
              <a:t>%</a:t>
            </a:r>
          </a:p>
        </p:txBody>
      </p:sp>
      <p:graphicFrame>
        <p:nvGraphicFramePr>
          <p:cNvPr id="2" name="Table 2">
            <a:extLst>
              <a:ext uri="{FF2B5EF4-FFF2-40B4-BE49-F238E27FC236}">
                <a16:creationId xmlns:a16="http://schemas.microsoft.com/office/drawing/2014/main" id="{67EC4009-D6C9-4505-B235-5A3092B96D86}"/>
              </a:ext>
            </a:extLst>
          </p:cNvPr>
          <p:cNvGraphicFramePr>
            <a:graphicFrameLocks noGrp="1"/>
          </p:cNvGraphicFramePr>
          <p:nvPr>
            <p:extLst>
              <p:ext uri="{D42A27DB-BD31-4B8C-83A1-F6EECF244321}">
                <p14:modId xmlns:p14="http://schemas.microsoft.com/office/powerpoint/2010/main" val="1651248653"/>
              </p:ext>
            </p:extLst>
          </p:nvPr>
        </p:nvGraphicFramePr>
        <p:xfrm>
          <a:off x="1035980" y="4970814"/>
          <a:ext cx="9042965" cy="371752"/>
        </p:xfrm>
        <a:graphic>
          <a:graphicData uri="http://schemas.openxmlformats.org/drawingml/2006/table">
            <a:tbl>
              <a:tblPr firstRow="1" bandRow="1">
                <a:tableStyleId>{5C22544A-7EE6-4342-B048-85BDC9FD1C3A}</a:tableStyleId>
              </a:tblPr>
              <a:tblGrid>
                <a:gridCol w="1462268">
                  <a:extLst>
                    <a:ext uri="{9D8B030D-6E8A-4147-A177-3AD203B41FA5}">
                      <a16:colId xmlns:a16="http://schemas.microsoft.com/office/drawing/2014/main" val="1054363419"/>
                    </a:ext>
                  </a:extLst>
                </a:gridCol>
                <a:gridCol w="2515538">
                  <a:extLst>
                    <a:ext uri="{9D8B030D-6E8A-4147-A177-3AD203B41FA5}">
                      <a16:colId xmlns:a16="http://schemas.microsoft.com/office/drawing/2014/main" val="2294630325"/>
                    </a:ext>
                  </a:extLst>
                </a:gridCol>
                <a:gridCol w="2517168">
                  <a:extLst>
                    <a:ext uri="{9D8B030D-6E8A-4147-A177-3AD203B41FA5}">
                      <a16:colId xmlns:a16="http://schemas.microsoft.com/office/drawing/2014/main" val="1824438767"/>
                    </a:ext>
                  </a:extLst>
                </a:gridCol>
                <a:gridCol w="2547991">
                  <a:extLst>
                    <a:ext uri="{9D8B030D-6E8A-4147-A177-3AD203B41FA5}">
                      <a16:colId xmlns:a16="http://schemas.microsoft.com/office/drawing/2014/main" val="1818860008"/>
                    </a:ext>
                  </a:extLst>
                </a:gridCol>
              </a:tblGrid>
              <a:tr h="371752">
                <a:tc>
                  <a:txBody>
                    <a:bodyPr/>
                    <a:lstStyle/>
                    <a:p>
                      <a:pPr algn="ctr"/>
                      <a:r>
                        <a:rPr lang="en-US" sz="1050" dirty="0">
                          <a:solidFill>
                            <a:schemeClr val="bg1"/>
                          </a:solidFill>
                        </a:rPr>
                        <a:t>Total Base</a:t>
                      </a:r>
                    </a:p>
                  </a:txBody>
                  <a:tcPr anchor="ct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i="1" dirty="0">
                          <a:solidFill>
                            <a:schemeClr val="bg1"/>
                          </a:solidFill>
                        </a:rPr>
                        <a:t>3,420,404</a:t>
                      </a:r>
                    </a:p>
                  </a:txBody>
                  <a:tcPr anchor="ct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i="1" dirty="0">
                          <a:solidFill>
                            <a:schemeClr val="bg1"/>
                          </a:solidFill>
                        </a:rPr>
                        <a:t>2,280,270</a:t>
                      </a:r>
                    </a:p>
                  </a:txBody>
                  <a:tcPr anchor="ct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IN" sz="1050" i="1" dirty="0">
                          <a:solidFill>
                            <a:schemeClr val="bg1"/>
                          </a:solidFill>
                          <a:cs typeface="Univers for KPMG"/>
                        </a:rPr>
                        <a:t>5,888,250</a:t>
                      </a:r>
                    </a:p>
                  </a:txBody>
                  <a:tcPr anchor="ctr"/>
                </a:tc>
                <a:extLst>
                  <a:ext uri="{0D108BD9-81ED-4DB2-BD59-A6C34878D82A}">
                    <a16:rowId xmlns:a16="http://schemas.microsoft.com/office/drawing/2014/main" val="691607771"/>
                  </a:ext>
                </a:extLst>
              </a:tr>
            </a:tbl>
          </a:graphicData>
        </a:graphic>
      </p:graphicFrame>
      <p:sp>
        <p:nvSpPr>
          <p:cNvPr id="13" name="TextBox 12">
            <a:extLst>
              <a:ext uri="{FF2B5EF4-FFF2-40B4-BE49-F238E27FC236}">
                <a16:creationId xmlns:a16="http://schemas.microsoft.com/office/drawing/2014/main" id="{F3C1AEC3-4A17-4EF2-B1E7-8CEC21804EE2}"/>
              </a:ext>
            </a:extLst>
          </p:cNvPr>
          <p:cNvSpPr txBox="1"/>
          <p:nvPr/>
        </p:nvSpPr>
        <p:spPr>
          <a:xfrm>
            <a:off x="3475414" y="6427113"/>
            <a:ext cx="8693576" cy="430887"/>
          </a:xfrm>
          <a:prstGeom prst="rect">
            <a:avLst/>
          </a:prstGeom>
          <a:noFill/>
        </p:spPr>
        <p:txBody>
          <a:bodyPr wrap="square" rtlCol="0">
            <a:spAutoFit/>
          </a:bodyPr>
          <a:lstStyle/>
          <a:p>
            <a:pPr algn="r"/>
            <a:r>
              <a:rPr lang="en-IN" sz="1100" i="1" dirty="0">
                <a:solidFill>
                  <a:srgbClr val="75787B"/>
                </a:solidFill>
                <a:latin typeface="Verdana"/>
              </a:rPr>
              <a:t>Inactivity Churn: </a:t>
            </a:r>
            <a:r>
              <a:rPr lang="en-GB" sz="1100" i="1" dirty="0">
                <a:solidFill>
                  <a:srgbClr val="75787B"/>
                </a:solidFill>
                <a:latin typeface="Verdana"/>
              </a:rPr>
              <a:t>Subscribers with inactivity of 30 days or more by the end of OOT window are termed as inactive churn</a:t>
            </a:r>
          </a:p>
          <a:p>
            <a:pPr algn="r"/>
            <a:r>
              <a:rPr lang="en-GB" sz="1100" i="1" dirty="0">
                <a:solidFill>
                  <a:srgbClr val="75787B"/>
                </a:solidFill>
                <a:latin typeface="Verdana"/>
              </a:rPr>
              <a:t>Out of Time dataset – Unknown data on which model is again tested for accuracy (1 July 2021)</a:t>
            </a:r>
          </a:p>
        </p:txBody>
      </p:sp>
      <p:sp>
        <p:nvSpPr>
          <p:cNvPr id="3" name="Rectangle 2">
            <a:extLst>
              <a:ext uri="{FF2B5EF4-FFF2-40B4-BE49-F238E27FC236}">
                <a16:creationId xmlns:a16="http://schemas.microsoft.com/office/drawing/2014/main" id="{4E71E2B1-1B55-4881-A57A-EEB554E993F3}"/>
              </a:ext>
            </a:extLst>
          </p:cNvPr>
          <p:cNvSpPr/>
          <p:nvPr/>
        </p:nvSpPr>
        <p:spPr>
          <a:xfrm>
            <a:off x="5081505" y="5770683"/>
            <a:ext cx="1653017" cy="297004"/>
          </a:xfrm>
          <a:prstGeom prst="rect">
            <a:avLst/>
          </a:prstGeom>
        </p:spPr>
        <p:txBody>
          <a:bodyPr wrap="none">
            <a:spAutoFit/>
          </a:bodyPr>
          <a:lstStyle/>
          <a:p>
            <a:pPr algn="ctr">
              <a:defRPr sz="1330" b="0" i="0" u="none" strike="noStrike" kern="1200" baseline="0">
                <a:solidFill>
                  <a:prstClr val="black">
                    <a:lumMod val="65000"/>
                    <a:lumOff val="35000"/>
                  </a:prstClr>
                </a:solidFill>
                <a:latin typeface="+mn-lt"/>
                <a:ea typeface="+mn-ea"/>
                <a:cs typeface="+mn-cs"/>
              </a:defRPr>
            </a:pPr>
            <a:r>
              <a:rPr lang="en-US" dirty="0"/>
              <a:t>Subscriber Count</a:t>
            </a:r>
          </a:p>
        </p:txBody>
      </p:sp>
      <p:graphicFrame>
        <p:nvGraphicFramePr>
          <p:cNvPr id="14" name="Table 2">
            <a:extLst>
              <a:ext uri="{FF2B5EF4-FFF2-40B4-BE49-F238E27FC236}">
                <a16:creationId xmlns:a16="http://schemas.microsoft.com/office/drawing/2014/main" id="{F99B8174-B938-4B0E-883A-15B9E50E19F6}"/>
              </a:ext>
            </a:extLst>
          </p:cNvPr>
          <p:cNvGraphicFramePr>
            <a:graphicFrameLocks noGrp="1"/>
          </p:cNvGraphicFramePr>
          <p:nvPr>
            <p:extLst>
              <p:ext uri="{D42A27DB-BD31-4B8C-83A1-F6EECF244321}">
                <p14:modId xmlns:p14="http://schemas.microsoft.com/office/powerpoint/2010/main" val="1263153083"/>
              </p:ext>
            </p:extLst>
          </p:nvPr>
        </p:nvGraphicFramePr>
        <p:xfrm>
          <a:off x="1035980" y="5328008"/>
          <a:ext cx="9042965" cy="371752"/>
        </p:xfrm>
        <a:graphic>
          <a:graphicData uri="http://schemas.openxmlformats.org/drawingml/2006/table">
            <a:tbl>
              <a:tblPr firstRow="1" bandRow="1">
                <a:tableStyleId>{5C22544A-7EE6-4342-B048-85BDC9FD1C3A}</a:tableStyleId>
              </a:tblPr>
              <a:tblGrid>
                <a:gridCol w="1462268">
                  <a:extLst>
                    <a:ext uri="{9D8B030D-6E8A-4147-A177-3AD203B41FA5}">
                      <a16:colId xmlns:a16="http://schemas.microsoft.com/office/drawing/2014/main" val="1054363419"/>
                    </a:ext>
                  </a:extLst>
                </a:gridCol>
                <a:gridCol w="5032706">
                  <a:extLst>
                    <a:ext uri="{9D8B030D-6E8A-4147-A177-3AD203B41FA5}">
                      <a16:colId xmlns:a16="http://schemas.microsoft.com/office/drawing/2014/main" val="2294630325"/>
                    </a:ext>
                  </a:extLst>
                </a:gridCol>
                <a:gridCol w="2547991">
                  <a:extLst>
                    <a:ext uri="{9D8B030D-6E8A-4147-A177-3AD203B41FA5}">
                      <a16:colId xmlns:a16="http://schemas.microsoft.com/office/drawing/2014/main" val="1818860008"/>
                    </a:ext>
                  </a:extLst>
                </a:gridCol>
              </a:tblGrid>
              <a:tr h="371752">
                <a:tc>
                  <a:txBody>
                    <a:bodyPr/>
                    <a:lstStyle/>
                    <a:p>
                      <a:pPr algn="ctr"/>
                      <a:r>
                        <a:rPr lang="en-US" sz="1050" dirty="0">
                          <a:solidFill>
                            <a:schemeClr val="bg1"/>
                          </a:solidFill>
                        </a:rPr>
                        <a:t>Time frame</a:t>
                      </a:r>
                    </a:p>
                  </a:txBody>
                  <a:tcPr anchor="ctr">
                    <a:solidFill>
                      <a:schemeClr val="accent2"/>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50" i="1" dirty="0">
                          <a:solidFill>
                            <a:schemeClr val="bg1"/>
                          </a:solidFill>
                        </a:rPr>
                        <a:t>20 Apr to 15 June 2021</a:t>
                      </a:r>
                    </a:p>
                  </a:txBody>
                  <a:tcPr anchor="ctr">
                    <a:solidFill>
                      <a:schemeClr val="accent2"/>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IN" sz="1050" i="1" dirty="0">
                          <a:solidFill>
                            <a:schemeClr val="bg1"/>
                          </a:solidFill>
                          <a:cs typeface="Univers for KPMG"/>
                        </a:rPr>
                        <a:t>6 May to 1 July 2021</a:t>
                      </a:r>
                    </a:p>
                  </a:txBody>
                  <a:tcPr anchor="ctr">
                    <a:solidFill>
                      <a:schemeClr val="accent2"/>
                    </a:solidFill>
                  </a:tcPr>
                </a:tc>
                <a:extLst>
                  <a:ext uri="{0D108BD9-81ED-4DB2-BD59-A6C34878D82A}">
                    <a16:rowId xmlns:a16="http://schemas.microsoft.com/office/drawing/2014/main" val="691607771"/>
                  </a:ext>
                </a:extLst>
              </a:tr>
            </a:tbl>
          </a:graphicData>
        </a:graphic>
      </p:graphicFrame>
    </p:spTree>
    <p:extLst>
      <p:ext uri="{BB962C8B-B14F-4D97-AF65-F5344CB8AC3E}">
        <p14:creationId xmlns:p14="http://schemas.microsoft.com/office/powerpoint/2010/main" val="65860387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ounded Rectangle 33">
            <a:extLst>
              <a:ext uri="{FF2B5EF4-FFF2-40B4-BE49-F238E27FC236}">
                <a16:creationId xmlns:a16="http://schemas.microsoft.com/office/drawing/2014/main" id="{7AD374CD-4897-4257-91F0-4A4321734924}"/>
              </a:ext>
            </a:extLst>
          </p:cNvPr>
          <p:cNvSpPr/>
          <p:nvPr/>
        </p:nvSpPr>
        <p:spPr bwMode="gray">
          <a:xfrm>
            <a:off x="431521" y="4405902"/>
            <a:ext cx="8712473" cy="1438317"/>
          </a:xfrm>
          <a:prstGeom prst="roundRect">
            <a:avLst/>
          </a:prstGeom>
          <a:solidFill>
            <a:schemeClr val="bg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100" b="1" dirty="0"/>
          </a:p>
        </p:txBody>
      </p:sp>
      <p:sp>
        <p:nvSpPr>
          <p:cNvPr id="45" name="Rounded Rectangle 33">
            <a:extLst>
              <a:ext uri="{FF2B5EF4-FFF2-40B4-BE49-F238E27FC236}">
                <a16:creationId xmlns:a16="http://schemas.microsoft.com/office/drawing/2014/main" id="{FD8A141F-704A-4521-BDEB-AF13AA34B643}"/>
              </a:ext>
            </a:extLst>
          </p:cNvPr>
          <p:cNvSpPr/>
          <p:nvPr/>
        </p:nvSpPr>
        <p:spPr bwMode="gray">
          <a:xfrm>
            <a:off x="431522" y="2913876"/>
            <a:ext cx="8712473" cy="1438317"/>
          </a:xfrm>
          <a:prstGeom prst="roundRect">
            <a:avLst/>
          </a:prstGeom>
          <a:solidFill>
            <a:schemeClr val="bg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100" b="1" dirty="0"/>
          </a:p>
        </p:txBody>
      </p:sp>
      <p:sp>
        <p:nvSpPr>
          <p:cNvPr id="27" name="Rounded Rectangle 33">
            <a:extLst>
              <a:ext uri="{FF2B5EF4-FFF2-40B4-BE49-F238E27FC236}">
                <a16:creationId xmlns:a16="http://schemas.microsoft.com/office/drawing/2014/main" id="{B81CE137-157F-4C90-A55A-88D6B3C17E40}"/>
              </a:ext>
            </a:extLst>
          </p:cNvPr>
          <p:cNvSpPr/>
          <p:nvPr/>
        </p:nvSpPr>
        <p:spPr bwMode="gray">
          <a:xfrm>
            <a:off x="448527" y="1432817"/>
            <a:ext cx="8695468" cy="1438317"/>
          </a:xfrm>
          <a:prstGeom prst="roundRect">
            <a:avLst/>
          </a:prstGeom>
          <a:solidFill>
            <a:schemeClr val="bg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100" b="1" dirty="0"/>
          </a:p>
        </p:txBody>
      </p:sp>
      <p:sp>
        <p:nvSpPr>
          <p:cNvPr id="33" name="Rectangle 32"/>
          <p:cNvSpPr/>
          <p:nvPr/>
        </p:nvSpPr>
        <p:spPr bwMode="gray">
          <a:xfrm>
            <a:off x="5231894" y="719191"/>
            <a:ext cx="1318712" cy="5250094"/>
          </a:xfrm>
          <a:prstGeom prst="rect">
            <a:avLst/>
          </a:prstGeom>
          <a:pattFill prst="pct60">
            <a:fgClr>
              <a:schemeClr val="bg2">
                <a:lumMod val="90000"/>
              </a:schemeClr>
            </a:fgClr>
            <a:bgClr>
              <a:schemeClr val="bg1"/>
            </a:bgClr>
          </a:pattFill>
          <a:ln w="28575" algn="ctr">
            <a:solidFill>
              <a:schemeClr val="accent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 name="Title 1"/>
          <p:cNvSpPr>
            <a:spLocks noGrp="1"/>
          </p:cNvSpPr>
          <p:nvPr>
            <p:ph type="title" idx="4294967295"/>
          </p:nvPr>
        </p:nvSpPr>
        <p:spPr>
          <a:xfrm>
            <a:off x="469900" y="305310"/>
            <a:ext cx="11252200" cy="692151"/>
          </a:xfrm>
        </p:spPr>
        <p:txBody>
          <a:bodyPr/>
          <a:lstStyle/>
          <a:p>
            <a:r>
              <a:rPr lang="en-US" dirty="0">
                <a:solidFill>
                  <a:schemeClr val="tx1"/>
                </a:solidFill>
              </a:rPr>
              <a:t>Multiple ML Algorithms </a:t>
            </a:r>
            <a:r>
              <a:rPr lang="en-US" dirty="0"/>
              <a:t>are</a:t>
            </a:r>
            <a:r>
              <a:rPr lang="en-US" dirty="0">
                <a:solidFill>
                  <a:schemeClr val="tx1"/>
                </a:solidFill>
              </a:rPr>
              <a:t> built, and robustness of models are checked</a:t>
            </a:r>
            <a:endParaRPr lang="en-IN" dirty="0">
              <a:solidFill>
                <a:schemeClr val="tx1"/>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4165290815"/>
              </p:ext>
            </p:extLst>
          </p:nvPr>
        </p:nvGraphicFramePr>
        <p:xfrm>
          <a:off x="2704112" y="2998559"/>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86.1 %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40.0 %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80.6 %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86.7 %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90.2 %</a:t>
                      </a:r>
                    </a:p>
                  </a:txBody>
                  <a:tcPr anchor="ctr">
                    <a:solidFill>
                      <a:srgbClr val="D9E7CD"/>
                    </a:solidFill>
                  </a:tcPr>
                </a:tc>
                <a:extLst>
                  <a:ext uri="{0D108BD9-81ED-4DB2-BD59-A6C34878D82A}">
                    <a16:rowId xmlns:a16="http://schemas.microsoft.com/office/drawing/2014/main" val="1410582729"/>
                  </a:ext>
                </a:extLst>
              </a:tr>
            </a:tbl>
          </a:graphicData>
        </a:graphic>
      </p:graphicFrame>
      <p:sp>
        <p:nvSpPr>
          <p:cNvPr id="10" name="TextBox 9"/>
          <p:cNvSpPr txBox="1"/>
          <p:nvPr/>
        </p:nvSpPr>
        <p:spPr>
          <a:xfrm>
            <a:off x="328773" y="6067133"/>
            <a:ext cx="11465960" cy="215444"/>
          </a:xfrm>
          <a:prstGeom prst="rect">
            <a:avLst/>
          </a:prstGeom>
          <a:noFill/>
        </p:spPr>
        <p:txBody>
          <a:bodyPr wrap="square" lIns="0" tIns="0" rIns="0" bIns="0" rtlCol="0">
            <a:spAutoFit/>
          </a:bodyPr>
          <a:lstStyle/>
          <a:p>
            <a:pPr algn="ctr">
              <a:spcBef>
                <a:spcPts val="600"/>
              </a:spcBef>
              <a:buSzPct val="100000"/>
            </a:pPr>
            <a:r>
              <a:rPr lang="en-US" sz="1400" i="1" dirty="0">
                <a:solidFill>
                  <a:schemeClr val="accent2"/>
                </a:solidFill>
              </a:rPr>
              <a:t>XG Boost was selected because of the consistency of performance metrics over the Train, Test and OOT data set.  </a:t>
            </a:r>
            <a:endParaRPr lang="en-IN" sz="1400" i="1" dirty="0">
              <a:solidFill>
                <a:schemeClr val="accent2"/>
              </a:solidFill>
            </a:endParaRPr>
          </a:p>
        </p:txBody>
      </p:sp>
      <p:sp>
        <p:nvSpPr>
          <p:cNvPr id="4" name="Oval 3"/>
          <p:cNvSpPr/>
          <p:nvPr/>
        </p:nvSpPr>
        <p:spPr bwMode="gray">
          <a:xfrm>
            <a:off x="2531041" y="848628"/>
            <a:ext cx="1376899" cy="517897"/>
          </a:xfrm>
          <a:prstGeom prst="ellipse">
            <a:avLst/>
          </a:prstGeom>
          <a:solidFill>
            <a:schemeClr val="bg1">
              <a:lumMod val="95000"/>
            </a:schemeClr>
          </a:solidFill>
          <a:ln w="19050" algn="ctr">
            <a:solidFill>
              <a:srgbClr val="92D05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t>Logistic Regression</a:t>
            </a:r>
            <a:endParaRPr lang="en-IN" sz="1000" b="1" i="1" dirty="0"/>
          </a:p>
        </p:txBody>
      </p:sp>
      <p:sp>
        <p:nvSpPr>
          <p:cNvPr id="5" name="Oval 4"/>
          <p:cNvSpPr/>
          <p:nvPr/>
        </p:nvSpPr>
        <p:spPr bwMode="gray">
          <a:xfrm>
            <a:off x="3954782" y="848628"/>
            <a:ext cx="1234173" cy="517897"/>
          </a:xfrm>
          <a:prstGeom prst="ellipse">
            <a:avLst/>
          </a:prstGeom>
          <a:solidFill>
            <a:schemeClr val="bg1">
              <a:lumMod val="95000"/>
            </a:schemeClr>
          </a:solidFill>
          <a:ln w="19050" algn="ctr">
            <a:solidFill>
              <a:srgbClr val="92D05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t>Random Forest</a:t>
            </a:r>
            <a:endParaRPr lang="en-IN" sz="1000" b="1" i="1" dirty="0"/>
          </a:p>
        </p:txBody>
      </p:sp>
      <p:sp>
        <p:nvSpPr>
          <p:cNvPr id="7" name="Oval 6"/>
          <p:cNvSpPr/>
          <p:nvPr/>
        </p:nvSpPr>
        <p:spPr bwMode="gray">
          <a:xfrm>
            <a:off x="5278809" y="848628"/>
            <a:ext cx="1219422" cy="517897"/>
          </a:xfrm>
          <a:prstGeom prst="ellipse">
            <a:avLst/>
          </a:prstGeom>
          <a:solidFill>
            <a:schemeClr val="bg1">
              <a:lumMod val="95000"/>
            </a:schemeClr>
          </a:solidFill>
          <a:ln w="19050" algn="ctr">
            <a:solidFill>
              <a:srgbClr val="92D05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t>XG Boost</a:t>
            </a:r>
            <a:endParaRPr lang="en-IN" sz="1000" b="1" i="1" dirty="0"/>
          </a:p>
        </p:txBody>
      </p:sp>
      <p:graphicFrame>
        <p:nvGraphicFramePr>
          <p:cNvPr id="36" name="Table 35"/>
          <p:cNvGraphicFramePr>
            <a:graphicFrameLocks noGrp="1"/>
          </p:cNvGraphicFramePr>
          <p:nvPr>
            <p:extLst>
              <p:ext uri="{D42A27DB-BD31-4B8C-83A1-F6EECF244321}">
                <p14:modId xmlns:p14="http://schemas.microsoft.com/office/powerpoint/2010/main" val="758635055"/>
              </p:ext>
            </p:extLst>
          </p:nvPr>
        </p:nvGraphicFramePr>
        <p:xfrm>
          <a:off x="1245435" y="2990486"/>
          <a:ext cx="1151251" cy="1295400"/>
        </p:xfrm>
        <a:graphic>
          <a:graphicData uri="http://schemas.openxmlformats.org/drawingml/2006/table">
            <a:tbl>
              <a:tblPr firstRow="1" bandRow="1">
                <a:tableStyleId>{5C22544A-7EE6-4342-B048-85BDC9FD1C3A}</a:tableStyleId>
              </a:tblPr>
              <a:tblGrid>
                <a:gridCol w="1151251">
                  <a:extLst>
                    <a:ext uri="{9D8B030D-6E8A-4147-A177-3AD203B41FA5}">
                      <a16:colId xmlns:a16="http://schemas.microsoft.com/office/drawing/2014/main" val="507211329"/>
                    </a:ext>
                  </a:extLst>
                </a:gridCol>
              </a:tblGrid>
              <a:tr h="0">
                <a:tc>
                  <a:txBody>
                    <a:bodyPr/>
                    <a:lstStyle/>
                    <a:p>
                      <a:r>
                        <a:rPr lang="en-US" sz="1100" b="0" dirty="0">
                          <a:solidFill>
                            <a:schemeClr val="tx1"/>
                          </a:solidFill>
                        </a:rPr>
                        <a:t>Accuracy</a:t>
                      </a:r>
                      <a:endParaRPr lang="en-IN" sz="1100" b="0" dirty="0">
                        <a:solidFill>
                          <a:schemeClr val="tx1"/>
                        </a:solidFill>
                      </a:endParaRPr>
                    </a:p>
                  </a:txBody>
                  <a:tcPr anchor="ctr">
                    <a:solidFill>
                      <a:srgbClr val="D9E7CD"/>
                    </a:solidFill>
                  </a:tcPr>
                </a:tc>
                <a:extLst>
                  <a:ext uri="{0D108BD9-81ED-4DB2-BD59-A6C34878D82A}">
                    <a16:rowId xmlns:a16="http://schemas.microsoft.com/office/drawing/2014/main" val="1040031007"/>
                  </a:ext>
                </a:extLst>
              </a:tr>
              <a:tr h="0">
                <a:tc>
                  <a:txBody>
                    <a:bodyPr/>
                    <a:lstStyle/>
                    <a:p>
                      <a:r>
                        <a:rPr lang="en-US" sz="1100" b="0" dirty="0">
                          <a:solidFill>
                            <a:schemeClr val="tx1"/>
                          </a:solidFill>
                        </a:rPr>
                        <a:t>Precision</a:t>
                      </a:r>
                      <a:endParaRPr lang="en-IN" sz="1100" b="0" dirty="0">
                        <a:solidFill>
                          <a:schemeClr val="tx1"/>
                        </a:solidFill>
                      </a:endParaRPr>
                    </a:p>
                  </a:txBody>
                  <a:tcPr anchor="ctr">
                    <a:solidFill>
                      <a:srgbClr val="EDF4E8"/>
                    </a:solidFill>
                  </a:tcPr>
                </a:tc>
                <a:extLst>
                  <a:ext uri="{0D108BD9-81ED-4DB2-BD59-A6C34878D82A}">
                    <a16:rowId xmlns:a16="http://schemas.microsoft.com/office/drawing/2014/main" val="2843723526"/>
                  </a:ext>
                </a:extLst>
              </a:tr>
              <a:tr h="0">
                <a:tc>
                  <a:txBody>
                    <a:bodyPr/>
                    <a:lstStyle/>
                    <a:p>
                      <a:r>
                        <a:rPr lang="en-US" sz="1100" b="0" dirty="0">
                          <a:solidFill>
                            <a:schemeClr val="tx1"/>
                          </a:solidFill>
                        </a:rPr>
                        <a:t>Recall</a:t>
                      </a:r>
                      <a:endParaRPr lang="en-IN" sz="1100" b="0" dirty="0">
                        <a:solidFill>
                          <a:schemeClr val="tx1"/>
                        </a:solidFill>
                      </a:endParaRPr>
                    </a:p>
                  </a:txBody>
                  <a:tcPr anchor="ctr">
                    <a:solidFill>
                      <a:srgbClr val="D9E7CD"/>
                    </a:solidFill>
                  </a:tcPr>
                </a:tc>
                <a:extLst>
                  <a:ext uri="{0D108BD9-81ED-4DB2-BD59-A6C34878D82A}">
                    <a16:rowId xmlns:a16="http://schemas.microsoft.com/office/drawing/2014/main" val="2224738080"/>
                  </a:ext>
                </a:extLst>
              </a:tr>
              <a:tr h="0">
                <a:tc>
                  <a:txBody>
                    <a:bodyPr/>
                    <a:lstStyle/>
                    <a:p>
                      <a:r>
                        <a:rPr lang="en-US" sz="1100" b="0" dirty="0">
                          <a:solidFill>
                            <a:schemeClr val="tx1"/>
                          </a:solidFill>
                        </a:rPr>
                        <a:t>Specificity</a:t>
                      </a:r>
                      <a:endParaRPr lang="en-IN" sz="1100" b="0" dirty="0">
                        <a:solidFill>
                          <a:schemeClr val="tx1"/>
                        </a:solidFill>
                      </a:endParaRPr>
                    </a:p>
                  </a:txBody>
                  <a:tcPr anchor="ctr">
                    <a:solidFill>
                      <a:srgbClr val="EDF4E8"/>
                    </a:solidFill>
                  </a:tcPr>
                </a:tc>
                <a:extLst>
                  <a:ext uri="{0D108BD9-81ED-4DB2-BD59-A6C34878D82A}">
                    <a16:rowId xmlns:a16="http://schemas.microsoft.com/office/drawing/2014/main" val="2533899778"/>
                  </a:ext>
                </a:extLst>
              </a:tr>
              <a:tr h="0">
                <a:tc>
                  <a:txBody>
                    <a:bodyPr/>
                    <a:lstStyle/>
                    <a:p>
                      <a:r>
                        <a:rPr lang="en-IN" sz="1100" b="0" dirty="0">
                          <a:solidFill>
                            <a:schemeClr val="tx1"/>
                          </a:solidFill>
                        </a:rPr>
                        <a:t>AUC</a:t>
                      </a:r>
                    </a:p>
                  </a:txBody>
                  <a:tcPr anchor="ctr">
                    <a:solidFill>
                      <a:srgbClr val="D9E7CD"/>
                    </a:solidFill>
                  </a:tcPr>
                </a:tc>
                <a:extLst>
                  <a:ext uri="{0D108BD9-81ED-4DB2-BD59-A6C34878D82A}">
                    <a16:rowId xmlns:a16="http://schemas.microsoft.com/office/drawing/2014/main" val="643953065"/>
                  </a:ext>
                </a:extLst>
              </a:tr>
            </a:tbl>
          </a:graphicData>
        </a:graphic>
      </p:graphicFrame>
      <p:sp>
        <p:nvSpPr>
          <p:cNvPr id="32" name="Oval 31">
            <a:extLst>
              <a:ext uri="{FF2B5EF4-FFF2-40B4-BE49-F238E27FC236}">
                <a16:creationId xmlns:a16="http://schemas.microsoft.com/office/drawing/2014/main" id="{94FD89AC-7F67-4A66-A717-DE08539A26D1}"/>
              </a:ext>
            </a:extLst>
          </p:cNvPr>
          <p:cNvSpPr/>
          <p:nvPr/>
        </p:nvSpPr>
        <p:spPr bwMode="gray">
          <a:xfrm>
            <a:off x="6633337" y="796292"/>
            <a:ext cx="1141854" cy="527405"/>
          </a:xfrm>
          <a:prstGeom prst="ellipse">
            <a:avLst/>
          </a:prstGeom>
          <a:solidFill>
            <a:schemeClr val="bg1">
              <a:lumMod val="95000"/>
            </a:schemeClr>
          </a:solidFill>
          <a:ln w="19050" algn="ctr">
            <a:solidFill>
              <a:srgbClr val="92D05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t>Decision Tree</a:t>
            </a:r>
            <a:endParaRPr lang="en-IN" sz="1000" b="1" i="1" dirty="0"/>
          </a:p>
        </p:txBody>
      </p:sp>
      <p:graphicFrame>
        <p:nvGraphicFramePr>
          <p:cNvPr id="29" name="Table 28">
            <a:extLst>
              <a:ext uri="{FF2B5EF4-FFF2-40B4-BE49-F238E27FC236}">
                <a16:creationId xmlns:a16="http://schemas.microsoft.com/office/drawing/2014/main" id="{2F2FF060-23F5-4A12-92D6-9D0E5F345A03}"/>
              </a:ext>
            </a:extLst>
          </p:cNvPr>
          <p:cNvGraphicFramePr>
            <a:graphicFrameLocks noGrp="1"/>
          </p:cNvGraphicFramePr>
          <p:nvPr>
            <p:extLst>
              <p:ext uri="{D42A27DB-BD31-4B8C-83A1-F6EECF244321}">
                <p14:modId xmlns:p14="http://schemas.microsoft.com/office/powerpoint/2010/main" val="693124762"/>
              </p:ext>
            </p:extLst>
          </p:nvPr>
        </p:nvGraphicFramePr>
        <p:xfrm>
          <a:off x="2706023" y="4497606"/>
          <a:ext cx="1018573" cy="1295400"/>
        </p:xfrm>
        <a:graphic>
          <a:graphicData uri="http://schemas.openxmlformats.org/drawingml/2006/table">
            <a:tbl>
              <a:tblPr firstRow="1" bandRow="1">
                <a:tableStyleId>{5C22544A-7EE6-4342-B048-85BDC9FD1C3A}</a:tableStyleId>
              </a:tblPr>
              <a:tblGrid>
                <a:gridCol w="1018573">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85.9 %</a:t>
                      </a:r>
                    </a:p>
                  </a:txBody>
                  <a:tcPr anchor="ctr">
                    <a:solidFill>
                      <a:schemeClr val="accent3">
                        <a:lumMod val="40000"/>
                        <a:lumOff val="60000"/>
                      </a:schemeClr>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39.1 %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81.1 %</a:t>
                      </a:r>
                    </a:p>
                  </a:txBody>
                  <a:tcPr anchor="ctr">
                    <a:solidFill>
                      <a:schemeClr val="accent3">
                        <a:lumMod val="40000"/>
                        <a:lumOff val="60000"/>
                      </a:schemeClr>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86.4 %</a:t>
                      </a:r>
                    </a:p>
                  </a:txBody>
                  <a:tcPr anchor="ctr">
                    <a:solidFill>
                      <a:srgbClr val="EDF4E8"/>
                    </a:solidFill>
                  </a:tcPr>
                </a:tc>
                <a:extLst>
                  <a:ext uri="{0D108BD9-81ED-4DB2-BD59-A6C34878D82A}">
                    <a16:rowId xmlns:a16="http://schemas.microsoft.com/office/drawing/2014/main" val="564272001"/>
                  </a:ext>
                </a:extLst>
              </a:tr>
              <a:tr h="0">
                <a:tc>
                  <a:txBody>
                    <a:bodyPr/>
                    <a:lstStyle/>
                    <a:p>
                      <a:pPr algn="ctr"/>
                      <a:r>
                        <a:rPr lang="en-IN" sz="1100" b="0" dirty="0">
                          <a:solidFill>
                            <a:schemeClr val="tx1"/>
                          </a:solidFill>
                        </a:rPr>
                        <a:t>90.4 %</a:t>
                      </a:r>
                    </a:p>
                  </a:txBody>
                  <a:tcPr anchor="ctr">
                    <a:solidFill>
                      <a:schemeClr val="accent3">
                        <a:lumMod val="40000"/>
                        <a:lumOff val="60000"/>
                      </a:schemeClr>
                    </a:solidFill>
                  </a:tcPr>
                </a:tc>
                <a:extLst>
                  <a:ext uri="{0D108BD9-81ED-4DB2-BD59-A6C34878D82A}">
                    <a16:rowId xmlns:a16="http://schemas.microsoft.com/office/drawing/2014/main" val="668134541"/>
                  </a:ext>
                </a:extLst>
              </a:tr>
            </a:tbl>
          </a:graphicData>
        </a:graphic>
      </p:graphicFrame>
      <p:sp>
        <p:nvSpPr>
          <p:cNvPr id="47" name="TextBox 46">
            <a:extLst>
              <a:ext uri="{FF2B5EF4-FFF2-40B4-BE49-F238E27FC236}">
                <a16:creationId xmlns:a16="http://schemas.microsoft.com/office/drawing/2014/main" id="{682AF1BA-58DD-4825-BA48-F1FCC1296A65}"/>
              </a:ext>
            </a:extLst>
          </p:cNvPr>
          <p:cNvSpPr txBox="1"/>
          <p:nvPr/>
        </p:nvSpPr>
        <p:spPr>
          <a:xfrm>
            <a:off x="330175" y="3492858"/>
            <a:ext cx="1062337" cy="219156"/>
          </a:xfrm>
          <a:prstGeom prst="rect">
            <a:avLst/>
          </a:prstGeom>
          <a:noFill/>
        </p:spPr>
        <p:txBody>
          <a:bodyPr wrap="square" lIns="0" tIns="0" rIns="0" bIns="0" rtlCol="0">
            <a:spAutoFit/>
          </a:bodyPr>
          <a:lstStyle/>
          <a:p>
            <a:pPr algn="ctr">
              <a:spcBef>
                <a:spcPts val="600"/>
              </a:spcBef>
              <a:buSzPct val="100000"/>
            </a:pPr>
            <a:r>
              <a:rPr lang="en-US" sz="1400" i="1" dirty="0">
                <a:solidFill>
                  <a:schemeClr val="accent2"/>
                </a:solidFill>
              </a:rPr>
              <a:t>Test</a:t>
            </a:r>
            <a:endParaRPr lang="en-IN" sz="1400" i="1" dirty="0">
              <a:solidFill>
                <a:schemeClr val="accent2"/>
              </a:solidFill>
            </a:endParaRPr>
          </a:p>
        </p:txBody>
      </p:sp>
      <p:sp>
        <p:nvSpPr>
          <p:cNvPr id="48" name="TextBox 47">
            <a:extLst>
              <a:ext uri="{FF2B5EF4-FFF2-40B4-BE49-F238E27FC236}">
                <a16:creationId xmlns:a16="http://schemas.microsoft.com/office/drawing/2014/main" id="{A60B8BBB-40F9-4BF8-8195-7D2623EB76DB}"/>
              </a:ext>
            </a:extLst>
          </p:cNvPr>
          <p:cNvSpPr txBox="1"/>
          <p:nvPr/>
        </p:nvSpPr>
        <p:spPr>
          <a:xfrm>
            <a:off x="466683" y="5015374"/>
            <a:ext cx="915966" cy="215444"/>
          </a:xfrm>
          <a:prstGeom prst="rect">
            <a:avLst/>
          </a:prstGeom>
          <a:noFill/>
        </p:spPr>
        <p:txBody>
          <a:bodyPr wrap="square" lIns="0" tIns="0" rIns="0" bIns="0" rtlCol="0">
            <a:spAutoFit/>
          </a:bodyPr>
          <a:lstStyle/>
          <a:p>
            <a:pPr algn="ctr">
              <a:spcBef>
                <a:spcPts val="600"/>
              </a:spcBef>
              <a:buSzPct val="100000"/>
            </a:pPr>
            <a:r>
              <a:rPr lang="en-US" sz="1400" i="1" dirty="0">
                <a:solidFill>
                  <a:schemeClr val="accent2"/>
                </a:solidFill>
              </a:rPr>
              <a:t>OOT</a:t>
            </a:r>
            <a:endParaRPr lang="en-IN" sz="1400" i="1" dirty="0">
              <a:solidFill>
                <a:schemeClr val="accent2"/>
              </a:solidFill>
            </a:endParaRPr>
          </a:p>
        </p:txBody>
      </p:sp>
      <p:sp>
        <p:nvSpPr>
          <p:cNvPr id="49" name="TextBox 48">
            <a:extLst>
              <a:ext uri="{FF2B5EF4-FFF2-40B4-BE49-F238E27FC236}">
                <a16:creationId xmlns:a16="http://schemas.microsoft.com/office/drawing/2014/main" id="{0543A685-245D-450C-9F8D-87FEF850CE71}"/>
              </a:ext>
            </a:extLst>
          </p:cNvPr>
          <p:cNvSpPr txBox="1"/>
          <p:nvPr/>
        </p:nvSpPr>
        <p:spPr>
          <a:xfrm>
            <a:off x="3919814" y="6639641"/>
            <a:ext cx="8436797" cy="169277"/>
          </a:xfrm>
          <a:prstGeom prst="rect">
            <a:avLst/>
          </a:prstGeom>
          <a:noFill/>
        </p:spPr>
        <p:txBody>
          <a:bodyPr wrap="square" lIns="0" tIns="0" rIns="0" bIns="0" rtlCol="0">
            <a:spAutoFit/>
          </a:bodyPr>
          <a:lstStyle/>
          <a:p>
            <a:pPr algn="ctr">
              <a:spcBef>
                <a:spcPts val="600"/>
              </a:spcBef>
              <a:buSzPct val="100000"/>
            </a:pPr>
            <a:r>
              <a:rPr lang="en-US" sz="1100" i="1" dirty="0">
                <a:solidFill>
                  <a:schemeClr val="bg1">
                    <a:lumMod val="50000"/>
                  </a:schemeClr>
                </a:solidFill>
              </a:rPr>
              <a:t>Note : Above metrics are calculated based on top 2 deciles of rank ordered probability score in descending order.</a:t>
            </a:r>
            <a:endParaRPr lang="en-IN" sz="1100" i="1" dirty="0">
              <a:solidFill>
                <a:schemeClr val="bg1">
                  <a:lumMod val="50000"/>
                </a:schemeClr>
              </a:solidFill>
            </a:endParaRPr>
          </a:p>
        </p:txBody>
      </p:sp>
      <p:graphicFrame>
        <p:nvGraphicFramePr>
          <p:cNvPr id="44" name="Table 43">
            <a:extLst>
              <a:ext uri="{FF2B5EF4-FFF2-40B4-BE49-F238E27FC236}">
                <a16:creationId xmlns:a16="http://schemas.microsoft.com/office/drawing/2014/main" id="{52E7267F-5045-4926-81FA-6E6C0EF1DB3D}"/>
              </a:ext>
            </a:extLst>
          </p:cNvPr>
          <p:cNvGraphicFramePr>
            <a:graphicFrameLocks noGrp="1"/>
          </p:cNvGraphicFramePr>
          <p:nvPr>
            <p:extLst>
              <p:ext uri="{D42A27DB-BD31-4B8C-83A1-F6EECF244321}">
                <p14:modId xmlns:p14="http://schemas.microsoft.com/office/powerpoint/2010/main" val="3592360467"/>
              </p:ext>
            </p:extLst>
          </p:nvPr>
        </p:nvGraphicFramePr>
        <p:xfrm>
          <a:off x="1245435" y="4497606"/>
          <a:ext cx="1151251" cy="1295400"/>
        </p:xfrm>
        <a:graphic>
          <a:graphicData uri="http://schemas.openxmlformats.org/drawingml/2006/table">
            <a:tbl>
              <a:tblPr firstRow="1" bandRow="1">
                <a:tableStyleId>{5C22544A-7EE6-4342-B048-85BDC9FD1C3A}</a:tableStyleId>
              </a:tblPr>
              <a:tblGrid>
                <a:gridCol w="1151251">
                  <a:extLst>
                    <a:ext uri="{9D8B030D-6E8A-4147-A177-3AD203B41FA5}">
                      <a16:colId xmlns:a16="http://schemas.microsoft.com/office/drawing/2014/main" val="507211329"/>
                    </a:ext>
                  </a:extLst>
                </a:gridCol>
              </a:tblGrid>
              <a:tr h="0">
                <a:tc>
                  <a:txBody>
                    <a:bodyPr/>
                    <a:lstStyle/>
                    <a:p>
                      <a:r>
                        <a:rPr lang="en-US" sz="1100" b="0" dirty="0">
                          <a:solidFill>
                            <a:schemeClr val="tx1"/>
                          </a:solidFill>
                        </a:rPr>
                        <a:t>Accuracy</a:t>
                      </a:r>
                      <a:endParaRPr lang="en-IN" sz="1100" b="0" dirty="0">
                        <a:solidFill>
                          <a:schemeClr val="tx1"/>
                        </a:solidFill>
                      </a:endParaRPr>
                    </a:p>
                  </a:txBody>
                  <a:tcPr anchor="ctr">
                    <a:solidFill>
                      <a:schemeClr val="accent3">
                        <a:lumMod val="20000"/>
                        <a:lumOff val="80000"/>
                      </a:schemeClr>
                    </a:solidFill>
                  </a:tcPr>
                </a:tc>
                <a:extLst>
                  <a:ext uri="{0D108BD9-81ED-4DB2-BD59-A6C34878D82A}">
                    <a16:rowId xmlns:a16="http://schemas.microsoft.com/office/drawing/2014/main" val="1040031007"/>
                  </a:ext>
                </a:extLst>
              </a:tr>
              <a:tr h="0">
                <a:tc>
                  <a:txBody>
                    <a:bodyPr/>
                    <a:lstStyle/>
                    <a:p>
                      <a:r>
                        <a:rPr lang="en-US" sz="1100" b="0" dirty="0">
                          <a:solidFill>
                            <a:schemeClr val="tx1"/>
                          </a:solidFill>
                        </a:rPr>
                        <a:t>Precision</a:t>
                      </a:r>
                      <a:endParaRPr lang="en-IN" sz="1100" b="0" dirty="0">
                        <a:solidFill>
                          <a:schemeClr val="tx1"/>
                        </a:solidFill>
                      </a:endParaRPr>
                    </a:p>
                  </a:txBody>
                  <a:tcPr anchor="ctr">
                    <a:solidFill>
                      <a:srgbClr val="EDF4E8"/>
                    </a:solidFill>
                  </a:tcPr>
                </a:tc>
                <a:extLst>
                  <a:ext uri="{0D108BD9-81ED-4DB2-BD59-A6C34878D82A}">
                    <a16:rowId xmlns:a16="http://schemas.microsoft.com/office/drawing/2014/main" val="2843723526"/>
                  </a:ext>
                </a:extLst>
              </a:tr>
              <a:tr h="0">
                <a:tc>
                  <a:txBody>
                    <a:bodyPr/>
                    <a:lstStyle/>
                    <a:p>
                      <a:r>
                        <a:rPr lang="en-US" sz="1100" b="0" dirty="0">
                          <a:solidFill>
                            <a:schemeClr val="tx1"/>
                          </a:solidFill>
                        </a:rPr>
                        <a:t>Recall</a:t>
                      </a:r>
                      <a:endParaRPr lang="en-IN" sz="1100" b="0" dirty="0">
                        <a:solidFill>
                          <a:schemeClr val="tx1"/>
                        </a:solidFill>
                      </a:endParaRPr>
                    </a:p>
                  </a:txBody>
                  <a:tcPr anchor="ctr">
                    <a:solidFill>
                      <a:schemeClr val="accent3">
                        <a:lumMod val="20000"/>
                        <a:lumOff val="80000"/>
                      </a:schemeClr>
                    </a:solidFill>
                  </a:tcPr>
                </a:tc>
                <a:extLst>
                  <a:ext uri="{0D108BD9-81ED-4DB2-BD59-A6C34878D82A}">
                    <a16:rowId xmlns:a16="http://schemas.microsoft.com/office/drawing/2014/main" val="2224738080"/>
                  </a:ext>
                </a:extLst>
              </a:tr>
              <a:tr h="0">
                <a:tc>
                  <a:txBody>
                    <a:bodyPr/>
                    <a:lstStyle/>
                    <a:p>
                      <a:r>
                        <a:rPr lang="en-US" sz="1100" b="0" dirty="0">
                          <a:solidFill>
                            <a:schemeClr val="tx1"/>
                          </a:solidFill>
                        </a:rPr>
                        <a:t>Specificity</a:t>
                      </a:r>
                      <a:endParaRPr lang="en-IN" sz="1100" b="0" dirty="0">
                        <a:solidFill>
                          <a:schemeClr val="tx1"/>
                        </a:solidFill>
                      </a:endParaRPr>
                    </a:p>
                  </a:txBody>
                  <a:tcPr anchor="ctr">
                    <a:solidFill>
                      <a:srgbClr val="EDF4E8"/>
                    </a:solidFill>
                  </a:tcPr>
                </a:tc>
                <a:extLst>
                  <a:ext uri="{0D108BD9-81ED-4DB2-BD59-A6C34878D82A}">
                    <a16:rowId xmlns:a16="http://schemas.microsoft.com/office/drawing/2014/main" val="2533899778"/>
                  </a:ext>
                </a:extLst>
              </a:tr>
              <a:tr h="0">
                <a:tc>
                  <a:txBody>
                    <a:bodyPr/>
                    <a:lstStyle/>
                    <a:p>
                      <a:r>
                        <a:rPr lang="en-IN" sz="1100" b="0" dirty="0">
                          <a:solidFill>
                            <a:schemeClr val="tx1"/>
                          </a:solidFill>
                        </a:rPr>
                        <a:t>AUC</a:t>
                      </a:r>
                    </a:p>
                  </a:txBody>
                  <a:tcPr anchor="ctr">
                    <a:solidFill>
                      <a:schemeClr val="accent3">
                        <a:lumMod val="20000"/>
                        <a:lumOff val="80000"/>
                      </a:schemeClr>
                    </a:solidFill>
                  </a:tcPr>
                </a:tc>
                <a:extLst>
                  <a:ext uri="{0D108BD9-81ED-4DB2-BD59-A6C34878D82A}">
                    <a16:rowId xmlns:a16="http://schemas.microsoft.com/office/drawing/2014/main" val="643953065"/>
                  </a:ext>
                </a:extLst>
              </a:tr>
            </a:tbl>
          </a:graphicData>
        </a:graphic>
      </p:graphicFrame>
      <p:graphicFrame>
        <p:nvGraphicFramePr>
          <p:cNvPr id="28" name="Table 27">
            <a:extLst>
              <a:ext uri="{FF2B5EF4-FFF2-40B4-BE49-F238E27FC236}">
                <a16:creationId xmlns:a16="http://schemas.microsoft.com/office/drawing/2014/main" id="{19E90CF0-37BE-496F-80C0-FB431FB0D2D1}"/>
              </a:ext>
            </a:extLst>
          </p:cNvPr>
          <p:cNvGraphicFramePr>
            <a:graphicFrameLocks noGrp="1"/>
          </p:cNvGraphicFramePr>
          <p:nvPr>
            <p:extLst>
              <p:ext uri="{D42A27DB-BD31-4B8C-83A1-F6EECF244321}">
                <p14:modId xmlns:p14="http://schemas.microsoft.com/office/powerpoint/2010/main" val="1861672574"/>
              </p:ext>
            </p:extLst>
          </p:nvPr>
        </p:nvGraphicFramePr>
        <p:xfrm>
          <a:off x="4050195" y="3004609"/>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87.5 %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43.5 %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86.5 %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87.6 %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93.5 %</a:t>
                      </a:r>
                    </a:p>
                  </a:txBody>
                  <a:tcPr anchor="ctr">
                    <a:solidFill>
                      <a:srgbClr val="D9E7CD"/>
                    </a:solidFill>
                  </a:tcPr>
                </a:tc>
                <a:extLst>
                  <a:ext uri="{0D108BD9-81ED-4DB2-BD59-A6C34878D82A}">
                    <a16:rowId xmlns:a16="http://schemas.microsoft.com/office/drawing/2014/main" val="1410582729"/>
                  </a:ext>
                </a:extLst>
              </a:tr>
            </a:tbl>
          </a:graphicData>
        </a:graphic>
      </p:graphicFrame>
      <p:graphicFrame>
        <p:nvGraphicFramePr>
          <p:cNvPr id="34" name="Table 33">
            <a:extLst>
              <a:ext uri="{FF2B5EF4-FFF2-40B4-BE49-F238E27FC236}">
                <a16:creationId xmlns:a16="http://schemas.microsoft.com/office/drawing/2014/main" id="{0113F12B-AB76-4EB9-A9E9-414900CD079B}"/>
              </a:ext>
            </a:extLst>
          </p:cNvPr>
          <p:cNvGraphicFramePr>
            <a:graphicFrameLocks noGrp="1"/>
          </p:cNvGraphicFramePr>
          <p:nvPr>
            <p:extLst>
              <p:ext uri="{D42A27DB-BD31-4B8C-83A1-F6EECF244321}">
                <p14:modId xmlns:p14="http://schemas.microsoft.com/office/powerpoint/2010/main" val="1040282341"/>
              </p:ext>
            </p:extLst>
          </p:nvPr>
        </p:nvGraphicFramePr>
        <p:xfrm>
          <a:off x="5362228" y="2998559"/>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87.4 %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43.3 %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86.1 %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87.6 %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93.4 %</a:t>
                      </a:r>
                    </a:p>
                  </a:txBody>
                  <a:tcPr anchor="ctr">
                    <a:solidFill>
                      <a:srgbClr val="D9E7CD"/>
                    </a:solidFill>
                  </a:tcPr>
                </a:tc>
                <a:extLst>
                  <a:ext uri="{0D108BD9-81ED-4DB2-BD59-A6C34878D82A}">
                    <a16:rowId xmlns:a16="http://schemas.microsoft.com/office/drawing/2014/main" val="1410582729"/>
                  </a:ext>
                </a:extLst>
              </a:tr>
            </a:tbl>
          </a:graphicData>
        </a:graphic>
      </p:graphicFrame>
      <p:graphicFrame>
        <p:nvGraphicFramePr>
          <p:cNvPr id="35" name="Table 34">
            <a:extLst>
              <a:ext uri="{FF2B5EF4-FFF2-40B4-BE49-F238E27FC236}">
                <a16:creationId xmlns:a16="http://schemas.microsoft.com/office/drawing/2014/main" id="{BE279453-A527-4FAE-A032-408E55709CD5}"/>
              </a:ext>
            </a:extLst>
          </p:cNvPr>
          <p:cNvGraphicFramePr>
            <a:graphicFrameLocks noGrp="1"/>
          </p:cNvGraphicFramePr>
          <p:nvPr>
            <p:extLst>
              <p:ext uri="{D42A27DB-BD31-4B8C-83A1-F6EECF244321}">
                <p14:modId xmlns:p14="http://schemas.microsoft.com/office/powerpoint/2010/main" val="1708615942"/>
              </p:ext>
            </p:extLst>
          </p:nvPr>
        </p:nvGraphicFramePr>
        <p:xfrm>
          <a:off x="6707606" y="3016462"/>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86.3 %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40.7 %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84.8 %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86.4 %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91.9 %</a:t>
                      </a:r>
                    </a:p>
                  </a:txBody>
                  <a:tcPr anchor="ctr">
                    <a:solidFill>
                      <a:srgbClr val="D9E7CD"/>
                    </a:solidFill>
                  </a:tcPr>
                </a:tc>
                <a:extLst>
                  <a:ext uri="{0D108BD9-81ED-4DB2-BD59-A6C34878D82A}">
                    <a16:rowId xmlns:a16="http://schemas.microsoft.com/office/drawing/2014/main" val="1410582729"/>
                  </a:ext>
                </a:extLst>
              </a:tr>
            </a:tbl>
          </a:graphicData>
        </a:graphic>
      </p:graphicFrame>
      <p:graphicFrame>
        <p:nvGraphicFramePr>
          <p:cNvPr id="38" name="Table 37">
            <a:extLst>
              <a:ext uri="{FF2B5EF4-FFF2-40B4-BE49-F238E27FC236}">
                <a16:creationId xmlns:a16="http://schemas.microsoft.com/office/drawing/2014/main" id="{4F460C65-FE08-4E82-B69A-B2A46800C3DC}"/>
              </a:ext>
            </a:extLst>
          </p:cNvPr>
          <p:cNvGraphicFramePr>
            <a:graphicFrameLocks noGrp="1"/>
          </p:cNvGraphicFramePr>
          <p:nvPr>
            <p:extLst>
              <p:ext uri="{D42A27DB-BD31-4B8C-83A1-F6EECF244321}">
                <p14:modId xmlns:p14="http://schemas.microsoft.com/office/powerpoint/2010/main" val="3286950579"/>
              </p:ext>
            </p:extLst>
          </p:nvPr>
        </p:nvGraphicFramePr>
        <p:xfrm>
          <a:off x="4062583" y="4489292"/>
          <a:ext cx="1018573" cy="1295400"/>
        </p:xfrm>
        <a:graphic>
          <a:graphicData uri="http://schemas.openxmlformats.org/drawingml/2006/table">
            <a:tbl>
              <a:tblPr firstRow="1" bandRow="1">
                <a:tableStyleId>{5C22544A-7EE6-4342-B048-85BDC9FD1C3A}</a:tableStyleId>
              </a:tblPr>
              <a:tblGrid>
                <a:gridCol w="1018573">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87.5 %</a:t>
                      </a:r>
                    </a:p>
                  </a:txBody>
                  <a:tcPr anchor="ctr">
                    <a:solidFill>
                      <a:schemeClr val="accent3">
                        <a:lumMod val="40000"/>
                        <a:lumOff val="60000"/>
                      </a:schemeClr>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43.0 %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86.4 %</a:t>
                      </a:r>
                    </a:p>
                  </a:txBody>
                  <a:tcPr anchor="ctr">
                    <a:solidFill>
                      <a:schemeClr val="accent3">
                        <a:lumMod val="40000"/>
                        <a:lumOff val="60000"/>
                      </a:schemeClr>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87.7 %</a:t>
                      </a:r>
                    </a:p>
                  </a:txBody>
                  <a:tcPr anchor="ctr">
                    <a:solidFill>
                      <a:srgbClr val="EDF4E8"/>
                    </a:solidFill>
                  </a:tcPr>
                </a:tc>
                <a:extLst>
                  <a:ext uri="{0D108BD9-81ED-4DB2-BD59-A6C34878D82A}">
                    <a16:rowId xmlns:a16="http://schemas.microsoft.com/office/drawing/2014/main" val="564272001"/>
                  </a:ext>
                </a:extLst>
              </a:tr>
              <a:tr h="0">
                <a:tc>
                  <a:txBody>
                    <a:bodyPr/>
                    <a:lstStyle/>
                    <a:p>
                      <a:pPr algn="ctr"/>
                      <a:r>
                        <a:rPr lang="en-IN" sz="1100" b="0" dirty="0">
                          <a:solidFill>
                            <a:schemeClr val="tx1"/>
                          </a:solidFill>
                        </a:rPr>
                        <a:t>93.5 %</a:t>
                      </a:r>
                    </a:p>
                  </a:txBody>
                  <a:tcPr anchor="ctr">
                    <a:solidFill>
                      <a:schemeClr val="accent3">
                        <a:lumMod val="40000"/>
                        <a:lumOff val="60000"/>
                      </a:schemeClr>
                    </a:solidFill>
                  </a:tcPr>
                </a:tc>
                <a:extLst>
                  <a:ext uri="{0D108BD9-81ED-4DB2-BD59-A6C34878D82A}">
                    <a16:rowId xmlns:a16="http://schemas.microsoft.com/office/drawing/2014/main" val="668134541"/>
                  </a:ext>
                </a:extLst>
              </a:tr>
            </a:tbl>
          </a:graphicData>
        </a:graphic>
      </p:graphicFrame>
      <p:graphicFrame>
        <p:nvGraphicFramePr>
          <p:cNvPr id="42" name="Table 41">
            <a:extLst>
              <a:ext uri="{FF2B5EF4-FFF2-40B4-BE49-F238E27FC236}">
                <a16:creationId xmlns:a16="http://schemas.microsoft.com/office/drawing/2014/main" id="{3F7455DF-7612-48EF-B9BD-7E4875C08C33}"/>
              </a:ext>
            </a:extLst>
          </p:cNvPr>
          <p:cNvGraphicFramePr>
            <a:graphicFrameLocks noGrp="1"/>
          </p:cNvGraphicFramePr>
          <p:nvPr>
            <p:extLst>
              <p:ext uri="{D42A27DB-BD31-4B8C-83A1-F6EECF244321}">
                <p14:modId xmlns:p14="http://schemas.microsoft.com/office/powerpoint/2010/main" val="530528826"/>
              </p:ext>
            </p:extLst>
          </p:nvPr>
        </p:nvGraphicFramePr>
        <p:xfrm>
          <a:off x="6707831" y="4489290"/>
          <a:ext cx="1018573" cy="1295400"/>
        </p:xfrm>
        <a:graphic>
          <a:graphicData uri="http://schemas.openxmlformats.org/drawingml/2006/table">
            <a:tbl>
              <a:tblPr firstRow="1" bandRow="1">
                <a:tableStyleId>{5C22544A-7EE6-4342-B048-85BDC9FD1C3A}</a:tableStyleId>
              </a:tblPr>
              <a:tblGrid>
                <a:gridCol w="1018573">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86.8 %</a:t>
                      </a:r>
                    </a:p>
                  </a:txBody>
                  <a:tcPr anchor="ctr">
                    <a:solidFill>
                      <a:schemeClr val="accent3">
                        <a:lumMod val="40000"/>
                        <a:lumOff val="60000"/>
                      </a:schemeClr>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41.2 %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84.3 %</a:t>
                      </a:r>
                    </a:p>
                  </a:txBody>
                  <a:tcPr anchor="ctr">
                    <a:solidFill>
                      <a:schemeClr val="accent3">
                        <a:lumMod val="40000"/>
                        <a:lumOff val="60000"/>
                      </a:schemeClr>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87.1 %</a:t>
                      </a:r>
                    </a:p>
                  </a:txBody>
                  <a:tcPr anchor="ctr">
                    <a:solidFill>
                      <a:srgbClr val="EDF4E8"/>
                    </a:solidFill>
                  </a:tcPr>
                </a:tc>
                <a:extLst>
                  <a:ext uri="{0D108BD9-81ED-4DB2-BD59-A6C34878D82A}">
                    <a16:rowId xmlns:a16="http://schemas.microsoft.com/office/drawing/2014/main" val="564272001"/>
                  </a:ext>
                </a:extLst>
              </a:tr>
              <a:tr h="0">
                <a:tc>
                  <a:txBody>
                    <a:bodyPr/>
                    <a:lstStyle/>
                    <a:p>
                      <a:pPr algn="ctr"/>
                      <a:r>
                        <a:rPr lang="en-IN" sz="1100" b="0" dirty="0">
                          <a:solidFill>
                            <a:schemeClr val="tx1"/>
                          </a:solidFill>
                        </a:rPr>
                        <a:t>91.9 %</a:t>
                      </a:r>
                    </a:p>
                  </a:txBody>
                  <a:tcPr anchor="ctr">
                    <a:solidFill>
                      <a:schemeClr val="accent3">
                        <a:lumMod val="40000"/>
                        <a:lumOff val="60000"/>
                      </a:schemeClr>
                    </a:solidFill>
                  </a:tcPr>
                </a:tc>
                <a:extLst>
                  <a:ext uri="{0D108BD9-81ED-4DB2-BD59-A6C34878D82A}">
                    <a16:rowId xmlns:a16="http://schemas.microsoft.com/office/drawing/2014/main" val="668134541"/>
                  </a:ext>
                </a:extLst>
              </a:tr>
            </a:tbl>
          </a:graphicData>
        </a:graphic>
      </p:graphicFrame>
      <p:graphicFrame>
        <p:nvGraphicFramePr>
          <p:cNvPr id="50" name="Table 49">
            <a:extLst>
              <a:ext uri="{FF2B5EF4-FFF2-40B4-BE49-F238E27FC236}">
                <a16:creationId xmlns:a16="http://schemas.microsoft.com/office/drawing/2014/main" id="{029F1877-FD87-4552-9403-564CA9DC394B}"/>
              </a:ext>
            </a:extLst>
          </p:cNvPr>
          <p:cNvGraphicFramePr>
            <a:graphicFrameLocks noGrp="1"/>
          </p:cNvGraphicFramePr>
          <p:nvPr>
            <p:extLst>
              <p:ext uri="{D42A27DB-BD31-4B8C-83A1-F6EECF244321}">
                <p14:modId xmlns:p14="http://schemas.microsoft.com/office/powerpoint/2010/main" val="2573128188"/>
              </p:ext>
            </p:extLst>
          </p:nvPr>
        </p:nvGraphicFramePr>
        <p:xfrm>
          <a:off x="5370393" y="4497606"/>
          <a:ext cx="1018573" cy="1295400"/>
        </p:xfrm>
        <a:graphic>
          <a:graphicData uri="http://schemas.openxmlformats.org/drawingml/2006/table">
            <a:tbl>
              <a:tblPr firstRow="1" bandRow="1">
                <a:tableStyleId>{5C22544A-7EE6-4342-B048-85BDC9FD1C3A}</a:tableStyleId>
              </a:tblPr>
              <a:tblGrid>
                <a:gridCol w="1018573">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87.4 %</a:t>
                      </a:r>
                    </a:p>
                  </a:txBody>
                  <a:tcPr anchor="ctr">
                    <a:solidFill>
                      <a:schemeClr val="accent3">
                        <a:lumMod val="40000"/>
                        <a:lumOff val="60000"/>
                      </a:schemeClr>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42.6 %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86.1 %</a:t>
                      </a:r>
                    </a:p>
                  </a:txBody>
                  <a:tcPr anchor="ctr">
                    <a:solidFill>
                      <a:schemeClr val="accent3">
                        <a:lumMod val="40000"/>
                        <a:lumOff val="60000"/>
                      </a:schemeClr>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87.5 %</a:t>
                      </a:r>
                    </a:p>
                  </a:txBody>
                  <a:tcPr anchor="ctr">
                    <a:solidFill>
                      <a:srgbClr val="EDF4E8"/>
                    </a:solidFill>
                  </a:tcPr>
                </a:tc>
                <a:extLst>
                  <a:ext uri="{0D108BD9-81ED-4DB2-BD59-A6C34878D82A}">
                    <a16:rowId xmlns:a16="http://schemas.microsoft.com/office/drawing/2014/main" val="564272001"/>
                  </a:ext>
                </a:extLst>
              </a:tr>
              <a:tr h="0">
                <a:tc>
                  <a:txBody>
                    <a:bodyPr/>
                    <a:lstStyle/>
                    <a:p>
                      <a:pPr algn="ctr"/>
                      <a:r>
                        <a:rPr lang="en-IN" sz="1100" b="0" dirty="0">
                          <a:solidFill>
                            <a:schemeClr val="tx1"/>
                          </a:solidFill>
                        </a:rPr>
                        <a:t>93.4 %</a:t>
                      </a:r>
                    </a:p>
                  </a:txBody>
                  <a:tcPr anchor="ctr">
                    <a:solidFill>
                      <a:schemeClr val="accent3">
                        <a:lumMod val="40000"/>
                        <a:lumOff val="60000"/>
                      </a:schemeClr>
                    </a:solidFill>
                  </a:tcPr>
                </a:tc>
                <a:extLst>
                  <a:ext uri="{0D108BD9-81ED-4DB2-BD59-A6C34878D82A}">
                    <a16:rowId xmlns:a16="http://schemas.microsoft.com/office/drawing/2014/main" val="668134541"/>
                  </a:ext>
                </a:extLst>
              </a:tr>
            </a:tbl>
          </a:graphicData>
        </a:graphic>
      </p:graphicFrame>
      <p:graphicFrame>
        <p:nvGraphicFramePr>
          <p:cNvPr id="30" name="Table 29">
            <a:extLst>
              <a:ext uri="{FF2B5EF4-FFF2-40B4-BE49-F238E27FC236}">
                <a16:creationId xmlns:a16="http://schemas.microsoft.com/office/drawing/2014/main" id="{C9B6A167-E6B5-48D7-8B34-EFBB7315773E}"/>
              </a:ext>
            </a:extLst>
          </p:cNvPr>
          <p:cNvGraphicFramePr>
            <a:graphicFrameLocks noGrp="1"/>
          </p:cNvGraphicFramePr>
          <p:nvPr>
            <p:extLst>
              <p:ext uri="{D42A27DB-BD31-4B8C-83A1-F6EECF244321}">
                <p14:modId xmlns:p14="http://schemas.microsoft.com/office/powerpoint/2010/main" val="2836777943"/>
              </p:ext>
            </p:extLst>
          </p:nvPr>
        </p:nvGraphicFramePr>
        <p:xfrm>
          <a:off x="2702823" y="1518030"/>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86.0 %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39.7 %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80.5 %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86.6 %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90.2 %</a:t>
                      </a:r>
                    </a:p>
                  </a:txBody>
                  <a:tcPr anchor="ctr">
                    <a:solidFill>
                      <a:srgbClr val="D9E7CD"/>
                    </a:solidFill>
                  </a:tcPr>
                </a:tc>
                <a:extLst>
                  <a:ext uri="{0D108BD9-81ED-4DB2-BD59-A6C34878D82A}">
                    <a16:rowId xmlns:a16="http://schemas.microsoft.com/office/drawing/2014/main" val="1410582729"/>
                  </a:ext>
                </a:extLst>
              </a:tr>
            </a:tbl>
          </a:graphicData>
        </a:graphic>
      </p:graphicFrame>
      <p:graphicFrame>
        <p:nvGraphicFramePr>
          <p:cNvPr id="37" name="Table 36">
            <a:extLst>
              <a:ext uri="{FF2B5EF4-FFF2-40B4-BE49-F238E27FC236}">
                <a16:creationId xmlns:a16="http://schemas.microsoft.com/office/drawing/2014/main" id="{9274CD86-F499-4E90-9590-0BDF8870C224}"/>
              </a:ext>
            </a:extLst>
          </p:cNvPr>
          <p:cNvGraphicFramePr>
            <a:graphicFrameLocks noGrp="1"/>
          </p:cNvGraphicFramePr>
          <p:nvPr>
            <p:extLst>
              <p:ext uri="{D42A27DB-BD31-4B8C-83A1-F6EECF244321}">
                <p14:modId xmlns:p14="http://schemas.microsoft.com/office/powerpoint/2010/main" val="3921747534"/>
              </p:ext>
            </p:extLst>
          </p:nvPr>
        </p:nvGraphicFramePr>
        <p:xfrm>
          <a:off x="1262440" y="1509427"/>
          <a:ext cx="1151251" cy="1295400"/>
        </p:xfrm>
        <a:graphic>
          <a:graphicData uri="http://schemas.openxmlformats.org/drawingml/2006/table">
            <a:tbl>
              <a:tblPr firstRow="1" bandRow="1">
                <a:tableStyleId>{5C22544A-7EE6-4342-B048-85BDC9FD1C3A}</a:tableStyleId>
              </a:tblPr>
              <a:tblGrid>
                <a:gridCol w="1151251">
                  <a:extLst>
                    <a:ext uri="{9D8B030D-6E8A-4147-A177-3AD203B41FA5}">
                      <a16:colId xmlns:a16="http://schemas.microsoft.com/office/drawing/2014/main" val="507211329"/>
                    </a:ext>
                  </a:extLst>
                </a:gridCol>
              </a:tblGrid>
              <a:tr h="0">
                <a:tc>
                  <a:txBody>
                    <a:bodyPr/>
                    <a:lstStyle/>
                    <a:p>
                      <a:r>
                        <a:rPr lang="en-US" sz="1100" b="0" dirty="0">
                          <a:solidFill>
                            <a:schemeClr val="tx1"/>
                          </a:solidFill>
                        </a:rPr>
                        <a:t>Accuracy</a:t>
                      </a:r>
                      <a:endParaRPr lang="en-IN" sz="1100" b="0" dirty="0">
                        <a:solidFill>
                          <a:schemeClr val="tx1"/>
                        </a:solidFill>
                      </a:endParaRPr>
                    </a:p>
                  </a:txBody>
                  <a:tcPr anchor="ctr">
                    <a:solidFill>
                      <a:srgbClr val="D9E7CD"/>
                    </a:solidFill>
                  </a:tcPr>
                </a:tc>
                <a:extLst>
                  <a:ext uri="{0D108BD9-81ED-4DB2-BD59-A6C34878D82A}">
                    <a16:rowId xmlns:a16="http://schemas.microsoft.com/office/drawing/2014/main" val="1040031007"/>
                  </a:ext>
                </a:extLst>
              </a:tr>
              <a:tr h="0">
                <a:tc>
                  <a:txBody>
                    <a:bodyPr/>
                    <a:lstStyle/>
                    <a:p>
                      <a:r>
                        <a:rPr lang="en-US" sz="1100" b="0" dirty="0">
                          <a:solidFill>
                            <a:schemeClr val="tx1"/>
                          </a:solidFill>
                        </a:rPr>
                        <a:t>Precision</a:t>
                      </a:r>
                      <a:endParaRPr lang="en-IN" sz="1100" b="0" dirty="0">
                        <a:solidFill>
                          <a:schemeClr val="tx1"/>
                        </a:solidFill>
                      </a:endParaRPr>
                    </a:p>
                  </a:txBody>
                  <a:tcPr anchor="ctr">
                    <a:solidFill>
                      <a:srgbClr val="EDF4E8"/>
                    </a:solidFill>
                  </a:tcPr>
                </a:tc>
                <a:extLst>
                  <a:ext uri="{0D108BD9-81ED-4DB2-BD59-A6C34878D82A}">
                    <a16:rowId xmlns:a16="http://schemas.microsoft.com/office/drawing/2014/main" val="2843723526"/>
                  </a:ext>
                </a:extLst>
              </a:tr>
              <a:tr h="0">
                <a:tc>
                  <a:txBody>
                    <a:bodyPr/>
                    <a:lstStyle/>
                    <a:p>
                      <a:r>
                        <a:rPr lang="en-US" sz="1100" b="0" dirty="0">
                          <a:solidFill>
                            <a:schemeClr val="tx1"/>
                          </a:solidFill>
                        </a:rPr>
                        <a:t>Recall</a:t>
                      </a:r>
                      <a:endParaRPr lang="en-IN" sz="1100" b="0" dirty="0">
                        <a:solidFill>
                          <a:schemeClr val="tx1"/>
                        </a:solidFill>
                      </a:endParaRPr>
                    </a:p>
                  </a:txBody>
                  <a:tcPr anchor="ctr">
                    <a:solidFill>
                      <a:srgbClr val="D9E7CD"/>
                    </a:solidFill>
                  </a:tcPr>
                </a:tc>
                <a:extLst>
                  <a:ext uri="{0D108BD9-81ED-4DB2-BD59-A6C34878D82A}">
                    <a16:rowId xmlns:a16="http://schemas.microsoft.com/office/drawing/2014/main" val="2224738080"/>
                  </a:ext>
                </a:extLst>
              </a:tr>
              <a:tr h="0">
                <a:tc>
                  <a:txBody>
                    <a:bodyPr/>
                    <a:lstStyle/>
                    <a:p>
                      <a:r>
                        <a:rPr lang="en-US" sz="1100" b="0" dirty="0">
                          <a:solidFill>
                            <a:schemeClr val="tx1"/>
                          </a:solidFill>
                        </a:rPr>
                        <a:t>Specificity</a:t>
                      </a:r>
                      <a:endParaRPr lang="en-IN" sz="1100" b="0" dirty="0">
                        <a:solidFill>
                          <a:schemeClr val="tx1"/>
                        </a:solidFill>
                      </a:endParaRPr>
                    </a:p>
                  </a:txBody>
                  <a:tcPr anchor="ctr">
                    <a:solidFill>
                      <a:srgbClr val="EDF4E8"/>
                    </a:solidFill>
                  </a:tcPr>
                </a:tc>
                <a:extLst>
                  <a:ext uri="{0D108BD9-81ED-4DB2-BD59-A6C34878D82A}">
                    <a16:rowId xmlns:a16="http://schemas.microsoft.com/office/drawing/2014/main" val="2533899778"/>
                  </a:ext>
                </a:extLst>
              </a:tr>
              <a:tr h="0">
                <a:tc>
                  <a:txBody>
                    <a:bodyPr/>
                    <a:lstStyle/>
                    <a:p>
                      <a:r>
                        <a:rPr lang="en-IN" sz="1100" b="0" dirty="0">
                          <a:solidFill>
                            <a:schemeClr val="tx1"/>
                          </a:solidFill>
                        </a:rPr>
                        <a:t>AUC</a:t>
                      </a:r>
                    </a:p>
                  </a:txBody>
                  <a:tcPr anchor="ctr">
                    <a:solidFill>
                      <a:srgbClr val="D9E7CD"/>
                    </a:solidFill>
                  </a:tcPr>
                </a:tc>
                <a:extLst>
                  <a:ext uri="{0D108BD9-81ED-4DB2-BD59-A6C34878D82A}">
                    <a16:rowId xmlns:a16="http://schemas.microsoft.com/office/drawing/2014/main" val="643953065"/>
                  </a:ext>
                </a:extLst>
              </a:tr>
            </a:tbl>
          </a:graphicData>
        </a:graphic>
      </p:graphicFrame>
      <p:sp>
        <p:nvSpPr>
          <p:cNvPr id="39" name="TextBox 38">
            <a:extLst>
              <a:ext uri="{FF2B5EF4-FFF2-40B4-BE49-F238E27FC236}">
                <a16:creationId xmlns:a16="http://schemas.microsoft.com/office/drawing/2014/main" id="{50810833-FEFF-4D00-9CFC-6000ECFC2E88}"/>
              </a:ext>
            </a:extLst>
          </p:cNvPr>
          <p:cNvSpPr txBox="1"/>
          <p:nvPr/>
        </p:nvSpPr>
        <p:spPr>
          <a:xfrm>
            <a:off x="448526" y="2010401"/>
            <a:ext cx="927221" cy="215444"/>
          </a:xfrm>
          <a:prstGeom prst="rect">
            <a:avLst/>
          </a:prstGeom>
          <a:noFill/>
        </p:spPr>
        <p:txBody>
          <a:bodyPr wrap="square" lIns="0" tIns="0" rIns="0" bIns="0" rtlCol="0">
            <a:spAutoFit/>
          </a:bodyPr>
          <a:lstStyle/>
          <a:p>
            <a:pPr algn="ctr">
              <a:spcBef>
                <a:spcPts val="600"/>
              </a:spcBef>
              <a:buSzPct val="100000"/>
            </a:pPr>
            <a:r>
              <a:rPr lang="en-US" sz="1400" i="1" dirty="0">
                <a:solidFill>
                  <a:schemeClr val="accent2"/>
                </a:solidFill>
              </a:rPr>
              <a:t>Train</a:t>
            </a:r>
            <a:endParaRPr lang="en-IN" sz="1400" i="1" dirty="0">
              <a:solidFill>
                <a:schemeClr val="accent2"/>
              </a:solidFill>
            </a:endParaRPr>
          </a:p>
        </p:txBody>
      </p:sp>
      <p:graphicFrame>
        <p:nvGraphicFramePr>
          <p:cNvPr id="40" name="Table 39">
            <a:extLst>
              <a:ext uri="{FF2B5EF4-FFF2-40B4-BE49-F238E27FC236}">
                <a16:creationId xmlns:a16="http://schemas.microsoft.com/office/drawing/2014/main" id="{8E18A60C-BD55-4E49-898A-9BF7B40F869C}"/>
              </a:ext>
            </a:extLst>
          </p:cNvPr>
          <p:cNvGraphicFramePr>
            <a:graphicFrameLocks noGrp="1"/>
          </p:cNvGraphicFramePr>
          <p:nvPr>
            <p:extLst>
              <p:ext uri="{D42A27DB-BD31-4B8C-83A1-F6EECF244321}">
                <p14:modId xmlns:p14="http://schemas.microsoft.com/office/powerpoint/2010/main" val="3885239385"/>
              </p:ext>
            </p:extLst>
          </p:nvPr>
        </p:nvGraphicFramePr>
        <p:xfrm>
          <a:off x="4067200" y="1523550"/>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91.5 %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53.7 %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100.0 %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90.5 %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93.5 %</a:t>
                      </a:r>
                    </a:p>
                  </a:txBody>
                  <a:tcPr anchor="ctr">
                    <a:solidFill>
                      <a:srgbClr val="D9E7CD"/>
                    </a:solidFill>
                  </a:tcPr>
                </a:tc>
                <a:extLst>
                  <a:ext uri="{0D108BD9-81ED-4DB2-BD59-A6C34878D82A}">
                    <a16:rowId xmlns:a16="http://schemas.microsoft.com/office/drawing/2014/main" val="1410582729"/>
                  </a:ext>
                </a:extLst>
              </a:tr>
            </a:tbl>
          </a:graphicData>
        </a:graphic>
      </p:graphicFrame>
      <p:graphicFrame>
        <p:nvGraphicFramePr>
          <p:cNvPr id="51" name="Table 50">
            <a:extLst>
              <a:ext uri="{FF2B5EF4-FFF2-40B4-BE49-F238E27FC236}">
                <a16:creationId xmlns:a16="http://schemas.microsoft.com/office/drawing/2014/main" id="{D9BC1D90-7C4C-4C40-AEC0-54BFC609A546}"/>
              </a:ext>
            </a:extLst>
          </p:cNvPr>
          <p:cNvGraphicFramePr>
            <a:graphicFrameLocks noGrp="1"/>
          </p:cNvGraphicFramePr>
          <p:nvPr>
            <p:extLst>
              <p:ext uri="{D42A27DB-BD31-4B8C-83A1-F6EECF244321}">
                <p14:modId xmlns:p14="http://schemas.microsoft.com/office/powerpoint/2010/main" val="2142779180"/>
              </p:ext>
            </p:extLst>
          </p:nvPr>
        </p:nvGraphicFramePr>
        <p:xfrm>
          <a:off x="5379233" y="1517500"/>
          <a:ext cx="1018574" cy="127131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254262">
                <a:tc>
                  <a:txBody>
                    <a:bodyPr/>
                    <a:lstStyle/>
                    <a:p>
                      <a:pPr algn="ctr" fontAlgn="b"/>
                      <a:r>
                        <a:rPr lang="en-IN" sz="1100" b="0" kern="1200" dirty="0">
                          <a:solidFill>
                            <a:schemeClr val="tx1"/>
                          </a:solidFill>
                          <a:latin typeface="+mn-lt"/>
                          <a:ea typeface="+mn-ea"/>
                          <a:cs typeface="+mn-cs"/>
                        </a:rPr>
                        <a:t>87.4 %</a:t>
                      </a:r>
                    </a:p>
                  </a:txBody>
                  <a:tcPr marL="9525" marR="9525" marT="9525" marB="0" anchor="ctr">
                    <a:solidFill>
                      <a:srgbClr val="D9E7CD"/>
                    </a:solidFill>
                  </a:tcPr>
                </a:tc>
                <a:extLst>
                  <a:ext uri="{0D108BD9-81ED-4DB2-BD59-A6C34878D82A}">
                    <a16:rowId xmlns:a16="http://schemas.microsoft.com/office/drawing/2014/main" val="2843723526"/>
                  </a:ext>
                </a:extLst>
              </a:tr>
              <a:tr h="254262">
                <a:tc>
                  <a:txBody>
                    <a:bodyPr/>
                    <a:lstStyle/>
                    <a:p>
                      <a:pPr algn="ctr" fontAlgn="b"/>
                      <a:r>
                        <a:rPr lang="en-IN" sz="1100" b="0" kern="1200" dirty="0">
                          <a:solidFill>
                            <a:schemeClr val="tx1"/>
                          </a:solidFill>
                          <a:latin typeface="+mn-lt"/>
                          <a:ea typeface="+mn-ea"/>
                          <a:cs typeface="+mn-cs"/>
                        </a:rPr>
                        <a:t>43.2 %</a:t>
                      </a:r>
                    </a:p>
                  </a:txBody>
                  <a:tcPr marL="9525" marR="9525" marT="9525" marB="0" anchor="ctr">
                    <a:solidFill>
                      <a:srgbClr val="EDF4E8"/>
                    </a:solidFill>
                  </a:tcPr>
                </a:tc>
                <a:extLst>
                  <a:ext uri="{0D108BD9-81ED-4DB2-BD59-A6C34878D82A}">
                    <a16:rowId xmlns:a16="http://schemas.microsoft.com/office/drawing/2014/main" val="3890120051"/>
                  </a:ext>
                </a:extLst>
              </a:tr>
              <a:tr h="254262">
                <a:tc>
                  <a:txBody>
                    <a:bodyPr/>
                    <a:lstStyle/>
                    <a:p>
                      <a:pPr algn="ctr" fontAlgn="b"/>
                      <a:r>
                        <a:rPr lang="en-IN" sz="1100" b="0" kern="1200" dirty="0">
                          <a:solidFill>
                            <a:schemeClr val="tx1"/>
                          </a:solidFill>
                          <a:latin typeface="+mn-lt"/>
                          <a:ea typeface="+mn-ea"/>
                          <a:cs typeface="+mn-cs"/>
                        </a:rPr>
                        <a:t>86.2 %</a:t>
                      </a:r>
                    </a:p>
                  </a:txBody>
                  <a:tcPr marL="9525" marR="9525" marT="9525" marB="0" anchor="ctr">
                    <a:solidFill>
                      <a:srgbClr val="D9E7CD"/>
                    </a:solidFill>
                  </a:tcPr>
                </a:tc>
                <a:extLst>
                  <a:ext uri="{0D108BD9-81ED-4DB2-BD59-A6C34878D82A}">
                    <a16:rowId xmlns:a16="http://schemas.microsoft.com/office/drawing/2014/main" val="2224738080"/>
                  </a:ext>
                </a:extLst>
              </a:tr>
              <a:tr h="254262">
                <a:tc>
                  <a:txBody>
                    <a:bodyPr/>
                    <a:lstStyle/>
                    <a:p>
                      <a:pPr algn="ctr" fontAlgn="b"/>
                      <a:r>
                        <a:rPr lang="en-IN" sz="1100" b="0" kern="1200" dirty="0">
                          <a:solidFill>
                            <a:schemeClr val="tx1"/>
                          </a:solidFill>
                          <a:latin typeface="+mn-lt"/>
                          <a:ea typeface="+mn-ea"/>
                          <a:cs typeface="+mn-cs"/>
                        </a:rPr>
                        <a:t>87.6 %</a:t>
                      </a:r>
                    </a:p>
                  </a:txBody>
                  <a:tcPr marL="9525" marR="9525" marT="9525" marB="0" anchor="ctr">
                    <a:solidFill>
                      <a:srgbClr val="EDF4E8"/>
                    </a:solidFill>
                  </a:tcPr>
                </a:tc>
                <a:extLst>
                  <a:ext uri="{0D108BD9-81ED-4DB2-BD59-A6C34878D82A}">
                    <a16:rowId xmlns:a16="http://schemas.microsoft.com/office/drawing/2014/main" val="555545548"/>
                  </a:ext>
                </a:extLst>
              </a:tr>
              <a:tr h="254262">
                <a:tc>
                  <a:txBody>
                    <a:bodyPr/>
                    <a:lstStyle/>
                    <a:p>
                      <a:pPr algn="ctr" fontAlgn="b"/>
                      <a:r>
                        <a:rPr lang="en-IN" sz="1100" b="0" kern="1200" dirty="0">
                          <a:solidFill>
                            <a:schemeClr val="tx1"/>
                          </a:solidFill>
                          <a:latin typeface="+mn-lt"/>
                          <a:ea typeface="+mn-ea"/>
                          <a:cs typeface="+mn-cs"/>
                        </a:rPr>
                        <a:t>93.4 %</a:t>
                      </a:r>
                    </a:p>
                  </a:txBody>
                  <a:tcPr marL="9525" marR="9525" marT="9525" marB="0" anchor="ctr">
                    <a:solidFill>
                      <a:srgbClr val="D9E7CD"/>
                    </a:solidFill>
                  </a:tcPr>
                </a:tc>
                <a:extLst>
                  <a:ext uri="{0D108BD9-81ED-4DB2-BD59-A6C34878D82A}">
                    <a16:rowId xmlns:a16="http://schemas.microsoft.com/office/drawing/2014/main" val="1410582729"/>
                  </a:ext>
                </a:extLst>
              </a:tr>
            </a:tbl>
          </a:graphicData>
        </a:graphic>
      </p:graphicFrame>
      <p:graphicFrame>
        <p:nvGraphicFramePr>
          <p:cNvPr id="52" name="Table 51">
            <a:extLst>
              <a:ext uri="{FF2B5EF4-FFF2-40B4-BE49-F238E27FC236}">
                <a16:creationId xmlns:a16="http://schemas.microsoft.com/office/drawing/2014/main" id="{DCBF0B3D-9870-4435-9C88-5975B056B0E0}"/>
              </a:ext>
            </a:extLst>
          </p:cNvPr>
          <p:cNvGraphicFramePr>
            <a:graphicFrameLocks noGrp="1"/>
          </p:cNvGraphicFramePr>
          <p:nvPr>
            <p:extLst>
              <p:ext uri="{D42A27DB-BD31-4B8C-83A1-F6EECF244321}">
                <p14:modId xmlns:p14="http://schemas.microsoft.com/office/powerpoint/2010/main" val="2593861708"/>
              </p:ext>
            </p:extLst>
          </p:nvPr>
        </p:nvGraphicFramePr>
        <p:xfrm>
          <a:off x="6724611" y="1535403"/>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86.3 %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40.7 %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84.8 %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86.4 %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91.9 %</a:t>
                      </a:r>
                    </a:p>
                  </a:txBody>
                  <a:tcPr anchor="ctr">
                    <a:solidFill>
                      <a:srgbClr val="D9E7CD"/>
                    </a:solidFill>
                  </a:tcPr>
                </a:tc>
                <a:extLst>
                  <a:ext uri="{0D108BD9-81ED-4DB2-BD59-A6C34878D82A}">
                    <a16:rowId xmlns:a16="http://schemas.microsoft.com/office/drawing/2014/main" val="1410582729"/>
                  </a:ext>
                </a:extLst>
              </a:tr>
            </a:tbl>
          </a:graphicData>
        </a:graphic>
      </p:graphicFrame>
      <p:sp>
        <p:nvSpPr>
          <p:cNvPr id="31" name="Oval 30">
            <a:extLst>
              <a:ext uri="{FF2B5EF4-FFF2-40B4-BE49-F238E27FC236}">
                <a16:creationId xmlns:a16="http://schemas.microsoft.com/office/drawing/2014/main" id="{9E17FA52-4D0B-402D-B42F-686BDBE058E2}"/>
              </a:ext>
            </a:extLst>
          </p:cNvPr>
          <p:cNvSpPr/>
          <p:nvPr/>
        </p:nvSpPr>
        <p:spPr bwMode="gray">
          <a:xfrm>
            <a:off x="7822033" y="796292"/>
            <a:ext cx="1141854" cy="527405"/>
          </a:xfrm>
          <a:prstGeom prst="ellipse">
            <a:avLst/>
          </a:prstGeom>
          <a:solidFill>
            <a:schemeClr val="bg1">
              <a:lumMod val="95000"/>
            </a:schemeClr>
          </a:solidFill>
          <a:ln w="19050" algn="ctr">
            <a:solidFill>
              <a:srgbClr val="92D050"/>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b="1" i="1" dirty="0"/>
              <a:t>AutoML</a:t>
            </a:r>
            <a:endParaRPr lang="en-IN" sz="1000" b="1" i="1" dirty="0"/>
          </a:p>
        </p:txBody>
      </p:sp>
      <p:graphicFrame>
        <p:nvGraphicFramePr>
          <p:cNvPr id="41" name="Table 40">
            <a:extLst>
              <a:ext uri="{FF2B5EF4-FFF2-40B4-BE49-F238E27FC236}">
                <a16:creationId xmlns:a16="http://schemas.microsoft.com/office/drawing/2014/main" id="{A0116E18-A005-41F3-92E0-05F674256D1B}"/>
              </a:ext>
            </a:extLst>
          </p:cNvPr>
          <p:cNvGraphicFramePr>
            <a:graphicFrameLocks noGrp="1"/>
          </p:cNvGraphicFramePr>
          <p:nvPr>
            <p:extLst>
              <p:ext uri="{D42A27DB-BD31-4B8C-83A1-F6EECF244321}">
                <p14:modId xmlns:p14="http://schemas.microsoft.com/office/powerpoint/2010/main" val="2469208866"/>
              </p:ext>
            </p:extLst>
          </p:nvPr>
        </p:nvGraphicFramePr>
        <p:xfrm>
          <a:off x="7866668" y="3016462"/>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90.7 %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51.8 %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79.8 %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91.9 %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93.2 %</a:t>
                      </a:r>
                    </a:p>
                  </a:txBody>
                  <a:tcPr anchor="ctr">
                    <a:solidFill>
                      <a:srgbClr val="D9E7CD"/>
                    </a:solidFill>
                  </a:tcPr>
                </a:tc>
                <a:extLst>
                  <a:ext uri="{0D108BD9-81ED-4DB2-BD59-A6C34878D82A}">
                    <a16:rowId xmlns:a16="http://schemas.microsoft.com/office/drawing/2014/main" val="1410582729"/>
                  </a:ext>
                </a:extLst>
              </a:tr>
            </a:tbl>
          </a:graphicData>
        </a:graphic>
      </p:graphicFrame>
      <p:graphicFrame>
        <p:nvGraphicFramePr>
          <p:cNvPr id="43" name="Table 42">
            <a:extLst>
              <a:ext uri="{FF2B5EF4-FFF2-40B4-BE49-F238E27FC236}">
                <a16:creationId xmlns:a16="http://schemas.microsoft.com/office/drawing/2014/main" id="{57E4EFC6-739D-4E0A-86D0-3A0C23CCC3CC}"/>
              </a:ext>
            </a:extLst>
          </p:cNvPr>
          <p:cNvGraphicFramePr>
            <a:graphicFrameLocks noGrp="1"/>
          </p:cNvGraphicFramePr>
          <p:nvPr>
            <p:extLst>
              <p:ext uri="{D42A27DB-BD31-4B8C-83A1-F6EECF244321}">
                <p14:modId xmlns:p14="http://schemas.microsoft.com/office/powerpoint/2010/main" val="1012341548"/>
              </p:ext>
            </p:extLst>
          </p:nvPr>
        </p:nvGraphicFramePr>
        <p:xfrm>
          <a:off x="7866893" y="4489290"/>
          <a:ext cx="1018573" cy="1295400"/>
        </p:xfrm>
        <a:graphic>
          <a:graphicData uri="http://schemas.openxmlformats.org/drawingml/2006/table">
            <a:tbl>
              <a:tblPr firstRow="1" bandRow="1">
                <a:tableStyleId>{5C22544A-7EE6-4342-B048-85BDC9FD1C3A}</a:tableStyleId>
              </a:tblPr>
              <a:tblGrid>
                <a:gridCol w="1018573">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91.2 %</a:t>
                      </a:r>
                    </a:p>
                  </a:txBody>
                  <a:tcPr anchor="ctr">
                    <a:solidFill>
                      <a:schemeClr val="accent3">
                        <a:lumMod val="40000"/>
                        <a:lumOff val="60000"/>
                      </a:schemeClr>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53.3 %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79.1 %</a:t>
                      </a:r>
                    </a:p>
                  </a:txBody>
                  <a:tcPr anchor="ctr">
                    <a:solidFill>
                      <a:schemeClr val="accent3">
                        <a:lumMod val="40000"/>
                        <a:lumOff val="60000"/>
                      </a:schemeClr>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92.5 %</a:t>
                      </a:r>
                    </a:p>
                  </a:txBody>
                  <a:tcPr anchor="ctr">
                    <a:solidFill>
                      <a:srgbClr val="EDF4E8"/>
                    </a:solidFill>
                  </a:tcPr>
                </a:tc>
                <a:extLst>
                  <a:ext uri="{0D108BD9-81ED-4DB2-BD59-A6C34878D82A}">
                    <a16:rowId xmlns:a16="http://schemas.microsoft.com/office/drawing/2014/main" val="564272001"/>
                  </a:ext>
                </a:extLst>
              </a:tr>
              <a:tr h="0">
                <a:tc>
                  <a:txBody>
                    <a:bodyPr/>
                    <a:lstStyle/>
                    <a:p>
                      <a:pPr algn="ctr"/>
                      <a:r>
                        <a:rPr lang="en-IN" sz="1100" b="0" dirty="0">
                          <a:solidFill>
                            <a:schemeClr val="tx1"/>
                          </a:solidFill>
                        </a:rPr>
                        <a:t>92.1 %</a:t>
                      </a:r>
                    </a:p>
                  </a:txBody>
                  <a:tcPr anchor="ctr">
                    <a:solidFill>
                      <a:schemeClr val="accent3">
                        <a:lumMod val="40000"/>
                        <a:lumOff val="60000"/>
                      </a:schemeClr>
                    </a:solidFill>
                  </a:tcPr>
                </a:tc>
                <a:extLst>
                  <a:ext uri="{0D108BD9-81ED-4DB2-BD59-A6C34878D82A}">
                    <a16:rowId xmlns:a16="http://schemas.microsoft.com/office/drawing/2014/main" val="668134541"/>
                  </a:ext>
                </a:extLst>
              </a:tr>
            </a:tbl>
          </a:graphicData>
        </a:graphic>
      </p:graphicFrame>
      <p:graphicFrame>
        <p:nvGraphicFramePr>
          <p:cNvPr id="53" name="Table 52">
            <a:extLst>
              <a:ext uri="{FF2B5EF4-FFF2-40B4-BE49-F238E27FC236}">
                <a16:creationId xmlns:a16="http://schemas.microsoft.com/office/drawing/2014/main" id="{7321C1BE-E44E-4F6E-9340-FDB3371C1CAC}"/>
              </a:ext>
            </a:extLst>
          </p:cNvPr>
          <p:cNvGraphicFramePr>
            <a:graphicFrameLocks noGrp="1"/>
          </p:cNvGraphicFramePr>
          <p:nvPr>
            <p:extLst>
              <p:ext uri="{D42A27DB-BD31-4B8C-83A1-F6EECF244321}">
                <p14:modId xmlns:p14="http://schemas.microsoft.com/office/powerpoint/2010/main" val="2431368538"/>
              </p:ext>
            </p:extLst>
          </p:nvPr>
        </p:nvGraphicFramePr>
        <p:xfrm>
          <a:off x="7883673" y="1535403"/>
          <a:ext cx="1018574" cy="1295400"/>
        </p:xfrm>
        <a:graphic>
          <a:graphicData uri="http://schemas.openxmlformats.org/drawingml/2006/table">
            <a:tbl>
              <a:tblPr firstRow="1" bandRow="1">
                <a:tableStyleId>{5C22544A-7EE6-4342-B048-85BDC9FD1C3A}</a:tableStyleId>
              </a:tblPr>
              <a:tblGrid>
                <a:gridCol w="1018574">
                  <a:extLst>
                    <a:ext uri="{9D8B030D-6E8A-4147-A177-3AD203B41FA5}">
                      <a16:colId xmlns:a16="http://schemas.microsoft.com/office/drawing/2014/main" val="26222054"/>
                    </a:ext>
                  </a:extLst>
                </a:gridCol>
              </a:tblGrid>
              <a:tr h="0">
                <a:tc>
                  <a:txBody>
                    <a:bodyPr/>
                    <a:lstStyle/>
                    <a:p>
                      <a:pPr algn="ctr"/>
                      <a:r>
                        <a:rPr lang="en-IN" sz="1100" b="0" dirty="0">
                          <a:solidFill>
                            <a:schemeClr val="tx1"/>
                          </a:solidFill>
                        </a:rPr>
                        <a:t>93.9 %</a:t>
                      </a:r>
                    </a:p>
                  </a:txBody>
                  <a:tcPr anchor="ctr">
                    <a:solidFill>
                      <a:srgbClr val="D9E7CD"/>
                    </a:solidFill>
                  </a:tcPr>
                </a:tc>
                <a:extLst>
                  <a:ext uri="{0D108BD9-81ED-4DB2-BD59-A6C34878D82A}">
                    <a16:rowId xmlns:a16="http://schemas.microsoft.com/office/drawing/2014/main" val="2843723526"/>
                  </a:ext>
                </a:extLst>
              </a:tr>
              <a:tr h="0">
                <a:tc>
                  <a:txBody>
                    <a:bodyPr/>
                    <a:lstStyle/>
                    <a:p>
                      <a:pPr algn="ctr"/>
                      <a:r>
                        <a:rPr lang="en-IN" sz="1100" b="0" dirty="0">
                          <a:solidFill>
                            <a:schemeClr val="tx1"/>
                          </a:solidFill>
                        </a:rPr>
                        <a:t>70.8 %</a:t>
                      </a:r>
                    </a:p>
                  </a:txBody>
                  <a:tcPr anchor="ctr">
                    <a:solidFill>
                      <a:srgbClr val="EDF4E8"/>
                    </a:solidFill>
                  </a:tcPr>
                </a:tc>
                <a:extLst>
                  <a:ext uri="{0D108BD9-81ED-4DB2-BD59-A6C34878D82A}">
                    <a16:rowId xmlns:a16="http://schemas.microsoft.com/office/drawing/2014/main" val="3890120051"/>
                  </a:ext>
                </a:extLst>
              </a:tr>
              <a:tr h="0">
                <a:tc>
                  <a:txBody>
                    <a:bodyPr/>
                    <a:lstStyle/>
                    <a:p>
                      <a:pPr algn="ctr"/>
                      <a:r>
                        <a:rPr lang="en-IN" sz="1100" b="0" dirty="0">
                          <a:solidFill>
                            <a:schemeClr val="tx1"/>
                          </a:solidFill>
                        </a:rPr>
                        <a:t>66.8 %</a:t>
                      </a:r>
                    </a:p>
                  </a:txBody>
                  <a:tcPr anchor="ctr">
                    <a:solidFill>
                      <a:srgbClr val="D9E7CD"/>
                    </a:solidFill>
                  </a:tcPr>
                </a:tc>
                <a:extLst>
                  <a:ext uri="{0D108BD9-81ED-4DB2-BD59-A6C34878D82A}">
                    <a16:rowId xmlns:a16="http://schemas.microsoft.com/office/drawing/2014/main" val="2224738080"/>
                  </a:ext>
                </a:extLst>
              </a:tr>
              <a:tr h="0">
                <a:tc>
                  <a:txBody>
                    <a:bodyPr/>
                    <a:lstStyle/>
                    <a:p>
                      <a:pPr algn="ctr"/>
                      <a:r>
                        <a:rPr lang="en-IN" sz="1100" b="0" dirty="0">
                          <a:solidFill>
                            <a:schemeClr val="tx1"/>
                          </a:solidFill>
                        </a:rPr>
                        <a:t>96.9 %</a:t>
                      </a:r>
                    </a:p>
                  </a:txBody>
                  <a:tcPr anchor="ctr">
                    <a:solidFill>
                      <a:srgbClr val="EDF4E8"/>
                    </a:solidFill>
                  </a:tcPr>
                </a:tc>
                <a:extLst>
                  <a:ext uri="{0D108BD9-81ED-4DB2-BD59-A6C34878D82A}">
                    <a16:rowId xmlns:a16="http://schemas.microsoft.com/office/drawing/2014/main" val="555545548"/>
                  </a:ext>
                </a:extLst>
              </a:tr>
              <a:tr h="0">
                <a:tc>
                  <a:txBody>
                    <a:bodyPr/>
                    <a:lstStyle/>
                    <a:p>
                      <a:pPr algn="ctr"/>
                      <a:r>
                        <a:rPr lang="en-IN" sz="1100" b="0" dirty="0">
                          <a:solidFill>
                            <a:schemeClr val="tx1"/>
                          </a:solidFill>
                        </a:rPr>
                        <a:t>93.2 %</a:t>
                      </a:r>
                    </a:p>
                  </a:txBody>
                  <a:tcPr anchor="ctr">
                    <a:solidFill>
                      <a:srgbClr val="D9E7CD"/>
                    </a:solidFill>
                  </a:tcPr>
                </a:tc>
                <a:extLst>
                  <a:ext uri="{0D108BD9-81ED-4DB2-BD59-A6C34878D82A}">
                    <a16:rowId xmlns:a16="http://schemas.microsoft.com/office/drawing/2014/main" val="1410582729"/>
                  </a:ext>
                </a:extLst>
              </a:tr>
            </a:tbl>
          </a:graphicData>
        </a:graphic>
      </p:graphicFrame>
      <p:sp>
        <p:nvSpPr>
          <p:cNvPr id="3" name="Rectangle 2">
            <a:extLst>
              <a:ext uri="{FF2B5EF4-FFF2-40B4-BE49-F238E27FC236}">
                <a16:creationId xmlns:a16="http://schemas.microsoft.com/office/drawing/2014/main" id="{21543355-5DF5-4320-B819-4BBD44CFFA90}"/>
              </a:ext>
            </a:extLst>
          </p:cNvPr>
          <p:cNvSpPr/>
          <p:nvPr/>
        </p:nvSpPr>
        <p:spPr>
          <a:xfrm>
            <a:off x="9289290" y="1511935"/>
            <a:ext cx="2747155" cy="3170099"/>
          </a:xfrm>
          <a:prstGeom prst="rect">
            <a:avLst/>
          </a:prstGeom>
        </p:spPr>
        <p:txBody>
          <a:bodyPr wrap="square">
            <a:spAutoFit/>
          </a:bodyPr>
          <a:lstStyle/>
          <a:p>
            <a:pPr marL="0" lvl="1">
              <a:buClr>
                <a:srgbClr val="006699"/>
              </a:buClr>
            </a:pPr>
            <a:r>
              <a:rPr lang="en-US" altLang="en-US" sz="1000" b="1" i="1" dirty="0"/>
              <a:t>Accuracy </a:t>
            </a:r>
            <a:r>
              <a:rPr lang="en-US" altLang="en-US" sz="1000" i="1" dirty="0"/>
              <a:t>–   </a:t>
            </a:r>
            <a:r>
              <a:rPr lang="en-US" altLang="en-US" sz="1000" dirty="0"/>
              <a:t>It is the </a:t>
            </a:r>
            <a:r>
              <a:rPr lang="en-US" sz="1000" dirty="0"/>
              <a:t>percent of correct classifications obtained through predictive modeling exercise.</a:t>
            </a:r>
          </a:p>
          <a:p>
            <a:pPr marL="0" lvl="1">
              <a:buClr>
                <a:srgbClr val="006699"/>
              </a:buClr>
            </a:pPr>
            <a:endParaRPr lang="en-US" altLang="en-US" sz="1000" b="1" i="1" dirty="0"/>
          </a:p>
          <a:p>
            <a:pPr marL="0" lvl="1">
              <a:buClr>
                <a:srgbClr val="006699"/>
              </a:buClr>
            </a:pPr>
            <a:r>
              <a:rPr lang="en-US" altLang="en-US" sz="1000" b="1" i="1" dirty="0"/>
              <a:t>Precision </a:t>
            </a:r>
            <a:r>
              <a:rPr lang="en-US" altLang="en-US" sz="1000" i="1" dirty="0"/>
              <a:t>–   </a:t>
            </a:r>
            <a:r>
              <a:rPr lang="en-US" altLang="en-US" sz="1000" dirty="0"/>
              <a:t>It is the proportion of predicted churners that turn out to be actual churners.</a:t>
            </a:r>
            <a:endParaRPr lang="en-US" altLang="en-US" sz="1000" b="1" i="1" dirty="0"/>
          </a:p>
          <a:p>
            <a:pPr marL="0" lvl="1">
              <a:buClr>
                <a:srgbClr val="006699"/>
              </a:buClr>
            </a:pPr>
            <a:endParaRPr lang="en-US" altLang="en-US" sz="1000" b="1" i="1" dirty="0"/>
          </a:p>
          <a:p>
            <a:pPr marL="0" lvl="1">
              <a:buClr>
                <a:srgbClr val="006699"/>
              </a:buClr>
            </a:pPr>
            <a:r>
              <a:rPr lang="en-US" altLang="en-US" sz="1000" b="1" i="1" dirty="0"/>
              <a:t>Recall</a:t>
            </a:r>
            <a:r>
              <a:rPr lang="en-US" altLang="en-US" sz="1000" i="1" dirty="0"/>
              <a:t> – </a:t>
            </a:r>
            <a:r>
              <a:rPr lang="en-US" altLang="en-US" sz="1000" dirty="0"/>
              <a:t>It is the proportion of actual churners that were predicted to be churners. </a:t>
            </a:r>
          </a:p>
          <a:p>
            <a:pPr marL="0" lvl="1">
              <a:buClr>
                <a:srgbClr val="006699"/>
              </a:buClr>
            </a:pPr>
            <a:endParaRPr lang="en-US" altLang="en-US" sz="1000" b="1" i="1" dirty="0"/>
          </a:p>
          <a:p>
            <a:pPr marL="0" lvl="1">
              <a:buClr>
                <a:srgbClr val="006699"/>
              </a:buClr>
            </a:pPr>
            <a:r>
              <a:rPr lang="en-US" altLang="en-US" sz="1000" b="1" i="1" dirty="0"/>
              <a:t>Specificity </a:t>
            </a:r>
            <a:r>
              <a:rPr lang="en-US" altLang="en-US" sz="1000" i="1" dirty="0"/>
              <a:t> – </a:t>
            </a:r>
            <a:r>
              <a:rPr lang="en-US" altLang="en-US" sz="1000" dirty="0"/>
              <a:t>It is the proportion of actual non churners that were predicted to be non churners. </a:t>
            </a:r>
          </a:p>
          <a:p>
            <a:pPr marL="0" lvl="1">
              <a:buClr>
                <a:srgbClr val="006699"/>
              </a:buClr>
            </a:pPr>
            <a:endParaRPr lang="en-US" altLang="en-US" sz="1000" b="1" i="1" dirty="0"/>
          </a:p>
          <a:p>
            <a:pPr marL="0" lvl="1">
              <a:buClr>
                <a:srgbClr val="006699"/>
              </a:buClr>
            </a:pPr>
            <a:r>
              <a:rPr lang="en-US" altLang="en-US" sz="1000" b="1" i="1" dirty="0"/>
              <a:t>AUC – </a:t>
            </a:r>
            <a:r>
              <a:rPr lang="en-US" sz="1000" dirty="0"/>
              <a:t>It is referred as an index of accuracy, higher the area under the curve better prediction power model has</a:t>
            </a:r>
          </a:p>
        </p:txBody>
      </p:sp>
    </p:spTree>
    <p:extLst>
      <p:ext uri="{BB962C8B-B14F-4D97-AF65-F5344CB8AC3E}">
        <p14:creationId xmlns:p14="http://schemas.microsoft.com/office/powerpoint/2010/main" val="297123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own Arrow 8">
            <a:extLst>
              <a:ext uri="{FF2B5EF4-FFF2-40B4-BE49-F238E27FC236}">
                <a16:creationId xmlns:a16="http://schemas.microsoft.com/office/drawing/2014/main" id="{BF1991F5-5F24-4592-827A-BF4B85F09182}"/>
              </a:ext>
            </a:extLst>
          </p:cNvPr>
          <p:cNvSpPr/>
          <p:nvPr/>
        </p:nvSpPr>
        <p:spPr bwMode="gray">
          <a:xfrm>
            <a:off x="1525590" y="1241860"/>
            <a:ext cx="653875" cy="2878057"/>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aphicFrame>
        <p:nvGraphicFramePr>
          <p:cNvPr id="3" name="Table 18">
            <a:extLst>
              <a:ext uri="{FF2B5EF4-FFF2-40B4-BE49-F238E27FC236}">
                <a16:creationId xmlns:a16="http://schemas.microsoft.com/office/drawing/2014/main" id="{9839438D-FB2A-4716-8C19-60F7D924157C}"/>
              </a:ext>
            </a:extLst>
          </p:cNvPr>
          <p:cNvGraphicFramePr>
            <a:graphicFrameLocks noGrp="1"/>
          </p:cNvGraphicFramePr>
          <p:nvPr>
            <p:extLst>
              <p:ext uri="{D42A27DB-BD31-4B8C-83A1-F6EECF244321}">
                <p14:modId xmlns:p14="http://schemas.microsoft.com/office/powerpoint/2010/main" val="2570467831"/>
              </p:ext>
            </p:extLst>
          </p:nvPr>
        </p:nvGraphicFramePr>
        <p:xfrm>
          <a:off x="2200142" y="1042983"/>
          <a:ext cx="7973104" cy="3128216"/>
        </p:xfrm>
        <a:graphic>
          <a:graphicData uri="http://schemas.openxmlformats.org/drawingml/2006/table">
            <a:tbl>
              <a:tblPr firstRow="1" bandRow="1">
                <a:tableStyleId>{5C22544A-7EE6-4342-B048-85BDC9FD1C3A}</a:tableStyleId>
              </a:tblPr>
              <a:tblGrid>
                <a:gridCol w="996638">
                  <a:extLst>
                    <a:ext uri="{9D8B030D-6E8A-4147-A177-3AD203B41FA5}">
                      <a16:colId xmlns:a16="http://schemas.microsoft.com/office/drawing/2014/main" val="4231487373"/>
                    </a:ext>
                  </a:extLst>
                </a:gridCol>
                <a:gridCol w="996638">
                  <a:extLst>
                    <a:ext uri="{9D8B030D-6E8A-4147-A177-3AD203B41FA5}">
                      <a16:colId xmlns:a16="http://schemas.microsoft.com/office/drawing/2014/main" val="2735210562"/>
                    </a:ext>
                  </a:extLst>
                </a:gridCol>
                <a:gridCol w="996638">
                  <a:extLst>
                    <a:ext uri="{9D8B030D-6E8A-4147-A177-3AD203B41FA5}">
                      <a16:colId xmlns:a16="http://schemas.microsoft.com/office/drawing/2014/main" val="552299766"/>
                    </a:ext>
                  </a:extLst>
                </a:gridCol>
                <a:gridCol w="996638">
                  <a:extLst>
                    <a:ext uri="{9D8B030D-6E8A-4147-A177-3AD203B41FA5}">
                      <a16:colId xmlns:a16="http://schemas.microsoft.com/office/drawing/2014/main" val="3698987696"/>
                    </a:ext>
                  </a:extLst>
                </a:gridCol>
                <a:gridCol w="996638">
                  <a:extLst>
                    <a:ext uri="{9D8B030D-6E8A-4147-A177-3AD203B41FA5}">
                      <a16:colId xmlns:a16="http://schemas.microsoft.com/office/drawing/2014/main" val="739995754"/>
                    </a:ext>
                  </a:extLst>
                </a:gridCol>
                <a:gridCol w="996638">
                  <a:extLst>
                    <a:ext uri="{9D8B030D-6E8A-4147-A177-3AD203B41FA5}">
                      <a16:colId xmlns:a16="http://schemas.microsoft.com/office/drawing/2014/main" val="2338095234"/>
                    </a:ext>
                  </a:extLst>
                </a:gridCol>
                <a:gridCol w="996638">
                  <a:extLst>
                    <a:ext uri="{9D8B030D-6E8A-4147-A177-3AD203B41FA5}">
                      <a16:colId xmlns:a16="http://schemas.microsoft.com/office/drawing/2014/main" val="2178028218"/>
                    </a:ext>
                  </a:extLst>
                </a:gridCol>
                <a:gridCol w="996638">
                  <a:extLst>
                    <a:ext uri="{9D8B030D-6E8A-4147-A177-3AD203B41FA5}">
                      <a16:colId xmlns:a16="http://schemas.microsoft.com/office/drawing/2014/main" val="1609747287"/>
                    </a:ext>
                  </a:extLst>
                </a:gridCol>
              </a:tblGrid>
              <a:tr h="284909">
                <a:tc>
                  <a:txBody>
                    <a:bodyPr/>
                    <a:lstStyle/>
                    <a:p>
                      <a:pPr algn="ctr" rtl="0" fontAlgn="b"/>
                      <a:r>
                        <a:rPr lang="en-US" sz="1100" b="1" i="0" u="none" strike="noStrike" dirty="0">
                          <a:solidFill>
                            <a:srgbClr val="000000"/>
                          </a:solidFill>
                          <a:effectLst/>
                          <a:latin typeface="Calibri" panose="020F0502020204030204" pitchFamily="34" charset="0"/>
                        </a:rPr>
                        <a:t>Decile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Total Base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Total Churners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Cumulative Churn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dirty="0">
                          <a:solidFill>
                            <a:srgbClr val="000000"/>
                          </a:solidFill>
                          <a:effectLst/>
                          <a:latin typeface="Calibri" panose="020F0502020204030204" pitchFamily="34" charset="0"/>
                        </a:rPr>
                        <a:t>Cumulative Churn % / Recall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dirty="0">
                          <a:solidFill>
                            <a:srgbClr val="000000"/>
                          </a:solidFill>
                          <a:effectLst/>
                          <a:latin typeface="Calibri" panose="020F0502020204030204" pitchFamily="34" charset="0"/>
                        </a:rPr>
                        <a:t>Lift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KS Statistics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Precision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2196007"/>
                  </a:ext>
                </a:extLst>
              </a:tr>
              <a:tr h="253326">
                <a:tc>
                  <a:txBody>
                    <a:bodyPr/>
                    <a:lstStyle/>
                    <a:p>
                      <a:pPr algn="ctr" fontAlgn="b"/>
                      <a:r>
                        <a:rPr lang="en-US" sz="1100" b="0" i="0" u="none" strike="noStrike">
                          <a:solidFill>
                            <a:srgbClr val="000000"/>
                          </a:solidFill>
                          <a:effectLst/>
                          <a:latin typeface="Calibri" panose="020F0502020204030204" pitchFamily="34" charset="0"/>
                        </a:rPr>
                        <a:t>D1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        581,228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400,965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400,965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71.0%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7.1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67.6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68.9%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46375535"/>
                  </a:ext>
                </a:extLst>
              </a:tr>
              <a:tr h="253326">
                <a:tc>
                  <a:txBody>
                    <a:bodyPr/>
                    <a:lstStyle/>
                    <a:p>
                      <a:pPr algn="ctr" fontAlgn="b"/>
                      <a:r>
                        <a:rPr lang="en-US" sz="1100" b="0" i="0" u="none" strike="noStrike">
                          <a:solidFill>
                            <a:srgbClr val="000000"/>
                          </a:solidFill>
                          <a:effectLst/>
                          <a:latin typeface="Calibri" panose="020F0502020204030204" pitchFamily="34" charset="0"/>
                        </a:rPr>
                        <a:t>D2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581,228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86,898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487,863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86.4%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4.3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73.5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41.9%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02313016"/>
                  </a:ext>
                </a:extLst>
              </a:tr>
              <a:tr h="253326">
                <a:tc>
                  <a:txBody>
                    <a:bodyPr/>
                    <a:lstStyle/>
                    <a:p>
                      <a:pPr algn="ctr" fontAlgn="b"/>
                      <a:r>
                        <a:rPr lang="en-US" sz="1100" b="0" i="0" u="none" strike="noStrike">
                          <a:solidFill>
                            <a:srgbClr val="000000"/>
                          </a:solidFill>
                          <a:effectLst/>
                          <a:latin typeface="Calibri" panose="020F0502020204030204" pitchFamily="34" charset="0"/>
                        </a:rPr>
                        <a:t>D3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27,658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515,521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67.9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29.5%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157812"/>
                  </a:ext>
                </a:extLst>
              </a:tr>
              <a:tr h="253326">
                <a:tc>
                  <a:txBody>
                    <a:bodyPr/>
                    <a:lstStyle/>
                    <a:p>
                      <a:pPr algn="ctr" fontAlgn="b"/>
                      <a:r>
                        <a:rPr lang="en-US" sz="1100" b="0" i="0" u="none" strike="noStrike">
                          <a:solidFill>
                            <a:srgbClr val="000000"/>
                          </a:solidFill>
                          <a:effectLst/>
                          <a:latin typeface="Calibri" panose="020F0502020204030204" pitchFamily="34" charset="0"/>
                        </a:rPr>
                        <a:t>D4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15,441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530,962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94.0%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59.8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22.8%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6076154"/>
                  </a:ext>
                </a:extLst>
              </a:tr>
              <a:tr h="253326">
                <a:tc>
                  <a:txBody>
                    <a:bodyPr/>
                    <a:lstStyle/>
                    <a:p>
                      <a:pPr algn="ctr" fontAlgn="b"/>
                      <a:r>
                        <a:rPr lang="en-US" sz="1100" b="0" i="0" u="none" strike="noStrike">
                          <a:solidFill>
                            <a:srgbClr val="000000"/>
                          </a:solidFill>
                          <a:effectLst/>
                          <a:latin typeface="Calibri" panose="020F0502020204030204" pitchFamily="34" charset="0"/>
                        </a:rPr>
                        <a:t>D5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10,853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541,815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95.9%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18.6%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516322"/>
                  </a:ext>
                </a:extLst>
              </a:tr>
              <a:tr h="253326">
                <a:tc>
                  <a:txBody>
                    <a:bodyPr/>
                    <a:lstStyle/>
                    <a:p>
                      <a:pPr algn="ctr" fontAlgn="b"/>
                      <a:r>
                        <a:rPr lang="en-US" sz="1100" b="0" i="0" u="none" strike="noStrike">
                          <a:solidFill>
                            <a:srgbClr val="000000"/>
                          </a:solidFill>
                          <a:effectLst/>
                          <a:latin typeface="Calibri" panose="020F0502020204030204" pitchFamily="34" charset="0"/>
                        </a:rPr>
                        <a:t>D6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8,363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550,178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97.4%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15.7%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6179649"/>
                  </a:ext>
                </a:extLst>
              </a:tr>
              <a:tr h="253326">
                <a:tc>
                  <a:txBody>
                    <a:bodyPr/>
                    <a:lstStyle/>
                    <a:p>
                      <a:pPr algn="ctr" fontAlgn="b"/>
                      <a:r>
                        <a:rPr lang="en-US" sz="1100" b="0" i="0" u="none" strike="noStrike">
                          <a:solidFill>
                            <a:srgbClr val="000000"/>
                          </a:solidFill>
                          <a:effectLst/>
                          <a:latin typeface="Calibri" panose="020F0502020204030204" pitchFamily="34" charset="0"/>
                        </a:rPr>
                        <a:t>D7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6,182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556,360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98.5%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13.6%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3971291"/>
                  </a:ext>
                </a:extLst>
              </a:tr>
              <a:tr h="253326">
                <a:tc>
                  <a:txBody>
                    <a:bodyPr/>
                    <a:lstStyle/>
                    <a:p>
                      <a:pPr algn="ctr" fontAlgn="b"/>
                      <a:r>
                        <a:rPr lang="en-US" sz="1100" b="0" i="0" u="none" strike="noStrike">
                          <a:solidFill>
                            <a:srgbClr val="000000"/>
                          </a:solidFill>
                          <a:effectLst/>
                          <a:latin typeface="Calibri" panose="020F0502020204030204" pitchFamily="34" charset="0"/>
                        </a:rPr>
                        <a:t>D8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4,101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560,461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99.3%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5304923"/>
                  </a:ext>
                </a:extLst>
              </a:tr>
              <a:tr h="253326">
                <a:tc>
                  <a:txBody>
                    <a:bodyPr/>
                    <a:lstStyle/>
                    <a:p>
                      <a:pPr algn="ctr" fontAlgn="b"/>
                      <a:r>
                        <a:rPr lang="en-US" sz="1100" b="0" i="0" u="none" strike="noStrike">
                          <a:solidFill>
                            <a:srgbClr val="000000"/>
                          </a:solidFill>
                          <a:effectLst/>
                          <a:latin typeface="Calibri" panose="020F0502020204030204" pitchFamily="34" charset="0"/>
                        </a:rPr>
                        <a:t>D9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2,480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562,941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10.7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475930"/>
                  </a:ext>
                </a:extLst>
              </a:tr>
              <a:tr h="253326">
                <a:tc>
                  <a:txBody>
                    <a:bodyPr/>
                    <a:lstStyle/>
                    <a:p>
                      <a:pPr algn="ctr" fontAlgn="b"/>
                      <a:r>
                        <a:rPr lang="en-US" sz="1100" b="0" i="0" u="none" strike="noStrike" dirty="0">
                          <a:solidFill>
                            <a:srgbClr val="000000"/>
                          </a:solidFill>
                          <a:effectLst/>
                          <a:latin typeface="Calibri" panose="020F0502020204030204" pitchFamily="34" charset="0"/>
                        </a:rPr>
                        <a:t>D10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1,494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564,435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100.0%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3474235"/>
                  </a:ext>
                </a:extLst>
              </a:tr>
              <a:tr h="253326">
                <a:tc>
                  <a:txBody>
                    <a:bodyPr/>
                    <a:lstStyle/>
                    <a:p>
                      <a:pPr algn="ctr" fontAlgn="b"/>
                      <a:r>
                        <a:rPr lang="en-US" sz="1100" b="0" i="0" u="none" strike="noStrike" dirty="0">
                          <a:solidFill>
                            <a:srgbClr val="000000"/>
                          </a:solidFill>
                          <a:effectLst/>
                          <a:latin typeface="Calibri" panose="020F0502020204030204" pitchFamily="34"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5,812,272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564,435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925363"/>
                  </a:ext>
                </a:extLst>
              </a:tr>
            </a:tbl>
          </a:graphicData>
        </a:graphic>
      </p:graphicFrame>
      <p:sp>
        <p:nvSpPr>
          <p:cNvPr id="7" name="Title 6"/>
          <p:cNvSpPr>
            <a:spLocks noGrp="1"/>
          </p:cNvSpPr>
          <p:nvPr>
            <p:ph type="title" idx="4294967295"/>
          </p:nvPr>
        </p:nvSpPr>
        <p:spPr>
          <a:xfrm>
            <a:off x="469900" y="192296"/>
            <a:ext cx="11252200" cy="692151"/>
          </a:xfrm>
        </p:spPr>
        <p:txBody>
          <a:bodyPr/>
          <a:lstStyle/>
          <a:p>
            <a:r>
              <a:rPr lang="en-GB" dirty="0">
                <a:latin typeface="Verdana" panose="020B0604030504040204" pitchFamily="34" charset="0"/>
                <a:ea typeface="Verdana" panose="020B0604030504040204" pitchFamily="34" charset="0"/>
                <a:cs typeface="Verdana" panose="020B0604030504040204" pitchFamily="34" charset="0"/>
              </a:rPr>
              <a:t>Top 2 deciles (20%) captured 86% of customers with inactivity churn</a:t>
            </a:r>
            <a:endParaRPr lang="en-IN" dirty="0">
              <a:latin typeface="Verdana" panose="020B0604030504040204" pitchFamily="34" charset="0"/>
              <a:ea typeface="Verdana" panose="020B0604030504040204" pitchFamily="34" charset="0"/>
              <a:cs typeface="+mj-cs"/>
            </a:endParaRPr>
          </a:p>
        </p:txBody>
      </p:sp>
      <p:sp>
        <p:nvSpPr>
          <p:cNvPr id="5" name="TextBox 4">
            <a:extLst>
              <a:ext uri="{FF2B5EF4-FFF2-40B4-BE49-F238E27FC236}">
                <a16:creationId xmlns:a16="http://schemas.microsoft.com/office/drawing/2014/main" id="{133918E8-DDD8-4B4C-B230-66958DC9AE78}"/>
              </a:ext>
            </a:extLst>
          </p:cNvPr>
          <p:cNvSpPr txBox="1"/>
          <p:nvPr/>
        </p:nvSpPr>
        <p:spPr>
          <a:xfrm>
            <a:off x="1038011" y="4191767"/>
            <a:ext cx="10405390" cy="1231106"/>
          </a:xfrm>
          <a:prstGeom prst="rect">
            <a:avLst/>
          </a:prstGeom>
          <a:noFill/>
        </p:spPr>
        <p:txBody>
          <a:bodyPr wrap="square" rtlCol="0">
            <a:spAutoFit/>
          </a:bodyPr>
          <a:lstStyle/>
          <a:p>
            <a:pPr marL="457200" marR="0" lvl="2" indent="0" algn="l" defTabSz="457200" rtl="0" eaLnBrk="1" fontAlgn="auto" latinLnBrk="0" hangingPunct="1">
              <a:lnSpc>
                <a:spcPct val="100000"/>
              </a:lnSpc>
              <a:spcBef>
                <a:spcPts val="0"/>
              </a:spcBef>
              <a:spcAft>
                <a:spcPts val="0"/>
              </a:spcAft>
              <a:buClrTx/>
              <a:buSzTx/>
              <a:buFontTx/>
              <a:buNone/>
              <a:tabLst/>
              <a:defRPr/>
            </a:pPr>
            <a:endParaRPr kumimoji="0" lang="en-IN" sz="1400" b="1" i="0" u="none" strike="noStrike" kern="1200" cap="none" spc="0" normalizeH="0" baseline="0" noProof="0" dirty="0">
              <a:ln>
                <a:noFill/>
              </a:ln>
              <a:solidFill>
                <a:prstClr val="black">
                  <a:lumMod val="75000"/>
                  <a:lumOff val="25000"/>
                </a:prstClr>
              </a:solidFill>
              <a:effectLst/>
              <a:uLnTx/>
              <a:uFillTx/>
              <a:latin typeface="Verdana" panose="020B0604030504040204" pitchFamily="34" charset="0"/>
              <a:ea typeface="Verdana" panose="020B0604030504040204" pitchFamily="34" charset="0"/>
              <a:cs typeface="Verdana" panose="020B0604030504040204" pitchFamily="34" charset="0"/>
            </a:endParaRPr>
          </a:p>
          <a:p>
            <a:pPr marL="88900" marR="0" lvl="0" indent="-88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lumMod val="75000"/>
                    <a:lumOff val="25000"/>
                  </a:prstClr>
                </a:solidFill>
                <a:latin typeface="Verdana" panose="020B0604030504040204" pitchFamily="34" charset="0"/>
                <a:ea typeface="Verdana" panose="020B0604030504040204" pitchFamily="34" charset="0"/>
              </a:rPr>
              <a:t>All subscribers are given predicted probability and sorted in descending order based on their risk score, High to low in to deciles</a:t>
            </a:r>
          </a:p>
          <a:p>
            <a:pPr marR="0" lvl="0" algn="l" defTabSz="457200" rtl="0" eaLnBrk="1" fontAlgn="auto" latinLnBrk="0" hangingPunct="1">
              <a:lnSpc>
                <a:spcPct val="100000"/>
              </a:lnSpc>
              <a:spcBef>
                <a:spcPts val="0"/>
              </a:spcBef>
              <a:spcAft>
                <a:spcPts val="0"/>
              </a:spcAft>
              <a:buClrTx/>
              <a:buSzTx/>
              <a:tabLst/>
              <a:defRPr/>
            </a:pPr>
            <a:r>
              <a:rPr lang="en-US" sz="1200" dirty="0">
                <a:solidFill>
                  <a:prstClr val="black">
                    <a:lumMod val="75000"/>
                    <a:lumOff val="25000"/>
                  </a:prstClr>
                </a:solidFill>
                <a:latin typeface="Verdana" panose="020B0604030504040204" pitchFamily="34" charset="0"/>
                <a:ea typeface="Verdana" panose="020B0604030504040204" pitchFamily="34" charset="0"/>
              </a:rPr>
              <a:t> </a:t>
            </a:r>
            <a:endParaRPr lang="en-IN" sz="1200" dirty="0">
              <a:solidFill>
                <a:prstClr val="black">
                  <a:lumMod val="75000"/>
                  <a:lumOff val="25000"/>
                </a:prstClr>
              </a:solidFill>
              <a:latin typeface="Verdana" panose="020B0604030504040204" pitchFamily="34" charset="0"/>
              <a:ea typeface="Verdana" panose="020B0604030504040204" pitchFamily="34" charset="0"/>
            </a:endParaRPr>
          </a:p>
          <a:p>
            <a:pPr marL="88900" lvl="0" indent="-88900" defTabSz="457200">
              <a:buFont typeface="Arial" panose="020B0604020202020204" pitchFamily="34" charset="0"/>
              <a:buChar char="•"/>
              <a:defRPr/>
            </a:pPr>
            <a:r>
              <a:rPr lang="en-IN" sz="1200" dirty="0">
                <a:solidFill>
                  <a:prstClr val="black">
                    <a:lumMod val="75000"/>
                    <a:lumOff val="25000"/>
                  </a:prstClr>
                </a:solidFill>
                <a:latin typeface="Verdana" panose="020B0604030504040204" pitchFamily="34" charset="0"/>
                <a:ea typeface="Verdana" panose="020B0604030504040204" pitchFamily="34" charset="0"/>
              </a:rPr>
              <a:t>Out of </a:t>
            </a:r>
            <a:r>
              <a:rPr lang="en-US" sz="1200" dirty="0">
                <a:solidFill>
                  <a:prstClr val="black">
                    <a:lumMod val="75000"/>
                    <a:lumOff val="25000"/>
                  </a:prstClr>
                </a:solidFill>
                <a:latin typeface="Verdana" panose="020B0604030504040204" pitchFamily="34" charset="0"/>
                <a:ea typeface="Verdana" panose="020B0604030504040204" pitchFamily="34" charset="0"/>
              </a:rPr>
              <a:t>5,812,272 </a:t>
            </a:r>
            <a:r>
              <a:rPr lang="en-IN" sz="1200" dirty="0">
                <a:solidFill>
                  <a:prstClr val="black">
                    <a:lumMod val="75000"/>
                    <a:lumOff val="25000"/>
                  </a:prstClr>
                </a:solidFill>
                <a:latin typeface="Verdana" panose="020B0604030504040204" pitchFamily="34" charset="0"/>
                <a:ea typeface="Verdana" panose="020B0604030504040204" pitchFamily="34" charset="0"/>
              </a:rPr>
              <a:t> subscribers, </a:t>
            </a:r>
            <a:r>
              <a:rPr lang="en-US" sz="1200" dirty="0">
                <a:solidFill>
                  <a:prstClr val="black">
                    <a:lumMod val="75000"/>
                    <a:lumOff val="25000"/>
                  </a:prstClr>
                </a:solidFill>
                <a:latin typeface="Verdana" panose="020B0604030504040204" pitchFamily="34" charset="0"/>
                <a:ea typeface="Verdana" panose="020B0604030504040204" pitchFamily="34" charset="0"/>
              </a:rPr>
              <a:t>564,435 </a:t>
            </a:r>
            <a:r>
              <a:rPr lang="en-IN" sz="1200" dirty="0">
                <a:solidFill>
                  <a:prstClr val="black">
                    <a:lumMod val="75000"/>
                    <a:lumOff val="25000"/>
                  </a:prstClr>
                </a:solidFill>
                <a:latin typeface="Verdana" panose="020B0604030504040204" pitchFamily="34" charset="0"/>
                <a:ea typeface="Verdana" panose="020B0604030504040204" pitchFamily="34" charset="0"/>
              </a:rPr>
              <a:t>(9.71%) have churned</a:t>
            </a:r>
          </a:p>
          <a:p>
            <a:pPr marL="88900" lvl="0" indent="-88900" defTabSz="457200">
              <a:buFont typeface="Arial" panose="020B0604020202020204" pitchFamily="34" charset="0"/>
              <a:buChar char="•"/>
              <a:defRPr/>
            </a:pPr>
            <a:endParaRPr lang="en-IN" sz="1200" dirty="0">
              <a:solidFill>
                <a:prstClr val="black">
                  <a:lumMod val="75000"/>
                  <a:lumOff val="25000"/>
                </a:prstClr>
              </a:solidFill>
              <a:latin typeface="Verdana" panose="020B0604030504040204" pitchFamily="34" charset="0"/>
              <a:ea typeface="Verdana" panose="020B0604030504040204" pitchFamily="34" charset="0"/>
            </a:endParaRPr>
          </a:p>
          <a:p>
            <a:pPr marL="88900" lvl="0" indent="-88900" defTabSz="457200">
              <a:buFont typeface="Arial" panose="020B0604020202020204" pitchFamily="34" charset="0"/>
              <a:buChar char="•"/>
              <a:defRPr/>
            </a:pPr>
            <a:r>
              <a:rPr lang="en-IN" sz="1200" dirty="0">
                <a:solidFill>
                  <a:prstClr val="black">
                    <a:lumMod val="75000"/>
                    <a:lumOff val="25000"/>
                  </a:prstClr>
                </a:solidFill>
                <a:latin typeface="Verdana" panose="020B0604030504040204" pitchFamily="34" charset="0"/>
                <a:ea typeface="Verdana" panose="020B0604030504040204" pitchFamily="34" charset="0"/>
              </a:rPr>
              <a:t>Therefore, by targeting the top 2 deciles which has </a:t>
            </a:r>
            <a:r>
              <a:rPr lang="en-US" sz="1200" dirty="0">
                <a:solidFill>
                  <a:prstClr val="black">
                    <a:lumMod val="75000"/>
                    <a:lumOff val="25000"/>
                  </a:prstClr>
                </a:solidFill>
                <a:latin typeface="Verdana" panose="020B0604030504040204" pitchFamily="34" charset="0"/>
                <a:ea typeface="Verdana" panose="020B0604030504040204" pitchFamily="34" charset="0"/>
              </a:rPr>
              <a:t>1,162,456</a:t>
            </a:r>
            <a:r>
              <a:rPr lang="en-IN" sz="1200" dirty="0">
                <a:solidFill>
                  <a:prstClr val="black">
                    <a:lumMod val="75000"/>
                    <a:lumOff val="25000"/>
                  </a:prstClr>
                </a:solidFill>
                <a:latin typeface="Verdana" panose="020B0604030504040204" pitchFamily="34" charset="0"/>
                <a:ea typeface="Verdana" panose="020B0604030504040204" pitchFamily="34" charset="0"/>
              </a:rPr>
              <a:t> subscribers, we can capture 86.43% of the churners</a:t>
            </a:r>
          </a:p>
        </p:txBody>
      </p:sp>
      <p:sp>
        <p:nvSpPr>
          <p:cNvPr id="6" name="Rectangle 2">
            <a:extLst>
              <a:ext uri="{FF2B5EF4-FFF2-40B4-BE49-F238E27FC236}">
                <a16:creationId xmlns:a16="http://schemas.microsoft.com/office/drawing/2014/main" id="{B1449356-6E84-4763-B2C3-ED19475161E7}"/>
              </a:ext>
            </a:extLst>
          </p:cNvPr>
          <p:cNvSpPr txBox="1">
            <a:spLocks noChangeArrowheads="1"/>
          </p:cNvSpPr>
          <p:nvPr/>
        </p:nvSpPr>
        <p:spPr bwMode="auto">
          <a:xfrm>
            <a:off x="1" y="574358"/>
            <a:ext cx="12191999" cy="2673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Decile wise cumulative % of c</a:t>
            </a:r>
            <a:r>
              <a:rPr lang="en-GB" sz="1400" b="1" dirty="0" err="1">
                <a:solidFill>
                  <a:srgbClr val="000000"/>
                </a:solidFill>
                <a:latin typeface="Verdana" panose="020B0604030504040204" pitchFamily="34" charset="0"/>
                <a:ea typeface="Verdana" panose="020B0604030504040204" pitchFamily="34" charset="0"/>
                <a:cs typeface="Verdana" panose="020B0604030504040204" pitchFamily="34" charset="0"/>
              </a:rPr>
              <a:t>hurned</a:t>
            </a:r>
            <a:r>
              <a:rPr lang="en-GB" sz="1400" b="1" dirty="0">
                <a:solidFill>
                  <a:srgbClr val="000000"/>
                </a:solidFill>
                <a:latin typeface="Verdana" panose="020B0604030504040204" pitchFamily="34" charset="0"/>
                <a:ea typeface="Verdana" panose="020B0604030504040204" pitchFamily="34" charset="0"/>
                <a:cs typeface="Verdana" panose="020B0604030504040204" pitchFamily="34" charset="0"/>
              </a:rPr>
              <a:t> subscribers</a:t>
            </a:r>
            <a:r>
              <a:rPr kumimoji="0" lang="en-GB" sz="14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in OOT dataset</a:t>
            </a:r>
          </a:p>
        </p:txBody>
      </p:sp>
      <p:sp>
        <p:nvSpPr>
          <p:cNvPr id="8" name="Oval 7">
            <a:extLst>
              <a:ext uri="{FF2B5EF4-FFF2-40B4-BE49-F238E27FC236}">
                <a16:creationId xmlns:a16="http://schemas.microsoft.com/office/drawing/2014/main" id="{57A0F0E5-D781-4E71-9F96-5E5896A38132}"/>
              </a:ext>
            </a:extLst>
          </p:cNvPr>
          <p:cNvSpPr/>
          <p:nvPr/>
        </p:nvSpPr>
        <p:spPr>
          <a:xfrm>
            <a:off x="951899" y="4429778"/>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1</a:t>
            </a:r>
          </a:p>
        </p:txBody>
      </p:sp>
      <p:sp>
        <p:nvSpPr>
          <p:cNvPr id="9" name="Oval 8">
            <a:extLst>
              <a:ext uri="{FF2B5EF4-FFF2-40B4-BE49-F238E27FC236}">
                <a16:creationId xmlns:a16="http://schemas.microsoft.com/office/drawing/2014/main" id="{39DD37DB-C45C-4522-9B7B-12EF16EFCE21}"/>
              </a:ext>
            </a:extLst>
          </p:cNvPr>
          <p:cNvSpPr/>
          <p:nvPr/>
        </p:nvSpPr>
        <p:spPr>
          <a:xfrm>
            <a:off x="941145" y="4774009"/>
            <a:ext cx="251460" cy="25146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2</a:t>
            </a:r>
          </a:p>
        </p:txBody>
      </p:sp>
      <p:sp>
        <p:nvSpPr>
          <p:cNvPr id="10" name="Oval 9">
            <a:extLst>
              <a:ext uri="{FF2B5EF4-FFF2-40B4-BE49-F238E27FC236}">
                <a16:creationId xmlns:a16="http://schemas.microsoft.com/office/drawing/2014/main" id="{DBA954A1-03BE-46AA-B243-87BB38B8AF5F}"/>
              </a:ext>
            </a:extLst>
          </p:cNvPr>
          <p:cNvSpPr/>
          <p:nvPr/>
        </p:nvSpPr>
        <p:spPr>
          <a:xfrm>
            <a:off x="5105797" y="3996671"/>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2</a:t>
            </a:r>
          </a:p>
        </p:txBody>
      </p:sp>
      <p:sp>
        <p:nvSpPr>
          <p:cNvPr id="12" name="Rectangle 11">
            <a:extLst>
              <a:ext uri="{FF2B5EF4-FFF2-40B4-BE49-F238E27FC236}">
                <a16:creationId xmlns:a16="http://schemas.microsoft.com/office/drawing/2014/main" id="{AF8D7F73-3A69-4508-A9E0-54D006383C23}"/>
              </a:ext>
            </a:extLst>
          </p:cNvPr>
          <p:cNvSpPr/>
          <p:nvPr/>
        </p:nvSpPr>
        <p:spPr bwMode="gray">
          <a:xfrm>
            <a:off x="6174769" y="1372161"/>
            <a:ext cx="1046956" cy="542500"/>
          </a:xfrm>
          <a:prstGeom prst="rect">
            <a:avLst/>
          </a:prstGeom>
          <a:noFill/>
          <a:ln w="28575" algn="ctr">
            <a:solidFill>
              <a:srgbClr val="FF000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 name="Oval 12">
            <a:extLst>
              <a:ext uri="{FF2B5EF4-FFF2-40B4-BE49-F238E27FC236}">
                <a16:creationId xmlns:a16="http://schemas.microsoft.com/office/drawing/2014/main" id="{6C52BB9C-775A-49C0-93F9-8E7BB3916B33}"/>
              </a:ext>
            </a:extLst>
          </p:cNvPr>
          <p:cNvSpPr/>
          <p:nvPr/>
        </p:nvSpPr>
        <p:spPr>
          <a:xfrm>
            <a:off x="951899" y="5140154"/>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3</a:t>
            </a:r>
          </a:p>
        </p:txBody>
      </p:sp>
      <p:sp>
        <p:nvSpPr>
          <p:cNvPr id="14" name="TextBox 13">
            <a:extLst>
              <a:ext uri="{FF2B5EF4-FFF2-40B4-BE49-F238E27FC236}">
                <a16:creationId xmlns:a16="http://schemas.microsoft.com/office/drawing/2014/main" id="{0462E9E3-7455-456F-911E-80B09F83572E}"/>
              </a:ext>
            </a:extLst>
          </p:cNvPr>
          <p:cNvSpPr txBox="1"/>
          <p:nvPr/>
        </p:nvSpPr>
        <p:spPr>
          <a:xfrm>
            <a:off x="1732347" y="1578918"/>
            <a:ext cx="184666" cy="2203940"/>
          </a:xfrm>
          <a:prstGeom prst="rect">
            <a:avLst/>
          </a:prstGeom>
          <a:noFill/>
        </p:spPr>
        <p:txBody>
          <a:bodyPr vert="vert270" wrap="square" lIns="0" tIns="0" rIns="0" bIns="0" rtlCol="0">
            <a:spAutoFit/>
          </a:bodyPr>
          <a:lstStyle/>
          <a:p>
            <a:pPr algn="ctr">
              <a:spcBef>
                <a:spcPts val="600"/>
              </a:spcBef>
              <a:buSzPct val="100000"/>
            </a:pPr>
            <a:r>
              <a:rPr lang="en-US" sz="1200" b="1" dirty="0">
                <a:solidFill>
                  <a:srgbClr val="313131"/>
                </a:solidFill>
              </a:rPr>
              <a:t>Predicted probability</a:t>
            </a:r>
            <a:endParaRPr lang="en-IN" sz="1200" b="1" dirty="0">
              <a:solidFill>
                <a:srgbClr val="313131"/>
              </a:solidFill>
            </a:endParaRPr>
          </a:p>
        </p:txBody>
      </p:sp>
      <p:sp>
        <p:nvSpPr>
          <p:cNvPr id="16" name="TextBox 15">
            <a:extLst>
              <a:ext uri="{FF2B5EF4-FFF2-40B4-BE49-F238E27FC236}">
                <a16:creationId xmlns:a16="http://schemas.microsoft.com/office/drawing/2014/main" id="{C2CD0AFE-C885-40F4-9E77-C957FC610583}"/>
              </a:ext>
            </a:extLst>
          </p:cNvPr>
          <p:cNvSpPr txBox="1"/>
          <p:nvPr/>
        </p:nvSpPr>
        <p:spPr>
          <a:xfrm>
            <a:off x="1611508" y="1007222"/>
            <a:ext cx="924242" cy="215444"/>
          </a:xfrm>
          <a:prstGeom prst="rect">
            <a:avLst/>
          </a:prstGeom>
          <a:noFill/>
        </p:spPr>
        <p:txBody>
          <a:bodyPr wrap="square" lIns="0" tIns="0" rIns="0" bIns="0" rtlCol="0">
            <a:spAutoFit/>
          </a:bodyPr>
          <a:lstStyle/>
          <a:p>
            <a:pPr>
              <a:spcBef>
                <a:spcPts val="600"/>
              </a:spcBef>
              <a:buSzPct val="100000"/>
            </a:pPr>
            <a:r>
              <a:rPr lang="en-US" sz="1400" b="1" i="1" dirty="0">
                <a:solidFill>
                  <a:srgbClr val="313131"/>
                </a:solidFill>
              </a:rPr>
              <a:t>High</a:t>
            </a:r>
            <a:endParaRPr lang="en-IN" sz="1400" b="1" i="1" dirty="0">
              <a:solidFill>
                <a:srgbClr val="313131"/>
              </a:solidFill>
            </a:endParaRPr>
          </a:p>
        </p:txBody>
      </p:sp>
      <p:sp>
        <p:nvSpPr>
          <p:cNvPr id="17" name="TextBox 16">
            <a:extLst>
              <a:ext uri="{FF2B5EF4-FFF2-40B4-BE49-F238E27FC236}">
                <a16:creationId xmlns:a16="http://schemas.microsoft.com/office/drawing/2014/main" id="{383C1692-0042-406B-8047-ACCBD79E264A}"/>
              </a:ext>
            </a:extLst>
          </p:cNvPr>
          <p:cNvSpPr txBox="1"/>
          <p:nvPr/>
        </p:nvSpPr>
        <p:spPr>
          <a:xfrm>
            <a:off x="1582160" y="4117549"/>
            <a:ext cx="924242" cy="215444"/>
          </a:xfrm>
          <a:prstGeom prst="rect">
            <a:avLst/>
          </a:prstGeom>
          <a:noFill/>
        </p:spPr>
        <p:txBody>
          <a:bodyPr wrap="square" lIns="0" tIns="0" rIns="0" bIns="0" rtlCol="0">
            <a:spAutoFit/>
          </a:bodyPr>
          <a:lstStyle/>
          <a:p>
            <a:pPr>
              <a:spcBef>
                <a:spcPts val="600"/>
              </a:spcBef>
              <a:buSzPct val="100000"/>
            </a:pPr>
            <a:r>
              <a:rPr lang="en-US" sz="1400" b="1" i="1" dirty="0">
                <a:solidFill>
                  <a:srgbClr val="313131"/>
                </a:solidFill>
              </a:rPr>
              <a:t>Low</a:t>
            </a:r>
            <a:endParaRPr lang="en-IN" sz="1400" b="1" i="1" dirty="0">
              <a:solidFill>
                <a:srgbClr val="313131"/>
              </a:solidFill>
            </a:endParaRPr>
          </a:p>
        </p:txBody>
      </p:sp>
      <p:sp>
        <p:nvSpPr>
          <p:cNvPr id="18" name="Oval 17">
            <a:extLst>
              <a:ext uri="{FF2B5EF4-FFF2-40B4-BE49-F238E27FC236}">
                <a16:creationId xmlns:a16="http://schemas.microsoft.com/office/drawing/2014/main" id="{F678E262-4DFD-448C-B50E-C1740FEA139E}"/>
              </a:ext>
            </a:extLst>
          </p:cNvPr>
          <p:cNvSpPr/>
          <p:nvPr/>
        </p:nvSpPr>
        <p:spPr>
          <a:xfrm>
            <a:off x="1959329" y="3024551"/>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000" b="1" kern="0" noProof="0" dirty="0">
                <a:solidFill>
                  <a:prstClr val="white"/>
                </a:solidFill>
                <a:latin typeface="Verdana" panose="020B0604030504040204" pitchFamily="34" charset="0"/>
                <a:ea typeface="Verdana" panose="020B0604030504040204" pitchFamily="34" charset="0"/>
                <a:cs typeface="Verdana" panose="020B0604030504040204" pitchFamily="34" charset="0"/>
              </a:rPr>
              <a:t>1</a:t>
            </a:r>
            <a:endPar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1" name="Oval 10">
            <a:extLst>
              <a:ext uri="{FF2B5EF4-FFF2-40B4-BE49-F238E27FC236}">
                <a16:creationId xmlns:a16="http://schemas.microsoft.com/office/drawing/2014/main" id="{4D88DA6E-516A-44D9-828A-27EB59C0C0DF}"/>
              </a:ext>
            </a:extLst>
          </p:cNvPr>
          <p:cNvSpPr/>
          <p:nvPr/>
        </p:nvSpPr>
        <p:spPr>
          <a:xfrm>
            <a:off x="7013802" y="1784116"/>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3</a:t>
            </a:r>
            <a:endPar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9" name="TextBox 18">
            <a:extLst>
              <a:ext uri="{FF2B5EF4-FFF2-40B4-BE49-F238E27FC236}">
                <a16:creationId xmlns:a16="http://schemas.microsoft.com/office/drawing/2014/main" id="{A5BBCC01-0506-478C-BA07-0F4C4CDCE535}"/>
              </a:ext>
            </a:extLst>
          </p:cNvPr>
          <p:cNvSpPr txBox="1"/>
          <p:nvPr/>
        </p:nvSpPr>
        <p:spPr>
          <a:xfrm>
            <a:off x="3919814" y="6639641"/>
            <a:ext cx="8436797" cy="169277"/>
          </a:xfrm>
          <a:prstGeom prst="rect">
            <a:avLst/>
          </a:prstGeom>
          <a:noFill/>
        </p:spPr>
        <p:txBody>
          <a:bodyPr wrap="square" lIns="0" tIns="0" rIns="0" bIns="0" rtlCol="0">
            <a:spAutoFit/>
          </a:bodyPr>
          <a:lstStyle/>
          <a:p>
            <a:pPr algn="ctr">
              <a:spcBef>
                <a:spcPts val="600"/>
              </a:spcBef>
              <a:buSzPct val="100000"/>
            </a:pPr>
            <a:r>
              <a:rPr lang="en-US" sz="1100" i="1" dirty="0">
                <a:solidFill>
                  <a:schemeClr val="bg1">
                    <a:lumMod val="50000"/>
                  </a:schemeClr>
                </a:solidFill>
              </a:rPr>
              <a:t>Note : Above metrics are calculated based on top 2 deciles of rank ordered probability score in descending order.</a:t>
            </a:r>
            <a:endParaRPr lang="en-IN" sz="1100" i="1" dirty="0">
              <a:solidFill>
                <a:schemeClr val="bg1">
                  <a:lumMod val="50000"/>
                </a:schemeClr>
              </a:solidFill>
            </a:endParaRPr>
          </a:p>
        </p:txBody>
      </p:sp>
      <p:sp>
        <p:nvSpPr>
          <p:cNvPr id="20" name="TextBox 19">
            <a:extLst>
              <a:ext uri="{FF2B5EF4-FFF2-40B4-BE49-F238E27FC236}">
                <a16:creationId xmlns:a16="http://schemas.microsoft.com/office/drawing/2014/main" id="{67CA4D79-37B0-42CA-967E-38DB8C3A2ECB}"/>
              </a:ext>
            </a:extLst>
          </p:cNvPr>
          <p:cNvSpPr txBox="1"/>
          <p:nvPr/>
        </p:nvSpPr>
        <p:spPr>
          <a:xfrm>
            <a:off x="941145" y="5549761"/>
            <a:ext cx="11250855" cy="830997"/>
          </a:xfrm>
          <a:prstGeom prst="rect">
            <a:avLst/>
          </a:prstGeom>
          <a:noFill/>
        </p:spPr>
        <p:txBody>
          <a:bodyPr wrap="square" rtlCol="0">
            <a:spAutoFit/>
          </a:bodyPr>
          <a:lstStyle/>
          <a:p>
            <a:pPr marL="0" lvl="1">
              <a:buClr>
                <a:srgbClr val="006699"/>
              </a:buClr>
            </a:pPr>
            <a:r>
              <a:rPr lang="en-US" altLang="en-US" sz="1200" b="1" i="1" dirty="0">
                <a:solidFill>
                  <a:schemeClr val="tx1">
                    <a:lumMod val="75000"/>
                    <a:lumOff val="25000"/>
                  </a:schemeClr>
                </a:solidFill>
              </a:rPr>
              <a:t>Precision </a:t>
            </a:r>
            <a:r>
              <a:rPr lang="en-US" altLang="en-US" sz="1200" i="1" dirty="0">
                <a:solidFill>
                  <a:schemeClr val="tx1">
                    <a:lumMod val="75000"/>
                    <a:lumOff val="25000"/>
                  </a:schemeClr>
                </a:solidFill>
              </a:rPr>
              <a:t>–   </a:t>
            </a:r>
            <a:r>
              <a:rPr lang="en-US" altLang="en-US" sz="1200" dirty="0">
                <a:solidFill>
                  <a:schemeClr val="tx1">
                    <a:lumMod val="75000"/>
                    <a:lumOff val="25000"/>
                  </a:schemeClr>
                </a:solidFill>
              </a:rPr>
              <a:t>It is the proportion of predicted churners that turn out to be actual churners.</a:t>
            </a:r>
            <a:endParaRPr lang="en-US" altLang="en-US" sz="1200" b="1" i="1" dirty="0">
              <a:solidFill>
                <a:schemeClr val="tx1">
                  <a:lumMod val="75000"/>
                  <a:lumOff val="25000"/>
                </a:schemeClr>
              </a:solidFill>
            </a:endParaRPr>
          </a:p>
          <a:p>
            <a:pPr marL="0" lvl="1">
              <a:buClr>
                <a:srgbClr val="006699"/>
              </a:buClr>
            </a:pPr>
            <a:r>
              <a:rPr lang="en-US" altLang="en-US" sz="1200" b="1" i="1" dirty="0">
                <a:solidFill>
                  <a:schemeClr val="tx1">
                    <a:lumMod val="75000"/>
                    <a:lumOff val="25000"/>
                  </a:schemeClr>
                </a:solidFill>
              </a:rPr>
              <a:t>Recall</a:t>
            </a:r>
            <a:r>
              <a:rPr lang="en-US" altLang="en-US" sz="1200" i="1" dirty="0">
                <a:solidFill>
                  <a:schemeClr val="tx1">
                    <a:lumMod val="75000"/>
                    <a:lumOff val="25000"/>
                  </a:schemeClr>
                </a:solidFill>
              </a:rPr>
              <a:t> – </a:t>
            </a:r>
            <a:r>
              <a:rPr lang="en-US" altLang="en-US" sz="1200" dirty="0">
                <a:solidFill>
                  <a:schemeClr val="tx1">
                    <a:lumMod val="75000"/>
                    <a:lumOff val="25000"/>
                  </a:schemeClr>
                </a:solidFill>
              </a:rPr>
              <a:t>It is the proportion of actual churners that were predicted to be churners. </a:t>
            </a:r>
          </a:p>
          <a:p>
            <a:pPr marL="0" lvl="1">
              <a:buClr>
                <a:srgbClr val="006699"/>
              </a:buClr>
            </a:pPr>
            <a:r>
              <a:rPr lang="en-US" altLang="en-US" sz="1200" b="1" i="1" dirty="0">
                <a:solidFill>
                  <a:schemeClr val="tx1">
                    <a:lumMod val="75000"/>
                    <a:lumOff val="25000"/>
                  </a:schemeClr>
                </a:solidFill>
              </a:rPr>
              <a:t>Lift - </a:t>
            </a:r>
            <a:r>
              <a:rPr lang="en-US" altLang="en-US" sz="1200" dirty="0">
                <a:solidFill>
                  <a:schemeClr val="tx1">
                    <a:lumMod val="75000"/>
                    <a:lumOff val="25000"/>
                  </a:schemeClr>
                </a:solidFill>
              </a:rPr>
              <a:t>Lift is a measure of how much better the statistical model does than not using a model at all.</a:t>
            </a:r>
          </a:p>
          <a:p>
            <a:pPr marL="0" lvl="1">
              <a:buClr>
                <a:srgbClr val="006699"/>
              </a:buClr>
            </a:pPr>
            <a:r>
              <a:rPr lang="en-US" altLang="en-US" sz="1200" b="1" i="1" dirty="0">
                <a:solidFill>
                  <a:schemeClr val="tx1">
                    <a:lumMod val="75000"/>
                    <a:lumOff val="25000"/>
                  </a:schemeClr>
                </a:solidFill>
              </a:rPr>
              <a:t>KS Statistics - </a:t>
            </a:r>
            <a:r>
              <a:rPr lang="en-US" altLang="en-US" sz="1200" dirty="0">
                <a:solidFill>
                  <a:schemeClr val="tx1">
                    <a:lumMod val="75000"/>
                    <a:lumOff val="25000"/>
                  </a:schemeClr>
                </a:solidFill>
              </a:rPr>
              <a:t>Kolmogorov-Smirnov(KS) statistics is the discriminatory power of a model to distinguish between events and non-events.</a:t>
            </a:r>
          </a:p>
        </p:txBody>
      </p:sp>
    </p:spTree>
    <p:extLst>
      <p:ext uri="{BB962C8B-B14F-4D97-AF65-F5344CB8AC3E}">
        <p14:creationId xmlns:p14="http://schemas.microsoft.com/office/powerpoint/2010/main" val="2991660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idx="4294967295"/>
          </p:nvPr>
        </p:nvSpPr>
        <p:spPr>
          <a:xfrm>
            <a:off x="469900" y="305310"/>
            <a:ext cx="11252200" cy="692151"/>
          </a:xfrm>
        </p:spPr>
        <p:txBody>
          <a:bodyPr/>
          <a:lstStyle/>
          <a:p>
            <a:r>
              <a:rPr lang="en-IN" dirty="0">
                <a:latin typeface="Verdana" panose="020B0604030504040204" pitchFamily="34" charset="0"/>
                <a:ea typeface="Verdana" panose="020B0604030504040204" pitchFamily="34" charset="0"/>
              </a:rPr>
              <a:t>T</a:t>
            </a:r>
            <a:r>
              <a:rPr lang="en-IN" dirty="0">
                <a:latin typeface="Verdana" panose="020B0604030504040204" pitchFamily="34" charset="0"/>
                <a:ea typeface="Verdana" panose="020B0604030504040204" pitchFamily="34" charset="0"/>
                <a:cs typeface="+mj-cs"/>
              </a:rPr>
              <a:t>op 15 significant predictors out of 24 predictors from the best model</a:t>
            </a:r>
          </a:p>
        </p:txBody>
      </p:sp>
      <p:graphicFrame>
        <p:nvGraphicFramePr>
          <p:cNvPr id="5" name="Table 5">
            <a:extLst>
              <a:ext uri="{FF2B5EF4-FFF2-40B4-BE49-F238E27FC236}">
                <a16:creationId xmlns:a16="http://schemas.microsoft.com/office/drawing/2014/main" id="{360CA6E4-2B3A-4B64-B97F-C3C3297E3B09}"/>
              </a:ext>
            </a:extLst>
          </p:cNvPr>
          <p:cNvGraphicFramePr>
            <a:graphicFrameLocks noGrp="1"/>
          </p:cNvGraphicFramePr>
          <p:nvPr>
            <p:extLst>
              <p:ext uri="{D42A27DB-BD31-4B8C-83A1-F6EECF244321}">
                <p14:modId xmlns:p14="http://schemas.microsoft.com/office/powerpoint/2010/main" val="943031452"/>
              </p:ext>
            </p:extLst>
          </p:nvPr>
        </p:nvGraphicFramePr>
        <p:xfrm>
          <a:off x="635285" y="1025037"/>
          <a:ext cx="10921430" cy="4797562"/>
        </p:xfrm>
        <a:graphic>
          <a:graphicData uri="http://schemas.openxmlformats.org/drawingml/2006/table">
            <a:tbl>
              <a:tblPr firstRow="1" bandRow="1">
                <a:tableStyleId>{5C22544A-7EE6-4342-B048-85BDC9FD1C3A}</a:tableStyleId>
              </a:tblPr>
              <a:tblGrid>
                <a:gridCol w="3772328">
                  <a:extLst>
                    <a:ext uri="{9D8B030D-6E8A-4147-A177-3AD203B41FA5}">
                      <a16:colId xmlns:a16="http://schemas.microsoft.com/office/drawing/2014/main" val="488251158"/>
                    </a:ext>
                  </a:extLst>
                </a:gridCol>
                <a:gridCol w="7149102">
                  <a:extLst>
                    <a:ext uri="{9D8B030D-6E8A-4147-A177-3AD203B41FA5}">
                      <a16:colId xmlns:a16="http://schemas.microsoft.com/office/drawing/2014/main" val="3496347613"/>
                    </a:ext>
                  </a:extLst>
                </a:gridCol>
              </a:tblGrid>
              <a:tr h="342683">
                <a:tc>
                  <a:txBody>
                    <a:bodyPr/>
                    <a:lstStyle/>
                    <a:p>
                      <a:pPr algn="ctr"/>
                      <a:r>
                        <a:rPr lang="en-US" sz="1200" dirty="0"/>
                        <a:t>KPI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Description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463672"/>
                  </a:ext>
                </a:extLst>
              </a:tr>
              <a:tr h="342683">
                <a:tc>
                  <a:txBody>
                    <a:bodyPr/>
                    <a:lstStyle/>
                    <a:p>
                      <a:pPr lvl="1" algn="l" fontAlgn="t"/>
                      <a:r>
                        <a:rPr lang="en-US" sz="1200" kern="1200" dirty="0">
                          <a:solidFill>
                            <a:schemeClr val="dk1"/>
                          </a:solidFill>
                          <a:latin typeface="+mn-lt"/>
                          <a:ea typeface="+mn-ea"/>
                          <a:cs typeface="+mn-cs"/>
                        </a:rPr>
                        <a:t>mean_d28_act_days_rge</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200" dirty="0"/>
                        <a:t>Average of 28 days revenue generation event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3824586"/>
                  </a:ext>
                </a:extLst>
              </a:tr>
              <a:tr h="342683">
                <a:tc>
                  <a:txBody>
                    <a:bodyPr/>
                    <a:lstStyle/>
                    <a:p>
                      <a:pPr lvl="1" algn="l" fontAlgn="t"/>
                      <a:r>
                        <a:rPr lang="en-US" sz="1200" kern="1200" dirty="0" err="1">
                          <a:solidFill>
                            <a:schemeClr val="dk1"/>
                          </a:solidFill>
                          <a:latin typeface="+mn-lt"/>
                          <a:ea typeface="+mn-ea"/>
                          <a:cs typeface="+mn-cs"/>
                        </a:rPr>
                        <a:t>days_since_sms_last_mt</a:t>
                      </a:r>
                      <a:endParaRPr lang="en-US" sz="1200" kern="1200" dirty="0">
                        <a:solidFill>
                          <a:schemeClr val="dk1"/>
                        </a:solidFill>
                        <a:latin typeface="+mn-lt"/>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Days since last incoming SMS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3558750"/>
                  </a:ext>
                </a:extLst>
              </a:tr>
              <a:tr h="342683">
                <a:tc>
                  <a:txBody>
                    <a:bodyPr/>
                    <a:lstStyle/>
                    <a:p>
                      <a:pPr lvl="1" algn="l" fontAlgn="t"/>
                      <a:r>
                        <a:rPr lang="en-US" sz="1200" kern="1200" dirty="0" err="1">
                          <a:solidFill>
                            <a:schemeClr val="dk1"/>
                          </a:solidFill>
                          <a:latin typeface="+mn-lt"/>
                          <a:ea typeface="+mn-ea"/>
                          <a:cs typeface="+mn-cs"/>
                        </a:rPr>
                        <a:t>days_since_voi_last_mt</a:t>
                      </a:r>
                      <a:endParaRPr lang="en-US" sz="1200" kern="1200" dirty="0">
                        <a:solidFill>
                          <a:schemeClr val="dk1"/>
                        </a:solidFill>
                        <a:latin typeface="+mn-lt"/>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Days since last voice incoming 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6562121"/>
                  </a:ext>
                </a:extLst>
              </a:tr>
              <a:tr h="342683">
                <a:tc>
                  <a:txBody>
                    <a:bodyPr/>
                    <a:lstStyle/>
                    <a:p>
                      <a:pPr lvl="1" algn="l" fontAlgn="t"/>
                      <a:r>
                        <a:rPr lang="en-US" sz="1200" kern="1200" dirty="0" err="1">
                          <a:solidFill>
                            <a:schemeClr val="dk1"/>
                          </a:solidFill>
                          <a:latin typeface="+mn-lt"/>
                          <a:ea typeface="+mn-ea"/>
                          <a:cs typeface="+mn-cs"/>
                        </a:rPr>
                        <a:t>days_since_data_last_usage</a:t>
                      </a:r>
                      <a:endParaRPr lang="en-US" sz="1200" kern="1200" dirty="0">
                        <a:solidFill>
                          <a:schemeClr val="dk1"/>
                        </a:solidFill>
                        <a:latin typeface="+mn-lt"/>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200" dirty="0"/>
                        <a:t>Days since last data usage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380156"/>
                  </a:ext>
                </a:extLst>
              </a:tr>
              <a:tr h="342683">
                <a:tc>
                  <a:txBody>
                    <a:bodyPr/>
                    <a:lstStyle/>
                    <a:p>
                      <a:pPr lvl="1" algn="l" fontAlgn="t"/>
                      <a:r>
                        <a:rPr lang="en-US" sz="1200" kern="1200" dirty="0" err="1">
                          <a:solidFill>
                            <a:schemeClr val="dk1"/>
                          </a:solidFill>
                          <a:latin typeface="+mn-lt"/>
                          <a:ea typeface="+mn-ea"/>
                          <a:cs typeface="+mn-cs"/>
                        </a:rPr>
                        <a:t>days_since_last_air_recharge</a:t>
                      </a:r>
                      <a:endParaRPr lang="en-US" sz="1200" kern="1200" dirty="0">
                        <a:solidFill>
                          <a:schemeClr val="dk1"/>
                        </a:solidFill>
                        <a:latin typeface="+mn-lt"/>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Days since last </a:t>
                      </a:r>
                      <a:r>
                        <a:rPr lang="en-US" sz="1200" dirty="0" err="1"/>
                        <a:t>talktime</a:t>
                      </a:r>
                      <a:r>
                        <a:rPr lang="en-US" sz="1200" dirty="0"/>
                        <a:t> recharge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2967701"/>
                  </a:ext>
                </a:extLst>
              </a:tr>
              <a:tr h="342683">
                <a:tc>
                  <a:txBody>
                    <a:bodyPr/>
                    <a:lstStyle/>
                    <a:p>
                      <a:pPr lvl="1" algn="l" fontAlgn="t"/>
                      <a:r>
                        <a:rPr lang="en-US" sz="1200" kern="1200" dirty="0">
                          <a:solidFill>
                            <a:schemeClr val="dk1"/>
                          </a:solidFill>
                          <a:latin typeface="+mn-lt"/>
                          <a:ea typeface="+mn-ea"/>
                          <a:cs typeface="+mn-cs"/>
                        </a:rPr>
                        <a:t>sum_d30_sn_total_mtc</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Sum of the total incoming calls received from social network in last 30 days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6655283"/>
                  </a:ext>
                </a:extLst>
              </a:tr>
              <a:tr h="342683">
                <a:tc>
                  <a:txBody>
                    <a:bodyPr/>
                    <a:lstStyle/>
                    <a:p>
                      <a:pPr lvl="1" algn="l" fontAlgn="t"/>
                      <a:r>
                        <a:rPr lang="en-US" sz="1200" kern="1200" dirty="0">
                          <a:solidFill>
                            <a:schemeClr val="dk1"/>
                          </a:solidFill>
                          <a:latin typeface="+mn-lt"/>
                          <a:ea typeface="+mn-ea"/>
                          <a:cs typeface="+mn-cs"/>
                        </a:rPr>
                        <a:t>mean_d14_tot_rev</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200" dirty="0"/>
                        <a:t>Average of last 14 days total revenue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361372"/>
                  </a:ext>
                </a:extLst>
              </a:tr>
              <a:tr h="342683">
                <a:tc>
                  <a:txBody>
                    <a:bodyPr/>
                    <a:lstStyle/>
                    <a:p>
                      <a:pPr lvl="1" algn="l" fontAlgn="t"/>
                      <a:r>
                        <a:rPr lang="en-US" sz="1200" kern="1200" dirty="0">
                          <a:solidFill>
                            <a:schemeClr val="dk1"/>
                          </a:solidFill>
                          <a:latin typeface="+mn-lt"/>
                          <a:ea typeface="+mn-ea"/>
                          <a:cs typeface="+mn-cs"/>
                        </a:rPr>
                        <a:t>mean_d14_pd28_act_days_rge</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Ratio of average of last 14 to previous 28 days revenue generation event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0511803"/>
                  </a:ext>
                </a:extLst>
              </a:tr>
              <a:tr h="342683">
                <a:tc>
                  <a:txBody>
                    <a:bodyPr/>
                    <a:lstStyle/>
                    <a:p>
                      <a:pPr lvl="1" algn="l" fontAlgn="t"/>
                      <a:r>
                        <a:rPr lang="en-US" sz="1200" kern="1200" dirty="0">
                          <a:solidFill>
                            <a:schemeClr val="dk1"/>
                          </a:solidFill>
                          <a:latin typeface="+mn-lt"/>
                          <a:ea typeface="+mn-ea"/>
                          <a:cs typeface="+mn-cs"/>
                        </a:rPr>
                        <a:t>mean_d14_pd28_bal_avg_daily</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Ratio of sum of last 14 days to 28 days average daily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162484"/>
                  </a:ext>
                </a:extLst>
              </a:tr>
              <a:tr h="342683">
                <a:tc>
                  <a:txBody>
                    <a:bodyPr/>
                    <a:lstStyle/>
                    <a:p>
                      <a:pPr lvl="1" algn="l" fontAlgn="t"/>
                      <a:r>
                        <a:rPr lang="en-US" sz="1200" kern="1200" dirty="0">
                          <a:solidFill>
                            <a:schemeClr val="dk1"/>
                          </a:solidFill>
                          <a:latin typeface="+mn-lt"/>
                          <a:ea typeface="+mn-ea"/>
                          <a:cs typeface="+mn-cs"/>
                        </a:rPr>
                        <a:t>sum_d30_act_days_mtc</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Sum of last 30 days incoming 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3384833"/>
                  </a:ext>
                </a:extLst>
              </a:tr>
              <a:tr h="342683">
                <a:tc>
                  <a:txBody>
                    <a:bodyPr/>
                    <a:lstStyle/>
                    <a:p>
                      <a:pPr lvl="1" algn="l" fontAlgn="t"/>
                      <a:r>
                        <a:rPr lang="en-US" sz="1200" kern="1200" dirty="0">
                          <a:solidFill>
                            <a:schemeClr val="dk1"/>
                          </a:solidFill>
                          <a:latin typeface="+mn-lt"/>
                          <a:ea typeface="+mn-ea"/>
                          <a:cs typeface="+mn-cs"/>
                        </a:rPr>
                        <a:t>sum_d14_pd14_bal_air_amt</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Ratio of sum of last 14 to previous 14 days balance 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3525340"/>
                  </a:ext>
                </a:extLst>
              </a:tr>
              <a:tr h="342683">
                <a:tc>
                  <a:txBody>
                    <a:bodyPr/>
                    <a:lstStyle/>
                    <a:p>
                      <a:pPr lvl="1" algn="l" fontAlgn="t"/>
                      <a:r>
                        <a:rPr lang="en-US" sz="1200" kern="1200" dirty="0">
                          <a:solidFill>
                            <a:schemeClr val="dk1"/>
                          </a:solidFill>
                          <a:latin typeface="+mn-lt"/>
                          <a:ea typeface="+mn-ea"/>
                          <a:cs typeface="+mn-cs"/>
                        </a:rPr>
                        <a:t>mean_d7_act_days_mtc</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200" dirty="0"/>
                        <a:t>Average of last 7 days incoming 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79765"/>
                  </a:ext>
                </a:extLst>
              </a:tr>
              <a:tr h="342683">
                <a:tc>
                  <a:txBody>
                    <a:bodyPr/>
                    <a:lstStyle/>
                    <a:p>
                      <a:pPr lvl="1" algn="l" fontAlgn="t"/>
                      <a:r>
                        <a:rPr lang="en-US" sz="1200" kern="1200" dirty="0" err="1">
                          <a:solidFill>
                            <a:schemeClr val="dk1"/>
                          </a:solidFill>
                          <a:latin typeface="+mn-lt"/>
                          <a:ea typeface="+mn-ea"/>
                          <a:cs typeface="+mn-cs"/>
                        </a:rPr>
                        <a:t>days_since_last_recharge</a:t>
                      </a:r>
                      <a:endParaRPr lang="en-US" sz="1200" kern="1200" dirty="0">
                        <a:solidFill>
                          <a:schemeClr val="dk1"/>
                        </a:solidFill>
                        <a:latin typeface="+mn-lt"/>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200" dirty="0"/>
                        <a:t>Days since last recharge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1299723"/>
                  </a:ext>
                </a:extLst>
              </a:tr>
            </a:tbl>
          </a:graphicData>
        </a:graphic>
      </p:graphicFrame>
      <p:sp>
        <p:nvSpPr>
          <p:cNvPr id="4" name="TextBox 3">
            <a:extLst>
              <a:ext uri="{FF2B5EF4-FFF2-40B4-BE49-F238E27FC236}">
                <a16:creationId xmlns:a16="http://schemas.microsoft.com/office/drawing/2014/main" id="{2B6A658A-B166-415F-B783-C37426CDBD90}"/>
              </a:ext>
            </a:extLst>
          </p:cNvPr>
          <p:cNvSpPr txBox="1"/>
          <p:nvPr/>
        </p:nvSpPr>
        <p:spPr>
          <a:xfrm>
            <a:off x="2630183" y="6567942"/>
            <a:ext cx="9556605"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100" b="0" i="1" u="none" strike="noStrike" kern="1200" cap="none" spc="0" normalizeH="0" baseline="0" noProof="0" dirty="0">
                <a:ln>
                  <a:noFill/>
                </a:ln>
                <a:solidFill>
                  <a:srgbClr val="75787B"/>
                </a:solidFill>
                <a:effectLst/>
                <a:uLnTx/>
                <a:uFillTx/>
                <a:latin typeface="Verdana"/>
                <a:ea typeface="+mn-ea"/>
                <a:cs typeface="Univers for KPMG"/>
              </a:rPr>
              <a:t>Note: Variables are arranged in order of the F score</a:t>
            </a:r>
          </a:p>
        </p:txBody>
      </p:sp>
    </p:spTree>
    <p:extLst>
      <p:ext uri="{BB962C8B-B14F-4D97-AF65-F5344CB8AC3E}">
        <p14:creationId xmlns:p14="http://schemas.microsoft.com/office/powerpoint/2010/main" val="3807022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9589411" y="1316738"/>
            <a:ext cx="2326972" cy="3316292"/>
          </a:xfrm>
          <a:prstGeom prst="rect">
            <a:avLst/>
          </a:prstGeom>
          <a:noFill/>
        </p:spPr>
        <p:txBody>
          <a:bodyPr wrap="square" rtlCol="0">
            <a:spAutoFit/>
          </a:bodyPr>
          <a:lstStyle/>
          <a:p>
            <a:pPr marL="0" lvl="1"/>
            <a:r>
              <a:rPr lang="en-IN" sz="1200" b="1" dirty="0">
                <a:latin typeface="Verdana" panose="020B0604030504040204" pitchFamily="34" charset="0"/>
                <a:ea typeface="Verdana" panose="020B0604030504040204" pitchFamily="34" charset="0"/>
                <a:cs typeface="Verdana" panose="020B0604030504040204" pitchFamily="34" charset="0"/>
              </a:rPr>
              <a:t>Comments</a:t>
            </a:r>
          </a:p>
          <a:p>
            <a:pPr marL="0" lvl="1"/>
            <a:endParaRPr lang="en-IN" sz="1050" b="1"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r>
              <a:rPr lang="en-US" sz="1100" dirty="0">
                <a:latin typeface="Verdana" panose="020B0604030504040204" pitchFamily="34" charset="0"/>
                <a:ea typeface="Verdana" panose="020B0604030504040204" pitchFamily="34" charset="0"/>
                <a:cs typeface="Verdana" panose="020B0604030504040204" pitchFamily="34" charset="0"/>
              </a:rPr>
              <a:t>Average 28 days revenue generation event in decile 1 is very low followed by decile 2</a:t>
            </a: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r>
              <a:rPr lang="en-US" sz="1100" dirty="0">
                <a:latin typeface="Verdana" panose="020B0604030504040204" pitchFamily="34" charset="0"/>
                <a:ea typeface="Verdana" panose="020B0604030504040204" pitchFamily="34" charset="0"/>
              </a:rPr>
              <a:t>Days since last SMS sent is highest in the first decile followed by second decile</a:t>
            </a: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r>
              <a:rPr lang="en-US" sz="1100" dirty="0">
                <a:latin typeface="Verdana" panose="020B0604030504040204" pitchFamily="34" charset="0"/>
                <a:ea typeface="Verdana" panose="020B0604030504040204" pitchFamily="34" charset="0"/>
              </a:rPr>
              <a:t>Days since last incoming voice call is highest in the first decile followed by second decile</a:t>
            </a: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r>
              <a:rPr lang="en-US" sz="1100" dirty="0">
                <a:latin typeface="Verdana" panose="020B0604030504040204" pitchFamily="34" charset="0"/>
                <a:ea typeface="Verdana" panose="020B0604030504040204" pitchFamily="34" charset="0"/>
              </a:rPr>
              <a:t>Days since last Data usage is highest in the first decile</a:t>
            </a:r>
          </a:p>
        </p:txBody>
      </p:sp>
      <p:sp>
        <p:nvSpPr>
          <p:cNvPr id="14" name="Title 14"/>
          <p:cNvSpPr txBox="1">
            <a:spLocks/>
          </p:cNvSpPr>
          <p:nvPr/>
        </p:nvSpPr>
        <p:spPr>
          <a:xfrm>
            <a:off x="571730" y="394855"/>
            <a:ext cx="10181167" cy="516795"/>
          </a:xfrm>
          <a:prstGeom prst="rect">
            <a:avLst/>
          </a:prstGeom>
          <a:noFill/>
        </p:spPr>
        <p:txBody>
          <a:bodyPr vert="horz" lIns="0" tIns="0" rIns="0" bIns="0" rtlCol="0" anchor="ctr" anchorCtr="0">
            <a:noAutofit/>
          </a:bodyPr>
          <a:lstStyle>
            <a:lvl1pPr algn="l" defTabSz="914400" rtl="0" eaLnBrk="1" latinLnBrk="0" hangingPunct="1">
              <a:lnSpc>
                <a:spcPct val="70000"/>
              </a:lnSpc>
              <a:spcBef>
                <a:spcPct val="0"/>
              </a:spcBef>
              <a:buNone/>
              <a:defRPr lang="en-US" sz="4400" b="0" i="0" kern="1200" dirty="0">
                <a:solidFill>
                  <a:schemeClr val="bg1"/>
                </a:solidFill>
                <a:latin typeface="KPMG Extralight" panose="020B0303030202040204" pitchFamily="34" charset="0"/>
                <a:ea typeface="+mj-ea"/>
                <a:cs typeface="KPMG Extralight" panose="020B0303030202040204" pitchFamily="34" charset="0"/>
              </a:defRPr>
            </a:lvl1pPr>
          </a:lstStyle>
          <a:p>
            <a:pPr>
              <a:defRPr/>
            </a:pPr>
            <a:r>
              <a:rPr lang="en-IN" sz="2400" dirty="0">
                <a:solidFill>
                  <a:schemeClr val="tx1"/>
                </a:solidFill>
                <a:latin typeface="Verdana" panose="020B0604030504040204" pitchFamily="34" charset="0"/>
                <a:ea typeface="Verdana" panose="020B0604030504040204" pitchFamily="34" charset="0"/>
                <a:cs typeface="Verdana" panose="020B0604030504040204" pitchFamily="34" charset="0"/>
              </a:rPr>
              <a:t>Decile profiling of significant predictors (1 of 2)</a:t>
            </a:r>
          </a:p>
        </p:txBody>
      </p:sp>
      <p:sp>
        <p:nvSpPr>
          <p:cNvPr id="24" name="Oval 23"/>
          <p:cNvSpPr/>
          <p:nvPr/>
        </p:nvSpPr>
        <p:spPr>
          <a:xfrm>
            <a:off x="9576190" y="1706557"/>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1</a:t>
            </a:r>
          </a:p>
        </p:txBody>
      </p:sp>
      <p:sp>
        <p:nvSpPr>
          <p:cNvPr id="29" name="Oval 28"/>
          <p:cNvSpPr/>
          <p:nvPr/>
        </p:nvSpPr>
        <p:spPr>
          <a:xfrm>
            <a:off x="9576190" y="2680732"/>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2</a:t>
            </a:r>
          </a:p>
        </p:txBody>
      </p:sp>
      <p:sp>
        <p:nvSpPr>
          <p:cNvPr id="31" name="Oval 30"/>
          <p:cNvSpPr/>
          <p:nvPr/>
        </p:nvSpPr>
        <p:spPr>
          <a:xfrm>
            <a:off x="9589411" y="3379772"/>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3</a:t>
            </a:r>
          </a:p>
        </p:txBody>
      </p:sp>
      <p:sp>
        <p:nvSpPr>
          <p:cNvPr id="32" name="Oval 31"/>
          <p:cNvSpPr/>
          <p:nvPr/>
        </p:nvSpPr>
        <p:spPr>
          <a:xfrm>
            <a:off x="9576190" y="4213763"/>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4</a:t>
            </a:r>
          </a:p>
        </p:txBody>
      </p:sp>
      <p:graphicFrame>
        <p:nvGraphicFramePr>
          <p:cNvPr id="4" name="Chart 3"/>
          <p:cNvGraphicFramePr/>
          <p:nvPr>
            <p:extLst>
              <p:ext uri="{D42A27DB-BD31-4B8C-83A1-F6EECF244321}">
                <p14:modId xmlns:p14="http://schemas.microsoft.com/office/powerpoint/2010/main" val="555472156"/>
              </p:ext>
            </p:extLst>
          </p:nvPr>
        </p:nvGraphicFramePr>
        <p:xfrm>
          <a:off x="782891" y="1325881"/>
          <a:ext cx="4109149" cy="22768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4" name="Chart 33"/>
          <p:cNvGraphicFramePr/>
          <p:nvPr>
            <p:extLst>
              <p:ext uri="{D42A27DB-BD31-4B8C-83A1-F6EECF244321}">
                <p14:modId xmlns:p14="http://schemas.microsoft.com/office/powerpoint/2010/main" val="3096456801"/>
              </p:ext>
            </p:extLst>
          </p:nvPr>
        </p:nvGraphicFramePr>
        <p:xfrm>
          <a:off x="5108922" y="1316738"/>
          <a:ext cx="4109149" cy="22768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5" name="Chart 34"/>
          <p:cNvGraphicFramePr/>
          <p:nvPr>
            <p:extLst>
              <p:ext uri="{D42A27DB-BD31-4B8C-83A1-F6EECF244321}">
                <p14:modId xmlns:p14="http://schemas.microsoft.com/office/powerpoint/2010/main" val="3623612580"/>
              </p:ext>
            </p:extLst>
          </p:nvPr>
        </p:nvGraphicFramePr>
        <p:xfrm>
          <a:off x="782891" y="3773127"/>
          <a:ext cx="4109149" cy="227685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6" name="Chart 35"/>
          <p:cNvGraphicFramePr/>
          <p:nvPr>
            <p:extLst>
              <p:ext uri="{D42A27DB-BD31-4B8C-83A1-F6EECF244321}">
                <p14:modId xmlns:p14="http://schemas.microsoft.com/office/powerpoint/2010/main" val="291317288"/>
              </p:ext>
            </p:extLst>
          </p:nvPr>
        </p:nvGraphicFramePr>
        <p:xfrm>
          <a:off x="5108922" y="3763984"/>
          <a:ext cx="4109149" cy="2276856"/>
        </p:xfrm>
        <a:graphic>
          <a:graphicData uri="http://schemas.openxmlformats.org/drawingml/2006/chart">
            <c:chart xmlns:c="http://schemas.openxmlformats.org/drawingml/2006/chart" xmlns:r="http://schemas.openxmlformats.org/officeDocument/2006/relationships" r:id="rId5"/>
          </a:graphicData>
        </a:graphic>
      </p:graphicFrame>
      <p:sp>
        <p:nvSpPr>
          <p:cNvPr id="37" name="Oval 36"/>
          <p:cNvSpPr/>
          <p:nvPr/>
        </p:nvSpPr>
        <p:spPr>
          <a:xfrm>
            <a:off x="782891" y="1317032"/>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1</a:t>
            </a:r>
          </a:p>
        </p:txBody>
      </p:sp>
      <p:sp>
        <p:nvSpPr>
          <p:cNvPr id="38" name="Oval 37"/>
          <p:cNvSpPr/>
          <p:nvPr/>
        </p:nvSpPr>
        <p:spPr>
          <a:xfrm>
            <a:off x="5105417" y="1325881"/>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2</a:t>
            </a:r>
          </a:p>
        </p:txBody>
      </p:sp>
      <p:sp>
        <p:nvSpPr>
          <p:cNvPr id="41" name="Oval 40"/>
          <p:cNvSpPr/>
          <p:nvPr/>
        </p:nvSpPr>
        <p:spPr>
          <a:xfrm>
            <a:off x="782891" y="3777521"/>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3</a:t>
            </a:r>
          </a:p>
        </p:txBody>
      </p:sp>
      <p:sp>
        <p:nvSpPr>
          <p:cNvPr id="42" name="Oval 41"/>
          <p:cNvSpPr/>
          <p:nvPr/>
        </p:nvSpPr>
        <p:spPr>
          <a:xfrm>
            <a:off x="5105417" y="3786370"/>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4</a:t>
            </a:r>
          </a:p>
        </p:txBody>
      </p:sp>
    </p:spTree>
    <p:extLst>
      <p:ext uri="{BB962C8B-B14F-4D97-AF65-F5344CB8AC3E}">
        <p14:creationId xmlns:p14="http://schemas.microsoft.com/office/powerpoint/2010/main" val="35230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9589411" y="1316738"/>
            <a:ext cx="2326972" cy="4501232"/>
          </a:xfrm>
          <a:prstGeom prst="rect">
            <a:avLst/>
          </a:prstGeom>
          <a:noFill/>
        </p:spPr>
        <p:txBody>
          <a:bodyPr wrap="square" rtlCol="0">
            <a:spAutoFit/>
          </a:bodyPr>
          <a:lstStyle/>
          <a:p>
            <a:pPr marL="0" lvl="1"/>
            <a:r>
              <a:rPr lang="en-IN" sz="1200" b="1" dirty="0">
                <a:latin typeface="Verdana" panose="020B0604030504040204" pitchFamily="34" charset="0"/>
                <a:ea typeface="Verdana" panose="020B0604030504040204" pitchFamily="34" charset="0"/>
                <a:cs typeface="Verdana" panose="020B0604030504040204" pitchFamily="34" charset="0"/>
              </a:rPr>
              <a:t>Comments</a:t>
            </a:r>
          </a:p>
          <a:p>
            <a:pPr marL="0" lvl="1"/>
            <a:endParaRPr lang="en-IN" sz="1050" b="1"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r>
              <a:rPr lang="en-US" sz="1100" dirty="0">
                <a:latin typeface="Verdana" panose="020B0604030504040204" pitchFamily="34" charset="0"/>
                <a:ea typeface="Verdana" panose="020B0604030504040204" pitchFamily="34" charset="0"/>
                <a:cs typeface="Verdana" panose="020B0604030504040204" pitchFamily="34" charset="0"/>
              </a:rPr>
              <a:t>Days since last talk time recharge in decile 1 is very high followed by decile 2</a:t>
            </a: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cs typeface="Verdana" panose="020B0604030504040204" pitchFamily="34" charset="0"/>
            </a:endParaRPr>
          </a:p>
          <a:p>
            <a:pPr marL="171450" indent="-171450">
              <a:buFont typeface="Arial" panose="020B0604020202020204" pitchFamily="34" charset="0"/>
              <a:buChar char="•"/>
            </a:pPr>
            <a:r>
              <a:rPr lang="en-US" sz="1100" dirty="0"/>
              <a:t>Sum of the total incoming calls received from social network in last 30 days </a:t>
            </a:r>
            <a:r>
              <a:rPr lang="en-US" sz="1100" dirty="0">
                <a:latin typeface="Verdana" panose="020B0604030504040204" pitchFamily="34" charset="0"/>
                <a:ea typeface="Verdana" panose="020B0604030504040204" pitchFamily="34" charset="0"/>
                <a:cs typeface="Verdana" panose="020B0604030504040204" pitchFamily="34" charset="0"/>
              </a:rPr>
              <a:t>least in first decile </a:t>
            </a:r>
            <a:r>
              <a:rPr lang="en-US" sz="1100" dirty="0">
                <a:latin typeface="Verdana" panose="020B0604030504040204" pitchFamily="34" charset="0"/>
                <a:ea typeface="Verdana" panose="020B0604030504040204" pitchFamily="34" charset="0"/>
              </a:rPr>
              <a:t>followed by second decile</a:t>
            </a: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100" dirty="0">
                <a:latin typeface="Verdana" panose="020B0604030504040204" pitchFamily="34" charset="0"/>
                <a:ea typeface="Verdana" panose="020B0604030504040204" pitchFamily="34" charset="0"/>
              </a:rPr>
              <a:t>Last 14 days average total revenue is least in first decile followed by second decile</a:t>
            </a: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endParaRPr lang="en-US" sz="1100" dirty="0">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US" sz="1100" dirty="0"/>
              <a:t>Ratio of average of last 14 to previous 28 days revenue generation event </a:t>
            </a:r>
            <a:r>
              <a:rPr lang="en-US" sz="1100" dirty="0">
                <a:latin typeface="Verdana" panose="020B0604030504040204" pitchFamily="34" charset="0"/>
                <a:ea typeface="Verdana" panose="020B0604030504040204" pitchFamily="34" charset="0"/>
              </a:rPr>
              <a:t>is lowest in the first decile and followed by second decile</a:t>
            </a:r>
          </a:p>
        </p:txBody>
      </p:sp>
      <p:sp>
        <p:nvSpPr>
          <p:cNvPr id="14" name="Title 14"/>
          <p:cNvSpPr txBox="1">
            <a:spLocks/>
          </p:cNvSpPr>
          <p:nvPr/>
        </p:nvSpPr>
        <p:spPr>
          <a:xfrm>
            <a:off x="571730" y="394855"/>
            <a:ext cx="10181167" cy="516795"/>
          </a:xfrm>
          <a:prstGeom prst="rect">
            <a:avLst/>
          </a:prstGeom>
          <a:noFill/>
        </p:spPr>
        <p:txBody>
          <a:bodyPr vert="horz" lIns="0" tIns="0" rIns="0" bIns="0" rtlCol="0" anchor="ctr" anchorCtr="0">
            <a:noAutofit/>
          </a:bodyPr>
          <a:lstStyle>
            <a:lvl1pPr algn="l" defTabSz="914400" rtl="0" eaLnBrk="1" latinLnBrk="0" hangingPunct="1">
              <a:lnSpc>
                <a:spcPct val="70000"/>
              </a:lnSpc>
              <a:spcBef>
                <a:spcPct val="0"/>
              </a:spcBef>
              <a:buNone/>
              <a:defRPr lang="en-US" sz="4400" b="0" i="0" kern="1200" dirty="0">
                <a:solidFill>
                  <a:schemeClr val="bg1"/>
                </a:solidFill>
                <a:latin typeface="KPMG Extralight" panose="020B0303030202040204" pitchFamily="34" charset="0"/>
                <a:ea typeface="+mj-ea"/>
                <a:cs typeface="KPMG Extralight" panose="020B0303030202040204" pitchFamily="34" charset="0"/>
              </a:defRPr>
            </a:lvl1pPr>
          </a:lstStyle>
          <a:p>
            <a:pPr>
              <a:defRPr/>
            </a:pPr>
            <a:r>
              <a:rPr lang="en-IN" sz="2400" dirty="0">
                <a:solidFill>
                  <a:schemeClr val="tx1"/>
                </a:solidFill>
                <a:latin typeface="Verdana" panose="020B0604030504040204" pitchFamily="34" charset="0"/>
                <a:ea typeface="Verdana" panose="020B0604030504040204" pitchFamily="34" charset="0"/>
                <a:cs typeface="Verdana" panose="020B0604030504040204" pitchFamily="34" charset="0"/>
              </a:rPr>
              <a:t>Decile profiling of significant predictors (2 of 2)</a:t>
            </a:r>
          </a:p>
        </p:txBody>
      </p:sp>
      <p:sp>
        <p:nvSpPr>
          <p:cNvPr id="24" name="Oval 23"/>
          <p:cNvSpPr/>
          <p:nvPr/>
        </p:nvSpPr>
        <p:spPr>
          <a:xfrm>
            <a:off x="9576190" y="1706557"/>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1</a:t>
            </a:r>
          </a:p>
        </p:txBody>
      </p:sp>
      <p:sp>
        <p:nvSpPr>
          <p:cNvPr id="29" name="Oval 28"/>
          <p:cNvSpPr/>
          <p:nvPr/>
        </p:nvSpPr>
        <p:spPr>
          <a:xfrm>
            <a:off x="9576190" y="2547170"/>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2</a:t>
            </a:r>
          </a:p>
        </p:txBody>
      </p:sp>
      <p:sp>
        <p:nvSpPr>
          <p:cNvPr id="31" name="Oval 30"/>
          <p:cNvSpPr/>
          <p:nvPr/>
        </p:nvSpPr>
        <p:spPr>
          <a:xfrm>
            <a:off x="9589411" y="3709749"/>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3</a:t>
            </a:r>
          </a:p>
        </p:txBody>
      </p:sp>
      <p:sp>
        <p:nvSpPr>
          <p:cNvPr id="32" name="Oval 31"/>
          <p:cNvSpPr/>
          <p:nvPr/>
        </p:nvSpPr>
        <p:spPr>
          <a:xfrm>
            <a:off x="9576190" y="4697494"/>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4</a:t>
            </a:r>
          </a:p>
        </p:txBody>
      </p:sp>
      <p:graphicFrame>
        <p:nvGraphicFramePr>
          <p:cNvPr id="4" name="Chart 3"/>
          <p:cNvGraphicFramePr/>
          <p:nvPr>
            <p:extLst>
              <p:ext uri="{D42A27DB-BD31-4B8C-83A1-F6EECF244321}">
                <p14:modId xmlns:p14="http://schemas.microsoft.com/office/powerpoint/2010/main" val="3590461413"/>
              </p:ext>
            </p:extLst>
          </p:nvPr>
        </p:nvGraphicFramePr>
        <p:xfrm>
          <a:off x="782891" y="1325881"/>
          <a:ext cx="4109149" cy="22768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4" name="Chart 33"/>
          <p:cNvGraphicFramePr/>
          <p:nvPr>
            <p:extLst>
              <p:ext uri="{D42A27DB-BD31-4B8C-83A1-F6EECF244321}">
                <p14:modId xmlns:p14="http://schemas.microsoft.com/office/powerpoint/2010/main" val="272520057"/>
              </p:ext>
            </p:extLst>
          </p:nvPr>
        </p:nvGraphicFramePr>
        <p:xfrm>
          <a:off x="5108922" y="1316738"/>
          <a:ext cx="4109149" cy="22768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5" name="Chart 34"/>
          <p:cNvGraphicFramePr/>
          <p:nvPr>
            <p:extLst>
              <p:ext uri="{D42A27DB-BD31-4B8C-83A1-F6EECF244321}">
                <p14:modId xmlns:p14="http://schemas.microsoft.com/office/powerpoint/2010/main" val="1171211174"/>
              </p:ext>
            </p:extLst>
          </p:nvPr>
        </p:nvGraphicFramePr>
        <p:xfrm>
          <a:off x="782891" y="3773127"/>
          <a:ext cx="4109149" cy="227685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6" name="Chart 35"/>
          <p:cNvGraphicFramePr/>
          <p:nvPr>
            <p:extLst>
              <p:ext uri="{D42A27DB-BD31-4B8C-83A1-F6EECF244321}">
                <p14:modId xmlns:p14="http://schemas.microsoft.com/office/powerpoint/2010/main" val="273321452"/>
              </p:ext>
            </p:extLst>
          </p:nvPr>
        </p:nvGraphicFramePr>
        <p:xfrm>
          <a:off x="5108922" y="3763984"/>
          <a:ext cx="4109149" cy="2276856"/>
        </p:xfrm>
        <a:graphic>
          <a:graphicData uri="http://schemas.openxmlformats.org/drawingml/2006/chart">
            <c:chart xmlns:c="http://schemas.openxmlformats.org/drawingml/2006/chart" xmlns:r="http://schemas.openxmlformats.org/officeDocument/2006/relationships" r:id="rId5"/>
          </a:graphicData>
        </a:graphic>
      </p:graphicFrame>
      <p:sp>
        <p:nvSpPr>
          <p:cNvPr id="37" name="Oval 36"/>
          <p:cNvSpPr/>
          <p:nvPr/>
        </p:nvSpPr>
        <p:spPr>
          <a:xfrm>
            <a:off x="782891" y="1317032"/>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1</a:t>
            </a:r>
          </a:p>
        </p:txBody>
      </p:sp>
      <p:sp>
        <p:nvSpPr>
          <p:cNvPr id="38" name="Oval 37"/>
          <p:cNvSpPr/>
          <p:nvPr/>
        </p:nvSpPr>
        <p:spPr>
          <a:xfrm>
            <a:off x="5105417" y="1325881"/>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2</a:t>
            </a:r>
          </a:p>
        </p:txBody>
      </p:sp>
      <p:sp>
        <p:nvSpPr>
          <p:cNvPr id="41" name="Oval 40"/>
          <p:cNvSpPr/>
          <p:nvPr/>
        </p:nvSpPr>
        <p:spPr>
          <a:xfrm>
            <a:off x="782891" y="3777521"/>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3</a:t>
            </a:r>
          </a:p>
        </p:txBody>
      </p:sp>
      <p:sp>
        <p:nvSpPr>
          <p:cNvPr id="42" name="Oval 41"/>
          <p:cNvSpPr/>
          <p:nvPr/>
        </p:nvSpPr>
        <p:spPr>
          <a:xfrm>
            <a:off x="5105417" y="3786370"/>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algn="ctr">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4</a:t>
            </a:r>
          </a:p>
        </p:txBody>
      </p:sp>
      <p:sp>
        <p:nvSpPr>
          <p:cNvPr id="17" name="TextBox 16">
            <a:extLst>
              <a:ext uri="{FF2B5EF4-FFF2-40B4-BE49-F238E27FC236}">
                <a16:creationId xmlns:a16="http://schemas.microsoft.com/office/drawing/2014/main" id="{865689A6-4BAD-4EEF-9000-E385154BFFD0}"/>
              </a:ext>
            </a:extLst>
          </p:cNvPr>
          <p:cNvSpPr txBox="1"/>
          <p:nvPr/>
        </p:nvSpPr>
        <p:spPr>
          <a:xfrm>
            <a:off x="6188466" y="6588490"/>
            <a:ext cx="5998322"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100" b="0" i="1" u="none" strike="noStrike" kern="1200" cap="none" spc="0" normalizeH="0" baseline="0" noProof="0" dirty="0">
                <a:ln>
                  <a:noFill/>
                </a:ln>
                <a:solidFill>
                  <a:srgbClr val="75787B"/>
                </a:solidFill>
                <a:effectLst/>
                <a:uLnTx/>
                <a:uFillTx/>
                <a:latin typeface="Verdana"/>
                <a:ea typeface="+mn-ea"/>
                <a:cs typeface="Univers for KPMG"/>
              </a:rPr>
              <a:t>Revenue in </a:t>
            </a:r>
            <a:r>
              <a:rPr lang="en-IN" sz="1100" i="1" dirty="0">
                <a:solidFill>
                  <a:srgbClr val="75787B"/>
                </a:solidFill>
                <a:latin typeface="Verdana"/>
                <a:cs typeface="Univers for KPMG"/>
              </a:rPr>
              <a:t>Cents</a:t>
            </a:r>
            <a:endParaRPr kumimoji="0" lang="en-IN" sz="1100" b="0" i="1" u="none" strike="noStrike" kern="1200" cap="none" spc="0" normalizeH="0" baseline="0" noProof="0" dirty="0">
              <a:ln>
                <a:noFill/>
              </a:ln>
              <a:solidFill>
                <a:srgbClr val="75787B"/>
              </a:solidFill>
              <a:effectLst/>
              <a:uLnTx/>
              <a:uFillTx/>
              <a:latin typeface="Verdana"/>
              <a:ea typeface="+mn-ea"/>
              <a:cs typeface="Univers for KPMG"/>
            </a:endParaRPr>
          </a:p>
        </p:txBody>
      </p:sp>
    </p:spTree>
    <p:extLst>
      <p:ext uri="{BB962C8B-B14F-4D97-AF65-F5344CB8AC3E}">
        <p14:creationId xmlns:p14="http://schemas.microsoft.com/office/powerpoint/2010/main" val="3085817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4">
            <a:extLst>
              <a:ext uri="{FF2B5EF4-FFF2-40B4-BE49-F238E27FC236}">
                <a16:creationId xmlns:a16="http://schemas.microsoft.com/office/drawing/2014/main" id="{8B78CF46-EBC7-4EA3-ACC1-20B299DAEF8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9698804" cy="6857997"/>
          </a:xfrm>
          <a:prstGeom prst="rect">
            <a:avLst/>
          </a:prstGeom>
        </p:spPr>
      </p:pic>
      <p:sp>
        <p:nvSpPr>
          <p:cNvPr id="8" name="标题 3"/>
          <p:cNvSpPr>
            <a:spLocks noGrp="1"/>
          </p:cNvSpPr>
          <p:nvPr>
            <p:ph type="title"/>
          </p:nvPr>
        </p:nvSpPr>
        <p:spPr>
          <a:xfrm>
            <a:off x="7915275" y="2"/>
            <a:ext cx="4276725" cy="6857997"/>
          </a:xfrm>
          <a:solidFill>
            <a:schemeClr val="tx1"/>
          </a:solidFill>
        </p:spPr>
        <p:txBody>
          <a:bodyPr anchor="ctr" anchorCtr="0"/>
          <a:lstStyle/>
          <a:p>
            <a:pPr algn="ctr"/>
            <a:r>
              <a:rPr lang="en-US" sz="2400" dirty="0">
                <a:solidFill>
                  <a:schemeClr val="bg1"/>
                </a:solidFill>
              </a:rPr>
              <a:t>Thank you</a:t>
            </a:r>
            <a:endParaRPr lang="en-US" sz="2800" dirty="0">
              <a:solidFill>
                <a:schemeClr val="bg1"/>
              </a:solidFill>
              <a:latin typeface="+mn-lt"/>
              <a:cs typeface="Calibri" panose="020F0502020204030204" pitchFamily="34" charset="0"/>
            </a:endParaRPr>
          </a:p>
        </p:txBody>
      </p:sp>
      <p:cxnSp>
        <p:nvCxnSpPr>
          <p:cNvPr id="5" name="Straight Connector 4">
            <a:extLst>
              <a:ext uri="{FF2B5EF4-FFF2-40B4-BE49-F238E27FC236}">
                <a16:creationId xmlns:a16="http://schemas.microsoft.com/office/drawing/2014/main" id="{B9F93C75-99B5-4EC7-91A1-BB89496D4733}"/>
              </a:ext>
            </a:extLst>
          </p:cNvPr>
          <p:cNvCxnSpPr>
            <a:cxnSpLocks/>
          </p:cNvCxnSpPr>
          <p:nvPr/>
        </p:nvCxnSpPr>
        <p:spPr>
          <a:xfrm>
            <a:off x="8554021" y="4315968"/>
            <a:ext cx="2999232" cy="18288"/>
          </a:xfrm>
          <a:prstGeom prst="line">
            <a:avLst/>
          </a:prstGeom>
          <a:noFill/>
          <a:ln w="57150" cap="flat" cmpd="sng" algn="ctr">
            <a:solidFill>
              <a:schemeClr val="accent1"/>
            </a:solidFill>
            <a:prstDash val="solid"/>
            <a:miter lim="800000"/>
          </a:ln>
          <a:effectLst/>
        </p:spPr>
      </p:cxnSp>
    </p:spTree>
    <p:extLst>
      <p:ext uri="{BB962C8B-B14F-4D97-AF65-F5344CB8AC3E}">
        <p14:creationId xmlns:p14="http://schemas.microsoft.com/office/powerpoint/2010/main" val="171647897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a:extLst>
              <a:ext uri="{FF2B5EF4-FFF2-40B4-BE49-F238E27FC236}">
                <a16:creationId xmlns:a16="http://schemas.microsoft.com/office/drawing/2014/main" id="{E10BCD69-B8FD-4704-8469-4351F6F1636E}"/>
              </a:ext>
            </a:extLst>
          </p:cNvPr>
          <p:cNvSpPr txBox="1">
            <a:spLocks noChangeArrowheads="1"/>
          </p:cNvSpPr>
          <p:nvPr/>
        </p:nvSpPr>
        <p:spPr bwMode="auto">
          <a:xfrm>
            <a:off x="0" y="124551"/>
            <a:ext cx="12191999" cy="2673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457200" rtl="0" eaLnBrk="0" fontAlgn="base" latinLnBrk="0" hangingPunct="0">
              <a:lnSpc>
                <a:spcPct val="100000"/>
              </a:lnSpc>
              <a:spcBef>
                <a:spcPct val="0"/>
              </a:spcBef>
              <a:spcAft>
                <a:spcPct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Appendix</a:t>
            </a:r>
          </a:p>
        </p:txBody>
      </p:sp>
      <p:sp>
        <p:nvSpPr>
          <p:cNvPr id="33" name="TextBox 32">
            <a:extLst>
              <a:ext uri="{FF2B5EF4-FFF2-40B4-BE49-F238E27FC236}">
                <a16:creationId xmlns:a16="http://schemas.microsoft.com/office/drawing/2014/main" id="{D0A47156-A529-4711-BDA5-5F85F9996BC3}"/>
              </a:ext>
            </a:extLst>
          </p:cNvPr>
          <p:cNvSpPr txBox="1"/>
          <p:nvPr/>
        </p:nvSpPr>
        <p:spPr>
          <a:xfrm>
            <a:off x="461632" y="535541"/>
            <a:ext cx="10709086" cy="4555093"/>
          </a:xfrm>
          <a:prstGeom prst="rect">
            <a:avLst/>
          </a:prstGeom>
          <a:noFill/>
        </p:spPr>
        <p:txBody>
          <a:bodyPr wrap="square" rtlCol="0">
            <a:spAutoFit/>
          </a:bodyPr>
          <a:lstStyle/>
          <a:p>
            <a:pPr marL="0" lvl="1">
              <a:buClr>
                <a:srgbClr val="006699"/>
              </a:buClr>
            </a:pPr>
            <a:r>
              <a:rPr lang="en-US" sz="1000" b="1" i="1" dirty="0">
                <a:solidFill>
                  <a:srgbClr val="313131"/>
                </a:solidFill>
              </a:rPr>
              <a:t>Logistic regression  -</a:t>
            </a:r>
            <a:r>
              <a:rPr lang="en-US" sz="1000" dirty="0">
                <a:solidFill>
                  <a:srgbClr val="313131"/>
                </a:solidFill>
              </a:rPr>
              <a:t> Logistic regression is used to model the probability of a certain class or event existing such as Churn/No-Churn. Each MSISDN being in the process would be assigned a probability between 0 and 1.</a:t>
            </a:r>
          </a:p>
          <a:p>
            <a:pPr marL="0" lvl="1">
              <a:buClr>
                <a:srgbClr val="006699"/>
              </a:buClr>
            </a:pPr>
            <a:endParaRPr lang="en-US" altLang="en-US" sz="1000" b="1" i="1" dirty="0"/>
          </a:p>
          <a:p>
            <a:pPr marL="0" lvl="1">
              <a:buClr>
                <a:srgbClr val="006699"/>
              </a:buClr>
            </a:pPr>
            <a:r>
              <a:rPr lang="en-US" sz="1000" b="1" i="1" dirty="0">
                <a:solidFill>
                  <a:srgbClr val="313131"/>
                </a:solidFill>
              </a:rPr>
              <a:t>Decision tree  -</a:t>
            </a:r>
            <a:r>
              <a:rPr lang="en-US" sz="1000" dirty="0">
                <a:solidFill>
                  <a:srgbClr val="313131"/>
                </a:solidFill>
              </a:rPr>
              <a:t> A decision tree is a flowchart-like structure in which each internal node represents a "test" on an attribute, each branch represents the outcome of the test, and each leaf node represents a class label (decision taken after computing all attributes). The paths from root to leaf represent classification rules.</a:t>
            </a:r>
          </a:p>
          <a:p>
            <a:pPr marL="0" lvl="1">
              <a:buClr>
                <a:srgbClr val="006699"/>
              </a:buClr>
            </a:pPr>
            <a:endParaRPr lang="en-US" altLang="en-US" sz="1000" b="1" i="1" dirty="0"/>
          </a:p>
          <a:p>
            <a:pPr marL="0" lvl="1">
              <a:buClr>
                <a:srgbClr val="006699"/>
              </a:buClr>
            </a:pPr>
            <a:r>
              <a:rPr lang="en-US" sz="1000" b="1" i="1" dirty="0">
                <a:solidFill>
                  <a:srgbClr val="313131"/>
                </a:solidFill>
              </a:rPr>
              <a:t>Random forest -</a:t>
            </a:r>
            <a:r>
              <a:rPr lang="en-US" sz="1000" dirty="0">
                <a:solidFill>
                  <a:srgbClr val="313131"/>
                </a:solidFill>
              </a:rPr>
              <a:t> Random forests are an ensemble learning method for classification tasks that operates by constructing a multitude of decision trees at training time. For classification tasks, the output of the random forest is the class selected by most trees.</a:t>
            </a:r>
          </a:p>
          <a:p>
            <a:pPr marL="0" lvl="1">
              <a:buClr>
                <a:srgbClr val="006699"/>
              </a:buClr>
            </a:pPr>
            <a:endParaRPr lang="en-US" altLang="en-US" sz="1000" b="1" i="1" dirty="0"/>
          </a:p>
          <a:p>
            <a:pPr marL="0" lvl="1">
              <a:buClr>
                <a:srgbClr val="006699"/>
              </a:buClr>
            </a:pPr>
            <a:r>
              <a:rPr lang="en-US" sz="1000" b="1" i="1" dirty="0" err="1">
                <a:solidFill>
                  <a:srgbClr val="313131"/>
                </a:solidFill>
              </a:rPr>
              <a:t>XGBoost</a:t>
            </a:r>
            <a:r>
              <a:rPr lang="en-US" sz="1000" b="1" i="1" dirty="0">
                <a:solidFill>
                  <a:srgbClr val="313131"/>
                </a:solidFill>
              </a:rPr>
              <a:t> -</a:t>
            </a:r>
            <a:r>
              <a:rPr lang="en-US" sz="1000" dirty="0">
                <a:solidFill>
                  <a:srgbClr val="313131"/>
                </a:solidFill>
              </a:rPr>
              <a:t> </a:t>
            </a:r>
            <a:r>
              <a:rPr lang="en-US" sz="1000" dirty="0" err="1">
                <a:solidFill>
                  <a:srgbClr val="313131"/>
                </a:solidFill>
              </a:rPr>
              <a:t>XGBoost</a:t>
            </a:r>
            <a:r>
              <a:rPr lang="en-US" sz="1000" dirty="0">
                <a:solidFill>
                  <a:srgbClr val="313131"/>
                </a:solidFill>
              </a:rPr>
              <a:t> is a decision-tree-based ensemble Machine Learning algorithm that uses a gradient boosting framework. It is more advanced version of tree-based algorithm with a better performance.</a:t>
            </a:r>
          </a:p>
          <a:p>
            <a:pPr marL="0" lvl="1">
              <a:buClr>
                <a:srgbClr val="006699"/>
              </a:buClr>
            </a:pPr>
            <a:endParaRPr lang="en-US" sz="1000" dirty="0">
              <a:solidFill>
                <a:srgbClr val="313131"/>
              </a:solidFill>
            </a:endParaRPr>
          </a:p>
          <a:p>
            <a:pPr marL="0" lvl="1">
              <a:buClr>
                <a:srgbClr val="006699"/>
              </a:buClr>
            </a:pPr>
            <a:r>
              <a:rPr lang="en-US" sz="1000" b="1" i="1" dirty="0" err="1">
                <a:solidFill>
                  <a:srgbClr val="313131"/>
                </a:solidFill>
              </a:rPr>
              <a:t>AutoML</a:t>
            </a:r>
            <a:r>
              <a:rPr lang="en-US" sz="1000" b="1" i="1" dirty="0">
                <a:solidFill>
                  <a:srgbClr val="313131"/>
                </a:solidFill>
              </a:rPr>
              <a:t> -</a:t>
            </a:r>
            <a:r>
              <a:rPr lang="en-US" sz="1000" dirty="0">
                <a:solidFill>
                  <a:srgbClr val="313131"/>
                </a:solidFill>
              </a:rPr>
              <a:t> Automated machine learning (</a:t>
            </a:r>
            <a:r>
              <a:rPr lang="en-US" sz="1000" dirty="0" err="1">
                <a:solidFill>
                  <a:srgbClr val="313131"/>
                </a:solidFill>
              </a:rPr>
              <a:t>AutoML</a:t>
            </a:r>
            <a:r>
              <a:rPr lang="en-US" sz="1000" dirty="0">
                <a:solidFill>
                  <a:srgbClr val="313131"/>
                </a:solidFill>
              </a:rPr>
              <a:t>) is the process of automating process of applying machine learning. </a:t>
            </a:r>
            <a:r>
              <a:rPr lang="en-US" sz="1000" dirty="0" err="1">
                <a:solidFill>
                  <a:srgbClr val="313131"/>
                </a:solidFill>
              </a:rPr>
              <a:t>AutoML</a:t>
            </a:r>
            <a:r>
              <a:rPr lang="en-US" sz="1000" dirty="0">
                <a:solidFill>
                  <a:srgbClr val="313131"/>
                </a:solidFill>
              </a:rPr>
              <a:t> automates most of the steps in a Machine Learning process, with a minimum amount of human effort and it is more of a Black Box method of ML with less flexibility.</a:t>
            </a:r>
          </a:p>
          <a:p>
            <a:pPr marL="0" lvl="1">
              <a:buClr>
                <a:srgbClr val="006699"/>
              </a:buClr>
            </a:pPr>
            <a:endParaRPr lang="en-US" altLang="en-US" sz="1000" b="1" i="1" dirty="0"/>
          </a:p>
          <a:p>
            <a:pPr marL="0" lvl="1">
              <a:buClr>
                <a:srgbClr val="006699"/>
              </a:buClr>
            </a:pPr>
            <a:r>
              <a:rPr lang="en-US" altLang="en-US" sz="1000" b="1" i="1" dirty="0"/>
              <a:t>Accuracy </a:t>
            </a:r>
            <a:r>
              <a:rPr lang="en-US" altLang="en-US" sz="1000" i="1" dirty="0"/>
              <a:t>–   </a:t>
            </a:r>
            <a:r>
              <a:rPr lang="en-US" altLang="en-US" sz="1000" dirty="0"/>
              <a:t>It is the </a:t>
            </a:r>
            <a:r>
              <a:rPr lang="en-US" sz="1000" dirty="0"/>
              <a:t>percent of correct classifications obtained through predictive modeling exercise.</a:t>
            </a:r>
          </a:p>
          <a:p>
            <a:pPr marL="0" lvl="1">
              <a:buClr>
                <a:srgbClr val="006699"/>
              </a:buClr>
            </a:pPr>
            <a:endParaRPr lang="en-US" altLang="en-US" sz="1000" b="1" i="1" dirty="0"/>
          </a:p>
          <a:p>
            <a:pPr marL="0" lvl="1">
              <a:buClr>
                <a:srgbClr val="006699"/>
              </a:buClr>
            </a:pPr>
            <a:r>
              <a:rPr lang="en-US" altLang="en-US" sz="1000" b="1" i="1" dirty="0"/>
              <a:t>Precision </a:t>
            </a:r>
            <a:r>
              <a:rPr lang="en-US" altLang="en-US" sz="1000" i="1" dirty="0"/>
              <a:t>–   </a:t>
            </a:r>
            <a:r>
              <a:rPr lang="en-US" altLang="en-US" sz="1000" dirty="0"/>
              <a:t>It is the proportion of predicted churners that turn out to be actual churners.</a:t>
            </a:r>
            <a:endParaRPr lang="en-US" altLang="en-US" sz="1000" b="1" i="1" dirty="0"/>
          </a:p>
          <a:p>
            <a:pPr marL="0" lvl="1">
              <a:buClr>
                <a:srgbClr val="006699"/>
              </a:buClr>
            </a:pPr>
            <a:endParaRPr lang="en-US" altLang="en-US" sz="1000" b="1" i="1" dirty="0"/>
          </a:p>
          <a:p>
            <a:pPr marL="0" lvl="1">
              <a:buClr>
                <a:srgbClr val="006699"/>
              </a:buClr>
            </a:pPr>
            <a:r>
              <a:rPr lang="en-US" altLang="en-US" sz="1000" b="1" i="1" dirty="0"/>
              <a:t>Recall</a:t>
            </a:r>
            <a:r>
              <a:rPr lang="en-US" altLang="en-US" sz="1000" i="1" dirty="0"/>
              <a:t> – </a:t>
            </a:r>
            <a:r>
              <a:rPr lang="en-US" altLang="en-US" sz="1000" dirty="0"/>
              <a:t>It is the proportion of actual churners that were predicted to be churners. </a:t>
            </a:r>
          </a:p>
          <a:p>
            <a:pPr marL="0" lvl="1">
              <a:buClr>
                <a:srgbClr val="006699"/>
              </a:buClr>
            </a:pPr>
            <a:endParaRPr lang="en-US" altLang="en-US" sz="1000" b="1" i="1" dirty="0"/>
          </a:p>
          <a:p>
            <a:pPr marL="0" lvl="1">
              <a:buClr>
                <a:srgbClr val="006699"/>
              </a:buClr>
            </a:pPr>
            <a:r>
              <a:rPr lang="en-US" altLang="en-US" sz="1000" b="1" i="1" dirty="0"/>
              <a:t>Specificity </a:t>
            </a:r>
            <a:r>
              <a:rPr lang="en-US" altLang="en-US" sz="1000" i="1" dirty="0"/>
              <a:t> – </a:t>
            </a:r>
            <a:r>
              <a:rPr lang="en-US" altLang="en-US" sz="1000" dirty="0"/>
              <a:t>It is the proportion of actual non churners that were predicted to be non churners. </a:t>
            </a:r>
          </a:p>
          <a:p>
            <a:pPr marL="0" lvl="1">
              <a:buClr>
                <a:srgbClr val="006699"/>
              </a:buClr>
            </a:pPr>
            <a:endParaRPr lang="en-US" altLang="en-US" sz="1000" b="1" i="1" dirty="0"/>
          </a:p>
          <a:p>
            <a:pPr marL="0" lvl="1">
              <a:buClr>
                <a:srgbClr val="006699"/>
              </a:buClr>
            </a:pPr>
            <a:r>
              <a:rPr lang="en-US" altLang="en-US" sz="1000" b="1" i="1" dirty="0"/>
              <a:t>AUC – </a:t>
            </a:r>
            <a:r>
              <a:rPr lang="en-US" sz="1000" dirty="0"/>
              <a:t>It is referred as an index of accuracy, higher the area under the curve better prediction power model has</a:t>
            </a:r>
          </a:p>
          <a:p>
            <a:pPr marL="0" lvl="1">
              <a:buClr>
                <a:srgbClr val="006699"/>
              </a:buClr>
            </a:pPr>
            <a:endParaRPr lang="en-US" altLang="en-US" sz="1000" b="1" i="1" dirty="0"/>
          </a:p>
          <a:p>
            <a:pPr marL="0" lvl="1">
              <a:buClr>
                <a:srgbClr val="006699"/>
              </a:buClr>
            </a:pPr>
            <a:r>
              <a:rPr lang="en-US" altLang="en-US" sz="1000" b="1" i="1" dirty="0"/>
              <a:t>Lift - </a:t>
            </a:r>
            <a:r>
              <a:rPr lang="en-US" altLang="en-US" sz="1000" dirty="0"/>
              <a:t>Lift is a measure of how much better the statistical model does than not using a model at all.</a:t>
            </a:r>
          </a:p>
          <a:p>
            <a:pPr marL="0" lvl="1">
              <a:buClr>
                <a:srgbClr val="006699"/>
              </a:buClr>
            </a:pPr>
            <a:endParaRPr lang="en-US" altLang="en-US" sz="1000" b="1" i="1" dirty="0"/>
          </a:p>
          <a:p>
            <a:pPr marL="0" lvl="1">
              <a:buClr>
                <a:srgbClr val="006699"/>
              </a:buClr>
            </a:pPr>
            <a:r>
              <a:rPr lang="en-US" altLang="en-US" sz="1000" b="1" i="1" dirty="0"/>
              <a:t>KS Statistics - </a:t>
            </a:r>
            <a:r>
              <a:rPr lang="en-US" altLang="en-US" sz="1000" dirty="0"/>
              <a:t>Kolmogorov-Smirnov(KS) statistics is the discriminatory power of a model to distinguish between events and non-events.</a:t>
            </a:r>
          </a:p>
        </p:txBody>
      </p:sp>
    </p:spTree>
    <p:extLst>
      <p:ext uri="{BB962C8B-B14F-4D97-AF65-F5344CB8AC3E}">
        <p14:creationId xmlns:p14="http://schemas.microsoft.com/office/powerpoint/2010/main" val="2271889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own Arrow 8">
            <a:extLst>
              <a:ext uri="{FF2B5EF4-FFF2-40B4-BE49-F238E27FC236}">
                <a16:creationId xmlns:a16="http://schemas.microsoft.com/office/drawing/2014/main" id="{BF1991F5-5F24-4592-827A-BF4B85F09182}"/>
              </a:ext>
            </a:extLst>
          </p:cNvPr>
          <p:cNvSpPr/>
          <p:nvPr/>
        </p:nvSpPr>
        <p:spPr bwMode="gray">
          <a:xfrm>
            <a:off x="27851" y="1330666"/>
            <a:ext cx="653875" cy="2878057"/>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aphicFrame>
        <p:nvGraphicFramePr>
          <p:cNvPr id="3" name="Table 18">
            <a:extLst>
              <a:ext uri="{FF2B5EF4-FFF2-40B4-BE49-F238E27FC236}">
                <a16:creationId xmlns:a16="http://schemas.microsoft.com/office/drawing/2014/main" id="{9839438D-FB2A-4716-8C19-60F7D924157C}"/>
              </a:ext>
            </a:extLst>
          </p:cNvPr>
          <p:cNvGraphicFramePr>
            <a:graphicFrameLocks noGrp="1"/>
          </p:cNvGraphicFramePr>
          <p:nvPr>
            <p:extLst>
              <p:ext uri="{D42A27DB-BD31-4B8C-83A1-F6EECF244321}">
                <p14:modId xmlns:p14="http://schemas.microsoft.com/office/powerpoint/2010/main" val="623279271"/>
              </p:ext>
            </p:extLst>
          </p:nvPr>
        </p:nvGraphicFramePr>
        <p:xfrm>
          <a:off x="702403" y="1131789"/>
          <a:ext cx="10947828" cy="3295856"/>
        </p:xfrm>
        <a:graphic>
          <a:graphicData uri="http://schemas.openxmlformats.org/drawingml/2006/table">
            <a:tbl>
              <a:tblPr firstRow="1" bandRow="1">
                <a:tableStyleId>{5C22544A-7EE6-4342-B048-85BDC9FD1C3A}</a:tableStyleId>
              </a:tblPr>
              <a:tblGrid>
                <a:gridCol w="912319">
                  <a:extLst>
                    <a:ext uri="{9D8B030D-6E8A-4147-A177-3AD203B41FA5}">
                      <a16:colId xmlns:a16="http://schemas.microsoft.com/office/drawing/2014/main" val="4231487373"/>
                    </a:ext>
                  </a:extLst>
                </a:gridCol>
                <a:gridCol w="912319">
                  <a:extLst>
                    <a:ext uri="{9D8B030D-6E8A-4147-A177-3AD203B41FA5}">
                      <a16:colId xmlns:a16="http://schemas.microsoft.com/office/drawing/2014/main" val="2735210562"/>
                    </a:ext>
                  </a:extLst>
                </a:gridCol>
                <a:gridCol w="912319">
                  <a:extLst>
                    <a:ext uri="{9D8B030D-6E8A-4147-A177-3AD203B41FA5}">
                      <a16:colId xmlns:a16="http://schemas.microsoft.com/office/drawing/2014/main" val="552299766"/>
                    </a:ext>
                  </a:extLst>
                </a:gridCol>
                <a:gridCol w="912319">
                  <a:extLst>
                    <a:ext uri="{9D8B030D-6E8A-4147-A177-3AD203B41FA5}">
                      <a16:colId xmlns:a16="http://schemas.microsoft.com/office/drawing/2014/main" val="3698987696"/>
                    </a:ext>
                  </a:extLst>
                </a:gridCol>
                <a:gridCol w="912319">
                  <a:extLst>
                    <a:ext uri="{9D8B030D-6E8A-4147-A177-3AD203B41FA5}">
                      <a16:colId xmlns:a16="http://schemas.microsoft.com/office/drawing/2014/main" val="739995754"/>
                    </a:ext>
                  </a:extLst>
                </a:gridCol>
                <a:gridCol w="912319">
                  <a:extLst>
                    <a:ext uri="{9D8B030D-6E8A-4147-A177-3AD203B41FA5}">
                      <a16:colId xmlns:a16="http://schemas.microsoft.com/office/drawing/2014/main" val="2338095234"/>
                    </a:ext>
                  </a:extLst>
                </a:gridCol>
                <a:gridCol w="912319">
                  <a:extLst>
                    <a:ext uri="{9D8B030D-6E8A-4147-A177-3AD203B41FA5}">
                      <a16:colId xmlns:a16="http://schemas.microsoft.com/office/drawing/2014/main" val="2178028218"/>
                    </a:ext>
                  </a:extLst>
                </a:gridCol>
                <a:gridCol w="912319">
                  <a:extLst>
                    <a:ext uri="{9D8B030D-6E8A-4147-A177-3AD203B41FA5}">
                      <a16:colId xmlns:a16="http://schemas.microsoft.com/office/drawing/2014/main" val="2896224840"/>
                    </a:ext>
                  </a:extLst>
                </a:gridCol>
                <a:gridCol w="912319">
                  <a:extLst>
                    <a:ext uri="{9D8B030D-6E8A-4147-A177-3AD203B41FA5}">
                      <a16:colId xmlns:a16="http://schemas.microsoft.com/office/drawing/2014/main" val="1609747287"/>
                    </a:ext>
                  </a:extLst>
                </a:gridCol>
                <a:gridCol w="912319">
                  <a:extLst>
                    <a:ext uri="{9D8B030D-6E8A-4147-A177-3AD203B41FA5}">
                      <a16:colId xmlns:a16="http://schemas.microsoft.com/office/drawing/2014/main" val="2585560210"/>
                    </a:ext>
                  </a:extLst>
                </a:gridCol>
                <a:gridCol w="912319">
                  <a:extLst>
                    <a:ext uri="{9D8B030D-6E8A-4147-A177-3AD203B41FA5}">
                      <a16:colId xmlns:a16="http://schemas.microsoft.com/office/drawing/2014/main" val="1278139837"/>
                    </a:ext>
                  </a:extLst>
                </a:gridCol>
                <a:gridCol w="912319">
                  <a:extLst>
                    <a:ext uri="{9D8B030D-6E8A-4147-A177-3AD203B41FA5}">
                      <a16:colId xmlns:a16="http://schemas.microsoft.com/office/drawing/2014/main" val="109504586"/>
                    </a:ext>
                  </a:extLst>
                </a:gridCol>
              </a:tblGrid>
              <a:tr h="284909">
                <a:tc>
                  <a:txBody>
                    <a:bodyPr/>
                    <a:lstStyle/>
                    <a:p>
                      <a:pPr algn="ctr" rtl="0" fontAlgn="b"/>
                      <a:r>
                        <a:rPr lang="en-US" sz="1100" b="1" i="0" u="none" strike="noStrike" dirty="0">
                          <a:solidFill>
                            <a:srgbClr val="000000"/>
                          </a:solidFill>
                          <a:effectLst/>
                          <a:latin typeface="Calibri" panose="020F0502020204030204" pitchFamily="34" charset="0"/>
                        </a:rPr>
                        <a:t>Decile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Total Base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Total Churners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Cumulative Churn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dirty="0">
                          <a:solidFill>
                            <a:srgbClr val="000000"/>
                          </a:solidFill>
                          <a:effectLst/>
                          <a:latin typeface="Calibri" panose="020F0502020204030204" pitchFamily="34" charset="0"/>
                        </a:rPr>
                        <a:t>Cumulative Churn % / Recall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dirty="0">
                          <a:solidFill>
                            <a:srgbClr val="000000"/>
                          </a:solidFill>
                          <a:effectLst/>
                          <a:latin typeface="Calibri" panose="020F0502020204030204" pitchFamily="34" charset="0"/>
                        </a:rPr>
                        <a:t> Lift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KS Statistics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dirty="0">
                          <a:solidFill>
                            <a:srgbClr val="000000"/>
                          </a:solidFill>
                          <a:effectLst/>
                          <a:latin typeface="Calibri" panose="020F0502020204030204" pitchFamily="34" charset="0"/>
                        </a:rPr>
                        <a:t>Accuracy</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Precision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dirty="0">
                          <a:solidFill>
                            <a:srgbClr val="000000"/>
                          </a:solidFill>
                          <a:effectLst/>
                          <a:latin typeface="Calibri" panose="020F0502020204030204" pitchFamily="34" charset="0"/>
                        </a:rPr>
                        <a:t>Recall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dirty="0">
                          <a:solidFill>
                            <a:srgbClr val="000000"/>
                          </a:solidFill>
                          <a:effectLst/>
                          <a:latin typeface="Calibri" panose="020F0502020204030204" pitchFamily="34" charset="0"/>
                        </a:rPr>
                        <a:t>Specificity</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100" b="1" i="0" u="none" strike="noStrike">
                          <a:solidFill>
                            <a:srgbClr val="000000"/>
                          </a:solidFill>
                          <a:effectLst/>
                          <a:latin typeface="Calibri" panose="020F0502020204030204" pitchFamily="34" charset="0"/>
                        </a:rPr>
                        <a:t>F1 Score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2196007"/>
                  </a:ext>
                </a:extLst>
              </a:tr>
              <a:tr h="253326">
                <a:tc>
                  <a:txBody>
                    <a:bodyPr/>
                    <a:lstStyle/>
                    <a:p>
                      <a:pPr algn="ctr" fontAlgn="b"/>
                      <a:r>
                        <a:rPr lang="en-US" sz="1100" b="0" i="0" u="none" strike="noStrike">
                          <a:solidFill>
                            <a:srgbClr val="000000"/>
                          </a:solidFill>
                          <a:effectLst/>
                          <a:latin typeface="Calibri" panose="020F0502020204030204" pitchFamily="34" charset="0"/>
                        </a:rPr>
                        <a:t>D1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        581,228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400,965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400,965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71.0%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7.1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67.6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94.0%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68.9%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71.0%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96.5%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70.0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46375535"/>
                  </a:ext>
                </a:extLst>
              </a:tr>
              <a:tr h="253326">
                <a:tc>
                  <a:txBody>
                    <a:bodyPr/>
                    <a:lstStyle/>
                    <a:p>
                      <a:pPr algn="ctr" fontAlgn="b"/>
                      <a:r>
                        <a:rPr lang="en-US" sz="1100" b="0" i="0" u="none" strike="noStrike">
                          <a:solidFill>
                            <a:srgbClr val="000000"/>
                          </a:solidFill>
                          <a:effectLst/>
                          <a:latin typeface="Calibri" panose="020F0502020204030204" pitchFamily="34" charset="0"/>
                        </a:rPr>
                        <a:t>D2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581,228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86,898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a:solidFill>
                            <a:srgbClr val="000000"/>
                          </a:solidFill>
                          <a:effectLst/>
                          <a:latin typeface="Calibri" panose="020F0502020204030204" pitchFamily="34" charset="0"/>
                        </a:rPr>
                        <a:t>        487,863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86.4%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4.3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73.5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87.0%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41.9%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86.4%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87.1%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56.5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02313016"/>
                  </a:ext>
                </a:extLst>
              </a:tr>
              <a:tr h="253326">
                <a:tc>
                  <a:txBody>
                    <a:bodyPr/>
                    <a:lstStyle/>
                    <a:p>
                      <a:pPr algn="ctr" fontAlgn="b"/>
                      <a:r>
                        <a:rPr lang="en-US" sz="1100" b="0" i="0" u="none" strike="noStrike">
                          <a:solidFill>
                            <a:srgbClr val="000000"/>
                          </a:solidFill>
                          <a:effectLst/>
                          <a:latin typeface="Calibri" panose="020F0502020204030204" pitchFamily="34" charset="0"/>
                        </a:rPr>
                        <a:t>D3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27,658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515,521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67.9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78.0%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29.5%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76.6%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44.6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157812"/>
                  </a:ext>
                </a:extLst>
              </a:tr>
              <a:tr h="253326">
                <a:tc>
                  <a:txBody>
                    <a:bodyPr/>
                    <a:lstStyle/>
                    <a:p>
                      <a:pPr algn="ctr" fontAlgn="b"/>
                      <a:r>
                        <a:rPr lang="en-US" sz="1100" b="0" i="0" u="none" strike="noStrike">
                          <a:solidFill>
                            <a:srgbClr val="000000"/>
                          </a:solidFill>
                          <a:effectLst/>
                          <a:latin typeface="Calibri" panose="020F0502020204030204" pitchFamily="34" charset="0"/>
                        </a:rPr>
                        <a:t>D4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15,441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530,962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94.0%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59.8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68.5%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22.8%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94.0%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65.8%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36.7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6076154"/>
                  </a:ext>
                </a:extLst>
              </a:tr>
              <a:tr h="253326">
                <a:tc>
                  <a:txBody>
                    <a:bodyPr/>
                    <a:lstStyle/>
                    <a:p>
                      <a:pPr algn="ctr" fontAlgn="b"/>
                      <a:r>
                        <a:rPr lang="en-US" sz="1100" b="0" i="0" u="none" strike="noStrike">
                          <a:solidFill>
                            <a:srgbClr val="000000"/>
                          </a:solidFill>
                          <a:effectLst/>
                          <a:latin typeface="Calibri" panose="020F0502020204030204" pitchFamily="34" charset="0"/>
                        </a:rPr>
                        <a:t>D5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10,853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541,815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95.9%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58.9%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18.6%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95.9%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54.9%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31.2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516322"/>
                  </a:ext>
                </a:extLst>
              </a:tr>
              <a:tr h="253326">
                <a:tc>
                  <a:txBody>
                    <a:bodyPr/>
                    <a:lstStyle/>
                    <a:p>
                      <a:pPr algn="ctr" fontAlgn="b"/>
                      <a:r>
                        <a:rPr lang="en-US" sz="1100" b="0" i="0" u="none" strike="noStrike">
                          <a:solidFill>
                            <a:srgbClr val="000000"/>
                          </a:solidFill>
                          <a:effectLst/>
                          <a:latin typeface="Calibri" panose="020F0502020204030204" pitchFamily="34" charset="0"/>
                        </a:rPr>
                        <a:t>D6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8,363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550,178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97.4%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15.7%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97.4%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43.9%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27.1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6179649"/>
                  </a:ext>
                </a:extLst>
              </a:tr>
              <a:tr h="253326">
                <a:tc>
                  <a:txBody>
                    <a:bodyPr/>
                    <a:lstStyle/>
                    <a:p>
                      <a:pPr algn="ctr" fontAlgn="b"/>
                      <a:r>
                        <a:rPr lang="en-US" sz="1100" b="0" i="0" u="none" strike="noStrike">
                          <a:solidFill>
                            <a:srgbClr val="000000"/>
                          </a:solidFill>
                          <a:effectLst/>
                          <a:latin typeface="Calibri" panose="020F0502020204030204" pitchFamily="34" charset="0"/>
                        </a:rPr>
                        <a:t>D7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6,182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556,360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98.5%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39.2%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13.6%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98.5%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32.8%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23.9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3971291"/>
                  </a:ext>
                </a:extLst>
              </a:tr>
              <a:tr h="253326">
                <a:tc>
                  <a:txBody>
                    <a:bodyPr/>
                    <a:lstStyle/>
                    <a:p>
                      <a:pPr algn="ctr" fontAlgn="b"/>
                      <a:r>
                        <a:rPr lang="en-US" sz="1100" b="0" i="0" u="none" strike="noStrike">
                          <a:solidFill>
                            <a:srgbClr val="000000"/>
                          </a:solidFill>
                          <a:effectLst/>
                          <a:latin typeface="Calibri" panose="020F0502020204030204" pitchFamily="34" charset="0"/>
                        </a:rPr>
                        <a:t>D8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4,101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560,461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99.3%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29.5%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99.3%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21.4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5304923"/>
                  </a:ext>
                </a:extLst>
              </a:tr>
              <a:tr h="253326">
                <a:tc>
                  <a:txBody>
                    <a:bodyPr/>
                    <a:lstStyle/>
                    <a:p>
                      <a:pPr algn="ctr" fontAlgn="b"/>
                      <a:r>
                        <a:rPr lang="en-US" sz="1100" b="0" i="0" u="none" strike="noStrike">
                          <a:solidFill>
                            <a:srgbClr val="000000"/>
                          </a:solidFill>
                          <a:effectLst/>
                          <a:latin typeface="Calibri" panose="020F0502020204030204" pitchFamily="34" charset="0"/>
                        </a:rPr>
                        <a:t>D9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2,480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562,941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99.7%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10.7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17.7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475930"/>
                  </a:ext>
                </a:extLst>
              </a:tr>
              <a:tr h="253326">
                <a:tc>
                  <a:txBody>
                    <a:bodyPr/>
                    <a:lstStyle/>
                    <a:p>
                      <a:pPr algn="ctr" fontAlgn="b"/>
                      <a:r>
                        <a:rPr lang="en-US" sz="1100" b="0" i="0" u="none" strike="noStrike" dirty="0">
                          <a:solidFill>
                            <a:srgbClr val="000000"/>
                          </a:solidFill>
                          <a:effectLst/>
                          <a:latin typeface="Calibri" panose="020F0502020204030204" pitchFamily="34" charset="0"/>
                        </a:rPr>
                        <a:t>D10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1,494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564,435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Calibri" panose="020F0502020204030204" pitchFamily="34" charset="0"/>
                          <a:ea typeface="+mn-ea"/>
                          <a:cs typeface="+mn-cs"/>
                        </a:rPr>
                        <a:t>100.0%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17.7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3474235"/>
                  </a:ext>
                </a:extLst>
              </a:tr>
              <a:tr h="253326">
                <a:tc>
                  <a:txBody>
                    <a:bodyPr/>
                    <a:lstStyle/>
                    <a:p>
                      <a:pPr algn="ctr" fontAlgn="b"/>
                      <a:r>
                        <a:rPr lang="en-US" sz="1100" b="0" i="0" u="none" strike="noStrike" dirty="0">
                          <a:solidFill>
                            <a:srgbClr val="000000"/>
                          </a:solidFill>
                          <a:effectLst/>
                          <a:latin typeface="Calibri" panose="020F0502020204030204" pitchFamily="34"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5,812,272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564,435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US"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925363"/>
                  </a:ext>
                </a:extLst>
              </a:tr>
            </a:tbl>
          </a:graphicData>
        </a:graphic>
      </p:graphicFrame>
      <p:sp>
        <p:nvSpPr>
          <p:cNvPr id="7" name="Title 6"/>
          <p:cNvSpPr>
            <a:spLocks noGrp="1"/>
          </p:cNvSpPr>
          <p:nvPr>
            <p:ph type="title" idx="4294967295"/>
          </p:nvPr>
        </p:nvSpPr>
        <p:spPr>
          <a:xfrm>
            <a:off x="469900" y="398535"/>
            <a:ext cx="11252200" cy="692151"/>
          </a:xfrm>
        </p:spPr>
        <p:txBody>
          <a:bodyPr/>
          <a:lstStyle/>
          <a:p>
            <a:r>
              <a:rPr lang="en-GB" sz="1400" dirty="0">
                <a:latin typeface="Verdana" panose="020B0604030504040204" pitchFamily="34" charset="0"/>
                <a:ea typeface="Verdana" panose="020B0604030504040204" pitchFamily="34" charset="0"/>
                <a:cs typeface="Verdana" panose="020B0604030504040204" pitchFamily="34" charset="0"/>
              </a:rPr>
              <a:t>Top 2 deciles (20%) captured 86% of customers with inactivity churn with all performance KPI’s</a:t>
            </a:r>
            <a:endParaRPr lang="en-IN" sz="1400" dirty="0">
              <a:latin typeface="Verdana" panose="020B0604030504040204" pitchFamily="34" charset="0"/>
              <a:ea typeface="Verdana" panose="020B0604030504040204" pitchFamily="34" charset="0"/>
              <a:cs typeface="+mj-cs"/>
            </a:endParaRPr>
          </a:p>
        </p:txBody>
      </p:sp>
      <p:sp>
        <p:nvSpPr>
          <p:cNvPr id="5" name="TextBox 4">
            <a:extLst>
              <a:ext uri="{FF2B5EF4-FFF2-40B4-BE49-F238E27FC236}">
                <a16:creationId xmlns:a16="http://schemas.microsoft.com/office/drawing/2014/main" id="{133918E8-DDD8-4B4C-B230-66958DC9AE78}"/>
              </a:ext>
            </a:extLst>
          </p:cNvPr>
          <p:cNvSpPr txBox="1"/>
          <p:nvPr/>
        </p:nvSpPr>
        <p:spPr>
          <a:xfrm>
            <a:off x="1038011" y="4633561"/>
            <a:ext cx="10405390" cy="1231106"/>
          </a:xfrm>
          <a:prstGeom prst="rect">
            <a:avLst/>
          </a:prstGeom>
          <a:noFill/>
        </p:spPr>
        <p:txBody>
          <a:bodyPr wrap="square" rtlCol="0">
            <a:spAutoFit/>
          </a:bodyPr>
          <a:lstStyle/>
          <a:p>
            <a:pPr marL="457200" marR="0" lvl="2" indent="0" algn="l" defTabSz="457200" rtl="0" eaLnBrk="1" fontAlgn="auto" latinLnBrk="0" hangingPunct="1">
              <a:lnSpc>
                <a:spcPct val="100000"/>
              </a:lnSpc>
              <a:spcBef>
                <a:spcPts val="0"/>
              </a:spcBef>
              <a:spcAft>
                <a:spcPts val="0"/>
              </a:spcAft>
              <a:buClrTx/>
              <a:buSzTx/>
              <a:buFontTx/>
              <a:buNone/>
              <a:tabLst/>
              <a:defRPr/>
            </a:pPr>
            <a:endParaRPr kumimoji="0" lang="en-IN" sz="1400" b="1" i="0" u="none" strike="noStrike" kern="1200" cap="none" spc="0" normalizeH="0" baseline="0" noProof="0" dirty="0">
              <a:ln>
                <a:noFill/>
              </a:ln>
              <a:solidFill>
                <a:prstClr val="black">
                  <a:lumMod val="75000"/>
                  <a:lumOff val="25000"/>
                </a:prstClr>
              </a:solidFill>
              <a:effectLst/>
              <a:uLnTx/>
              <a:uFillTx/>
              <a:latin typeface="Verdana" panose="020B0604030504040204" pitchFamily="34" charset="0"/>
              <a:ea typeface="Verdana" panose="020B0604030504040204" pitchFamily="34" charset="0"/>
              <a:cs typeface="Verdana" panose="020B0604030504040204" pitchFamily="34" charset="0"/>
            </a:endParaRPr>
          </a:p>
          <a:p>
            <a:pPr marL="88900" marR="0" lvl="0" indent="-88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lumMod val="75000"/>
                    <a:lumOff val="25000"/>
                  </a:prstClr>
                </a:solidFill>
                <a:latin typeface="Verdana" panose="020B0604030504040204" pitchFamily="34" charset="0"/>
                <a:ea typeface="Verdana" panose="020B0604030504040204" pitchFamily="34" charset="0"/>
              </a:rPr>
              <a:t>All subscribers are given predicted probability and sorted in descending order based on their risk score, High to low into deciles</a:t>
            </a:r>
          </a:p>
          <a:p>
            <a:pPr marR="0" lvl="0" algn="l" defTabSz="457200" rtl="0" eaLnBrk="1" fontAlgn="auto" latinLnBrk="0" hangingPunct="1">
              <a:lnSpc>
                <a:spcPct val="100000"/>
              </a:lnSpc>
              <a:spcBef>
                <a:spcPts val="0"/>
              </a:spcBef>
              <a:spcAft>
                <a:spcPts val="0"/>
              </a:spcAft>
              <a:buClrTx/>
              <a:buSzTx/>
              <a:tabLst/>
              <a:defRPr/>
            </a:pPr>
            <a:r>
              <a:rPr lang="en-US" sz="1200" dirty="0">
                <a:solidFill>
                  <a:prstClr val="black">
                    <a:lumMod val="75000"/>
                    <a:lumOff val="25000"/>
                  </a:prstClr>
                </a:solidFill>
                <a:latin typeface="Verdana" panose="020B0604030504040204" pitchFamily="34" charset="0"/>
                <a:ea typeface="Verdana" panose="020B0604030504040204" pitchFamily="34" charset="0"/>
              </a:rPr>
              <a:t> </a:t>
            </a:r>
            <a:endParaRPr lang="en-IN" sz="1200" dirty="0">
              <a:solidFill>
                <a:prstClr val="black">
                  <a:lumMod val="75000"/>
                  <a:lumOff val="25000"/>
                </a:prstClr>
              </a:solidFill>
              <a:latin typeface="Verdana" panose="020B0604030504040204" pitchFamily="34" charset="0"/>
              <a:ea typeface="Verdana" panose="020B0604030504040204" pitchFamily="34" charset="0"/>
            </a:endParaRPr>
          </a:p>
          <a:p>
            <a:pPr marL="88900" lvl="0" indent="-88900" defTabSz="457200">
              <a:buFont typeface="Arial" panose="020B0604020202020204" pitchFamily="34" charset="0"/>
              <a:buChar char="•"/>
              <a:defRPr/>
            </a:pPr>
            <a:r>
              <a:rPr lang="en-IN" sz="1200" dirty="0">
                <a:solidFill>
                  <a:prstClr val="black">
                    <a:lumMod val="75000"/>
                    <a:lumOff val="25000"/>
                  </a:prstClr>
                </a:solidFill>
                <a:latin typeface="Verdana" panose="020B0604030504040204" pitchFamily="34" charset="0"/>
                <a:ea typeface="Verdana" panose="020B0604030504040204" pitchFamily="34" charset="0"/>
              </a:rPr>
              <a:t>Out of </a:t>
            </a:r>
            <a:r>
              <a:rPr lang="en-US" sz="1200" dirty="0">
                <a:solidFill>
                  <a:prstClr val="black">
                    <a:lumMod val="75000"/>
                    <a:lumOff val="25000"/>
                  </a:prstClr>
                </a:solidFill>
                <a:latin typeface="Verdana" panose="020B0604030504040204" pitchFamily="34" charset="0"/>
                <a:ea typeface="Verdana" panose="020B0604030504040204" pitchFamily="34" charset="0"/>
              </a:rPr>
              <a:t>5,812,272 </a:t>
            </a:r>
            <a:r>
              <a:rPr lang="en-IN" sz="1200" dirty="0">
                <a:solidFill>
                  <a:prstClr val="black">
                    <a:lumMod val="75000"/>
                    <a:lumOff val="25000"/>
                  </a:prstClr>
                </a:solidFill>
                <a:latin typeface="Verdana" panose="020B0604030504040204" pitchFamily="34" charset="0"/>
                <a:ea typeface="Verdana" panose="020B0604030504040204" pitchFamily="34" charset="0"/>
              </a:rPr>
              <a:t> subscribers, </a:t>
            </a:r>
            <a:r>
              <a:rPr lang="en-US" sz="1200" dirty="0">
                <a:solidFill>
                  <a:prstClr val="black">
                    <a:lumMod val="75000"/>
                    <a:lumOff val="25000"/>
                  </a:prstClr>
                </a:solidFill>
                <a:latin typeface="Verdana" panose="020B0604030504040204" pitchFamily="34" charset="0"/>
                <a:ea typeface="Verdana" panose="020B0604030504040204" pitchFamily="34" charset="0"/>
              </a:rPr>
              <a:t>564,435 </a:t>
            </a:r>
            <a:r>
              <a:rPr lang="en-IN" sz="1200" dirty="0">
                <a:solidFill>
                  <a:prstClr val="black">
                    <a:lumMod val="75000"/>
                    <a:lumOff val="25000"/>
                  </a:prstClr>
                </a:solidFill>
                <a:latin typeface="Verdana" panose="020B0604030504040204" pitchFamily="34" charset="0"/>
                <a:ea typeface="Verdana" panose="020B0604030504040204" pitchFamily="34" charset="0"/>
              </a:rPr>
              <a:t>(9.71%) have churned</a:t>
            </a:r>
          </a:p>
          <a:p>
            <a:pPr marL="88900" lvl="0" indent="-88900" defTabSz="457200">
              <a:buFont typeface="Arial" panose="020B0604020202020204" pitchFamily="34" charset="0"/>
              <a:buChar char="•"/>
              <a:defRPr/>
            </a:pPr>
            <a:endParaRPr lang="en-IN" sz="1200" dirty="0">
              <a:solidFill>
                <a:prstClr val="black">
                  <a:lumMod val="75000"/>
                  <a:lumOff val="25000"/>
                </a:prstClr>
              </a:solidFill>
              <a:latin typeface="Verdana" panose="020B0604030504040204" pitchFamily="34" charset="0"/>
              <a:ea typeface="Verdana" panose="020B0604030504040204" pitchFamily="34" charset="0"/>
            </a:endParaRPr>
          </a:p>
          <a:p>
            <a:pPr marL="88900" lvl="0" indent="-88900" defTabSz="457200">
              <a:buFont typeface="Arial" panose="020B0604020202020204" pitchFamily="34" charset="0"/>
              <a:buChar char="•"/>
              <a:defRPr/>
            </a:pPr>
            <a:r>
              <a:rPr lang="en-IN" sz="1200" dirty="0">
                <a:solidFill>
                  <a:prstClr val="black">
                    <a:lumMod val="75000"/>
                    <a:lumOff val="25000"/>
                  </a:prstClr>
                </a:solidFill>
                <a:latin typeface="Verdana" panose="020B0604030504040204" pitchFamily="34" charset="0"/>
                <a:ea typeface="Verdana" panose="020B0604030504040204" pitchFamily="34" charset="0"/>
              </a:rPr>
              <a:t>Therefore, by targeting the top 2 deciles which has </a:t>
            </a:r>
            <a:r>
              <a:rPr lang="en-US" sz="1200" dirty="0">
                <a:solidFill>
                  <a:prstClr val="black">
                    <a:lumMod val="75000"/>
                    <a:lumOff val="25000"/>
                  </a:prstClr>
                </a:solidFill>
                <a:latin typeface="Verdana" panose="020B0604030504040204" pitchFamily="34" charset="0"/>
                <a:ea typeface="Verdana" panose="020B0604030504040204" pitchFamily="34" charset="0"/>
              </a:rPr>
              <a:t>1,162,456</a:t>
            </a:r>
            <a:r>
              <a:rPr lang="en-IN" sz="1200" dirty="0">
                <a:solidFill>
                  <a:prstClr val="black">
                    <a:lumMod val="75000"/>
                    <a:lumOff val="25000"/>
                  </a:prstClr>
                </a:solidFill>
                <a:latin typeface="Verdana" panose="020B0604030504040204" pitchFamily="34" charset="0"/>
                <a:ea typeface="Verdana" panose="020B0604030504040204" pitchFamily="34" charset="0"/>
              </a:rPr>
              <a:t> subscribers, we can capture 86.43% of the churners</a:t>
            </a:r>
          </a:p>
        </p:txBody>
      </p:sp>
      <p:sp>
        <p:nvSpPr>
          <p:cNvPr id="6" name="Rectangle 2">
            <a:extLst>
              <a:ext uri="{FF2B5EF4-FFF2-40B4-BE49-F238E27FC236}">
                <a16:creationId xmlns:a16="http://schemas.microsoft.com/office/drawing/2014/main" id="{B1449356-6E84-4763-B2C3-ED19475161E7}"/>
              </a:ext>
            </a:extLst>
          </p:cNvPr>
          <p:cNvSpPr txBox="1">
            <a:spLocks noChangeArrowheads="1"/>
          </p:cNvSpPr>
          <p:nvPr/>
        </p:nvSpPr>
        <p:spPr bwMode="auto">
          <a:xfrm>
            <a:off x="1" y="707922"/>
            <a:ext cx="12191999" cy="2673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Decile wise cumulative % of c</a:t>
            </a:r>
            <a:r>
              <a:rPr lang="en-GB" sz="1400" b="1" dirty="0" err="1">
                <a:solidFill>
                  <a:srgbClr val="000000"/>
                </a:solidFill>
                <a:latin typeface="Verdana" panose="020B0604030504040204" pitchFamily="34" charset="0"/>
                <a:ea typeface="Verdana" panose="020B0604030504040204" pitchFamily="34" charset="0"/>
                <a:cs typeface="Verdana" panose="020B0604030504040204" pitchFamily="34" charset="0"/>
              </a:rPr>
              <a:t>hurned</a:t>
            </a:r>
            <a:r>
              <a:rPr lang="en-GB" sz="1400" b="1" dirty="0">
                <a:solidFill>
                  <a:srgbClr val="000000"/>
                </a:solidFill>
                <a:latin typeface="Verdana" panose="020B0604030504040204" pitchFamily="34" charset="0"/>
                <a:ea typeface="Verdana" panose="020B0604030504040204" pitchFamily="34" charset="0"/>
                <a:cs typeface="Verdana" panose="020B0604030504040204" pitchFamily="34" charset="0"/>
              </a:rPr>
              <a:t> subscribers</a:t>
            </a:r>
            <a:r>
              <a:rPr kumimoji="0" lang="en-GB" sz="14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in OOT dataset</a:t>
            </a:r>
          </a:p>
        </p:txBody>
      </p:sp>
      <p:sp>
        <p:nvSpPr>
          <p:cNvPr id="8" name="Oval 7">
            <a:extLst>
              <a:ext uri="{FF2B5EF4-FFF2-40B4-BE49-F238E27FC236}">
                <a16:creationId xmlns:a16="http://schemas.microsoft.com/office/drawing/2014/main" id="{57A0F0E5-D781-4E71-9F96-5E5896A38132}"/>
              </a:ext>
            </a:extLst>
          </p:cNvPr>
          <p:cNvSpPr/>
          <p:nvPr/>
        </p:nvSpPr>
        <p:spPr>
          <a:xfrm>
            <a:off x="951899" y="4871572"/>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1</a:t>
            </a:r>
          </a:p>
        </p:txBody>
      </p:sp>
      <p:sp>
        <p:nvSpPr>
          <p:cNvPr id="9" name="Oval 8">
            <a:extLst>
              <a:ext uri="{FF2B5EF4-FFF2-40B4-BE49-F238E27FC236}">
                <a16:creationId xmlns:a16="http://schemas.microsoft.com/office/drawing/2014/main" id="{39DD37DB-C45C-4522-9B7B-12EF16EFCE21}"/>
              </a:ext>
            </a:extLst>
          </p:cNvPr>
          <p:cNvSpPr/>
          <p:nvPr/>
        </p:nvSpPr>
        <p:spPr>
          <a:xfrm>
            <a:off x="941145" y="5215803"/>
            <a:ext cx="251460" cy="25146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2</a:t>
            </a:r>
          </a:p>
        </p:txBody>
      </p:sp>
      <p:sp>
        <p:nvSpPr>
          <p:cNvPr id="10" name="Oval 9">
            <a:extLst>
              <a:ext uri="{FF2B5EF4-FFF2-40B4-BE49-F238E27FC236}">
                <a16:creationId xmlns:a16="http://schemas.microsoft.com/office/drawing/2014/main" id="{DBA954A1-03BE-46AA-B243-87BB38B8AF5F}"/>
              </a:ext>
            </a:extLst>
          </p:cNvPr>
          <p:cNvSpPr/>
          <p:nvPr/>
        </p:nvSpPr>
        <p:spPr>
          <a:xfrm>
            <a:off x="3402575" y="4193199"/>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2</a:t>
            </a:r>
          </a:p>
        </p:txBody>
      </p:sp>
      <p:sp>
        <p:nvSpPr>
          <p:cNvPr id="12" name="Rectangle 11">
            <a:extLst>
              <a:ext uri="{FF2B5EF4-FFF2-40B4-BE49-F238E27FC236}">
                <a16:creationId xmlns:a16="http://schemas.microsoft.com/office/drawing/2014/main" id="{AF8D7F73-3A69-4508-A9E0-54D006383C23}"/>
              </a:ext>
            </a:extLst>
          </p:cNvPr>
          <p:cNvSpPr/>
          <p:nvPr/>
        </p:nvSpPr>
        <p:spPr bwMode="gray">
          <a:xfrm>
            <a:off x="4366007" y="1629365"/>
            <a:ext cx="873813" cy="542500"/>
          </a:xfrm>
          <a:prstGeom prst="rect">
            <a:avLst/>
          </a:prstGeom>
          <a:noFill/>
          <a:ln w="28575" algn="ctr">
            <a:solidFill>
              <a:srgbClr val="FF000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3" name="Oval 12">
            <a:extLst>
              <a:ext uri="{FF2B5EF4-FFF2-40B4-BE49-F238E27FC236}">
                <a16:creationId xmlns:a16="http://schemas.microsoft.com/office/drawing/2014/main" id="{6C52BB9C-775A-49C0-93F9-8E7BB3916B33}"/>
              </a:ext>
            </a:extLst>
          </p:cNvPr>
          <p:cNvSpPr/>
          <p:nvPr/>
        </p:nvSpPr>
        <p:spPr>
          <a:xfrm>
            <a:off x="951899" y="5581948"/>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3</a:t>
            </a:r>
          </a:p>
        </p:txBody>
      </p:sp>
      <p:sp>
        <p:nvSpPr>
          <p:cNvPr id="14" name="TextBox 13">
            <a:extLst>
              <a:ext uri="{FF2B5EF4-FFF2-40B4-BE49-F238E27FC236}">
                <a16:creationId xmlns:a16="http://schemas.microsoft.com/office/drawing/2014/main" id="{0462E9E3-7455-456F-911E-80B09F83572E}"/>
              </a:ext>
            </a:extLst>
          </p:cNvPr>
          <p:cNvSpPr txBox="1"/>
          <p:nvPr/>
        </p:nvSpPr>
        <p:spPr>
          <a:xfrm>
            <a:off x="234608" y="1667724"/>
            <a:ext cx="184666" cy="2203940"/>
          </a:xfrm>
          <a:prstGeom prst="rect">
            <a:avLst/>
          </a:prstGeom>
          <a:noFill/>
        </p:spPr>
        <p:txBody>
          <a:bodyPr vert="vert270" wrap="square" lIns="0" tIns="0" rIns="0" bIns="0" rtlCol="0">
            <a:spAutoFit/>
          </a:bodyPr>
          <a:lstStyle/>
          <a:p>
            <a:pPr algn="ctr">
              <a:spcBef>
                <a:spcPts val="600"/>
              </a:spcBef>
              <a:buSzPct val="100000"/>
            </a:pPr>
            <a:r>
              <a:rPr lang="en-US" sz="1200" b="1" dirty="0">
                <a:solidFill>
                  <a:srgbClr val="313131"/>
                </a:solidFill>
              </a:rPr>
              <a:t>Predicted probability</a:t>
            </a:r>
            <a:endParaRPr lang="en-IN" sz="1200" b="1" dirty="0">
              <a:solidFill>
                <a:srgbClr val="313131"/>
              </a:solidFill>
            </a:endParaRPr>
          </a:p>
        </p:txBody>
      </p:sp>
      <p:sp>
        <p:nvSpPr>
          <p:cNvPr id="16" name="TextBox 15">
            <a:extLst>
              <a:ext uri="{FF2B5EF4-FFF2-40B4-BE49-F238E27FC236}">
                <a16:creationId xmlns:a16="http://schemas.microsoft.com/office/drawing/2014/main" id="{C2CD0AFE-C885-40F4-9E77-C957FC610583}"/>
              </a:ext>
            </a:extLst>
          </p:cNvPr>
          <p:cNvSpPr txBox="1"/>
          <p:nvPr/>
        </p:nvSpPr>
        <p:spPr>
          <a:xfrm>
            <a:off x="113769" y="1096028"/>
            <a:ext cx="924242" cy="215444"/>
          </a:xfrm>
          <a:prstGeom prst="rect">
            <a:avLst/>
          </a:prstGeom>
          <a:noFill/>
        </p:spPr>
        <p:txBody>
          <a:bodyPr wrap="square" lIns="0" tIns="0" rIns="0" bIns="0" rtlCol="0">
            <a:spAutoFit/>
          </a:bodyPr>
          <a:lstStyle/>
          <a:p>
            <a:pPr>
              <a:spcBef>
                <a:spcPts val="600"/>
              </a:spcBef>
              <a:buSzPct val="100000"/>
            </a:pPr>
            <a:r>
              <a:rPr lang="en-US" sz="1400" b="1" i="1" dirty="0">
                <a:solidFill>
                  <a:srgbClr val="313131"/>
                </a:solidFill>
              </a:rPr>
              <a:t>High</a:t>
            </a:r>
            <a:endParaRPr lang="en-IN" sz="1400" b="1" i="1" dirty="0">
              <a:solidFill>
                <a:srgbClr val="313131"/>
              </a:solidFill>
            </a:endParaRPr>
          </a:p>
        </p:txBody>
      </p:sp>
      <p:sp>
        <p:nvSpPr>
          <p:cNvPr id="17" name="TextBox 16">
            <a:extLst>
              <a:ext uri="{FF2B5EF4-FFF2-40B4-BE49-F238E27FC236}">
                <a16:creationId xmlns:a16="http://schemas.microsoft.com/office/drawing/2014/main" id="{383C1692-0042-406B-8047-ACCBD79E264A}"/>
              </a:ext>
            </a:extLst>
          </p:cNvPr>
          <p:cNvSpPr txBox="1"/>
          <p:nvPr/>
        </p:nvSpPr>
        <p:spPr>
          <a:xfrm>
            <a:off x="84421" y="4206355"/>
            <a:ext cx="924242" cy="215444"/>
          </a:xfrm>
          <a:prstGeom prst="rect">
            <a:avLst/>
          </a:prstGeom>
          <a:noFill/>
        </p:spPr>
        <p:txBody>
          <a:bodyPr wrap="square" lIns="0" tIns="0" rIns="0" bIns="0" rtlCol="0">
            <a:spAutoFit/>
          </a:bodyPr>
          <a:lstStyle/>
          <a:p>
            <a:pPr>
              <a:spcBef>
                <a:spcPts val="600"/>
              </a:spcBef>
              <a:buSzPct val="100000"/>
            </a:pPr>
            <a:r>
              <a:rPr lang="en-US" sz="1400" b="1" i="1" dirty="0">
                <a:solidFill>
                  <a:srgbClr val="313131"/>
                </a:solidFill>
              </a:rPr>
              <a:t>Low</a:t>
            </a:r>
            <a:endParaRPr lang="en-IN" sz="1400" b="1" i="1" dirty="0">
              <a:solidFill>
                <a:srgbClr val="313131"/>
              </a:solidFill>
            </a:endParaRPr>
          </a:p>
        </p:txBody>
      </p:sp>
      <p:sp>
        <p:nvSpPr>
          <p:cNvPr id="18" name="Oval 17">
            <a:extLst>
              <a:ext uri="{FF2B5EF4-FFF2-40B4-BE49-F238E27FC236}">
                <a16:creationId xmlns:a16="http://schemas.microsoft.com/office/drawing/2014/main" id="{F678E262-4DFD-448C-B50E-C1740FEA139E}"/>
              </a:ext>
            </a:extLst>
          </p:cNvPr>
          <p:cNvSpPr/>
          <p:nvPr/>
        </p:nvSpPr>
        <p:spPr>
          <a:xfrm>
            <a:off x="461590" y="3113357"/>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000" b="1" kern="0" noProof="0" dirty="0">
                <a:solidFill>
                  <a:prstClr val="white"/>
                </a:solidFill>
                <a:latin typeface="Verdana" panose="020B0604030504040204" pitchFamily="34" charset="0"/>
                <a:ea typeface="Verdana" panose="020B0604030504040204" pitchFamily="34" charset="0"/>
                <a:cs typeface="Verdana" panose="020B0604030504040204" pitchFamily="34" charset="0"/>
              </a:rPr>
              <a:t>1</a:t>
            </a:r>
            <a:endPar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1" name="Oval 10">
            <a:extLst>
              <a:ext uri="{FF2B5EF4-FFF2-40B4-BE49-F238E27FC236}">
                <a16:creationId xmlns:a16="http://schemas.microsoft.com/office/drawing/2014/main" id="{4D88DA6E-516A-44D9-828A-27EB59C0C0DF}"/>
              </a:ext>
            </a:extLst>
          </p:cNvPr>
          <p:cNvSpPr/>
          <p:nvPr/>
        </p:nvSpPr>
        <p:spPr>
          <a:xfrm>
            <a:off x="5125520" y="2040749"/>
            <a:ext cx="228600" cy="228600"/>
          </a:xfrm>
          <a:prstGeom prst="ellipse">
            <a:avLst/>
          </a:prstGeom>
          <a:solidFill>
            <a:srgbClr val="FF0000"/>
          </a:solidFill>
          <a:ln w="12700" cap="rnd" cmpd="sng" algn="ctr">
            <a:solidFill>
              <a:srgbClr val="0070C0"/>
            </a:solid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000" b="1" kern="0" dirty="0">
                <a:solidFill>
                  <a:prstClr val="white"/>
                </a:solidFill>
                <a:latin typeface="Verdana" panose="020B0604030504040204" pitchFamily="34" charset="0"/>
                <a:ea typeface="Verdana" panose="020B0604030504040204" pitchFamily="34" charset="0"/>
                <a:cs typeface="Verdana" panose="020B0604030504040204" pitchFamily="34" charset="0"/>
              </a:rPr>
              <a:t>3</a:t>
            </a:r>
            <a:endParaRPr kumimoji="0" lang="en-GB" sz="1000" b="1"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9" name="TextBox 18">
            <a:extLst>
              <a:ext uri="{FF2B5EF4-FFF2-40B4-BE49-F238E27FC236}">
                <a16:creationId xmlns:a16="http://schemas.microsoft.com/office/drawing/2014/main" id="{A5BBCC01-0506-478C-BA07-0F4C4CDCE535}"/>
              </a:ext>
            </a:extLst>
          </p:cNvPr>
          <p:cNvSpPr txBox="1"/>
          <p:nvPr/>
        </p:nvSpPr>
        <p:spPr>
          <a:xfrm>
            <a:off x="3919814" y="6639641"/>
            <a:ext cx="8436797" cy="169277"/>
          </a:xfrm>
          <a:prstGeom prst="rect">
            <a:avLst/>
          </a:prstGeom>
          <a:noFill/>
        </p:spPr>
        <p:txBody>
          <a:bodyPr wrap="square" lIns="0" tIns="0" rIns="0" bIns="0" rtlCol="0">
            <a:spAutoFit/>
          </a:bodyPr>
          <a:lstStyle/>
          <a:p>
            <a:pPr algn="ctr">
              <a:spcBef>
                <a:spcPts val="600"/>
              </a:spcBef>
              <a:buSzPct val="100000"/>
            </a:pPr>
            <a:r>
              <a:rPr lang="en-US" sz="1100" i="1" dirty="0">
                <a:solidFill>
                  <a:schemeClr val="bg1">
                    <a:lumMod val="50000"/>
                  </a:schemeClr>
                </a:solidFill>
              </a:rPr>
              <a:t>Note : Above metrics are calculated based on top 2 deciles of rank ordered probability score in descending order.</a:t>
            </a:r>
            <a:endParaRPr lang="en-IN" sz="1100" i="1" dirty="0">
              <a:solidFill>
                <a:schemeClr val="bg1">
                  <a:lumMod val="50000"/>
                </a:schemeClr>
              </a:solidFill>
            </a:endParaRPr>
          </a:p>
        </p:txBody>
      </p:sp>
      <p:sp>
        <p:nvSpPr>
          <p:cNvPr id="20" name="Rectangle 2">
            <a:extLst>
              <a:ext uri="{FF2B5EF4-FFF2-40B4-BE49-F238E27FC236}">
                <a16:creationId xmlns:a16="http://schemas.microsoft.com/office/drawing/2014/main" id="{E10BCD69-B8FD-4704-8469-4351F6F1636E}"/>
              </a:ext>
            </a:extLst>
          </p:cNvPr>
          <p:cNvSpPr txBox="1">
            <a:spLocks noChangeArrowheads="1"/>
          </p:cNvSpPr>
          <p:nvPr/>
        </p:nvSpPr>
        <p:spPr bwMode="auto">
          <a:xfrm>
            <a:off x="0" y="124551"/>
            <a:ext cx="12191999" cy="2673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457200" rtl="0" eaLnBrk="0" fontAlgn="base" latinLnBrk="0" hangingPunct="0">
              <a:lnSpc>
                <a:spcPct val="100000"/>
              </a:lnSpc>
              <a:spcBef>
                <a:spcPct val="0"/>
              </a:spcBef>
              <a:spcAft>
                <a:spcPct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Appendix</a:t>
            </a:r>
          </a:p>
        </p:txBody>
      </p:sp>
    </p:spTree>
    <p:extLst>
      <p:ext uri="{BB962C8B-B14F-4D97-AF65-F5344CB8AC3E}">
        <p14:creationId xmlns:p14="http://schemas.microsoft.com/office/powerpoint/2010/main" val="439360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FC79ECDA-E3A6-43FC-955A-D959AB874821}"/>
              </a:ext>
            </a:extLst>
          </p:cNvPr>
          <p:cNvSpPr txBox="1">
            <a:spLocks noChangeArrowheads="1"/>
          </p:cNvSpPr>
          <p:nvPr/>
        </p:nvSpPr>
        <p:spPr bwMode="auto">
          <a:xfrm>
            <a:off x="0" y="124551"/>
            <a:ext cx="12191999" cy="2673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457200" rtl="0" eaLnBrk="0" fontAlgn="base" latinLnBrk="0" hangingPunct="0">
              <a:lnSpc>
                <a:spcPct val="100000"/>
              </a:lnSpc>
              <a:spcBef>
                <a:spcPct val="0"/>
              </a:spcBef>
              <a:spcAft>
                <a:spcPct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Appendix</a:t>
            </a:r>
          </a:p>
        </p:txBody>
      </p:sp>
      <p:sp>
        <p:nvSpPr>
          <p:cNvPr id="7" name="Title 6"/>
          <p:cNvSpPr>
            <a:spLocks noGrp="1"/>
          </p:cNvSpPr>
          <p:nvPr>
            <p:ph type="title" idx="4294967295"/>
          </p:nvPr>
        </p:nvSpPr>
        <p:spPr>
          <a:xfrm>
            <a:off x="0" y="196578"/>
            <a:ext cx="12186788" cy="343491"/>
          </a:xfrm>
        </p:spPr>
        <p:txBody>
          <a:bodyPr/>
          <a:lstStyle/>
          <a:p>
            <a:pPr algn="ctr"/>
            <a:r>
              <a:rPr lang="en-IN" sz="1600" dirty="0">
                <a:latin typeface="Verdana" panose="020B0604030504040204" pitchFamily="34" charset="0"/>
                <a:ea typeface="Verdana" panose="020B0604030504040204" pitchFamily="34" charset="0"/>
                <a:cs typeface="+mj-cs"/>
              </a:rPr>
              <a:t>List of significant predictors from the best model</a:t>
            </a:r>
          </a:p>
        </p:txBody>
      </p:sp>
      <p:graphicFrame>
        <p:nvGraphicFramePr>
          <p:cNvPr id="5" name="Table 5">
            <a:extLst>
              <a:ext uri="{FF2B5EF4-FFF2-40B4-BE49-F238E27FC236}">
                <a16:creationId xmlns:a16="http://schemas.microsoft.com/office/drawing/2014/main" id="{360CA6E4-2B3A-4B64-B97F-C3C3297E3B09}"/>
              </a:ext>
            </a:extLst>
          </p:cNvPr>
          <p:cNvGraphicFramePr>
            <a:graphicFrameLocks noGrp="1"/>
          </p:cNvGraphicFramePr>
          <p:nvPr>
            <p:extLst>
              <p:ext uri="{D42A27DB-BD31-4B8C-83A1-F6EECF244321}">
                <p14:modId xmlns:p14="http://schemas.microsoft.com/office/powerpoint/2010/main" val="2834201040"/>
              </p:ext>
            </p:extLst>
          </p:nvPr>
        </p:nvGraphicFramePr>
        <p:xfrm>
          <a:off x="635285" y="558919"/>
          <a:ext cx="10921430" cy="5852160"/>
        </p:xfrm>
        <a:graphic>
          <a:graphicData uri="http://schemas.openxmlformats.org/drawingml/2006/table">
            <a:tbl>
              <a:tblPr firstRow="1" bandRow="1">
                <a:tableStyleId>{5C22544A-7EE6-4342-B048-85BDC9FD1C3A}</a:tableStyleId>
              </a:tblPr>
              <a:tblGrid>
                <a:gridCol w="3772328">
                  <a:extLst>
                    <a:ext uri="{9D8B030D-6E8A-4147-A177-3AD203B41FA5}">
                      <a16:colId xmlns:a16="http://schemas.microsoft.com/office/drawing/2014/main" val="488251158"/>
                    </a:ext>
                  </a:extLst>
                </a:gridCol>
                <a:gridCol w="7149102">
                  <a:extLst>
                    <a:ext uri="{9D8B030D-6E8A-4147-A177-3AD203B41FA5}">
                      <a16:colId xmlns:a16="http://schemas.microsoft.com/office/drawing/2014/main" val="3496347613"/>
                    </a:ext>
                  </a:extLst>
                </a:gridCol>
              </a:tblGrid>
              <a:tr h="224148">
                <a:tc>
                  <a:txBody>
                    <a:bodyPr/>
                    <a:lstStyle/>
                    <a:p>
                      <a:pPr algn="ctr"/>
                      <a:r>
                        <a:rPr lang="en-US" sz="1000" dirty="0"/>
                        <a:t>KPI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t>Description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463672"/>
                  </a:ext>
                </a:extLst>
              </a:tr>
              <a:tr h="224148">
                <a:tc>
                  <a:txBody>
                    <a:bodyPr/>
                    <a:lstStyle/>
                    <a:p>
                      <a:pPr lvl="1" algn="l" fontAlgn="t"/>
                      <a:r>
                        <a:rPr lang="en-US" sz="900" u="none" strike="noStrike" dirty="0">
                          <a:effectLst/>
                        </a:rPr>
                        <a:t>mean_d28_act_days_rge</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000" dirty="0"/>
                        <a:t>Average of 28 days revenue generation event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3824586"/>
                  </a:ext>
                </a:extLst>
              </a:tr>
              <a:tr h="224148">
                <a:tc>
                  <a:txBody>
                    <a:bodyPr/>
                    <a:lstStyle/>
                    <a:p>
                      <a:pPr lvl="1" algn="l" fontAlgn="t"/>
                      <a:r>
                        <a:rPr lang="en-US" sz="900" u="none" strike="noStrike" dirty="0" err="1">
                          <a:effectLst/>
                        </a:rPr>
                        <a:t>days_since_sms_last_mt</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Days since last incoming SMS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3558750"/>
                  </a:ext>
                </a:extLst>
              </a:tr>
              <a:tr h="224148">
                <a:tc>
                  <a:txBody>
                    <a:bodyPr/>
                    <a:lstStyle/>
                    <a:p>
                      <a:pPr lvl="1" algn="l" fontAlgn="t"/>
                      <a:r>
                        <a:rPr lang="en-US" sz="900" u="none" strike="noStrike" dirty="0" err="1">
                          <a:effectLst/>
                        </a:rPr>
                        <a:t>days_since_voi_last_mt</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Days since last voice incoming 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6562121"/>
                  </a:ext>
                </a:extLst>
              </a:tr>
              <a:tr h="224148">
                <a:tc>
                  <a:txBody>
                    <a:bodyPr/>
                    <a:lstStyle/>
                    <a:p>
                      <a:pPr lvl="1" algn="l" fontAlgn="t"/>
                      <a:r>
                        <a:rPr lang="en-US" sz="900" u="none" strike="noStrike" dirty="0" err="1">
                          <a:effectLst/>
                        </a:rPr>
                        <a:t>days_since_data_last_usage</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000" dirty="0"/>
                        <a:t>Days since last data usage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380156"/>
                  </a:ext>
                </a:extLst>
              </a:tr>
              <a:tr h="224148">
                <a:tc>
                  <a:txBody>
                    <a:bodyPr/>
                    <a:lstStyle/>
                    <a:p>
                      <a:pPr lvl="1" algn="l" fontAlgn="t"/>
                      <a:r>
                        <a:rPr lang="en-US" sz="900" u="none" strike="noStrike" dirty="0" err="1">
                          <a:effectLst/>
                        </a:rPr>
                        <a:t>days_since_last_air_recharge</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Days since last </a:t>
                      </a:r>
                      <a:r>
                        <a:rPr lang="en-US" sz="1000" dirty="0" err="1"/>
                        <a:t>talktime</a:t>
                      </a:r>
                      <a:r>
                        <a:rPr lang="en-US" sz="1000" dirty="0"/>
                        <a:t> recharge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2967701"/>
                  </a:ext>
                </a:extLst>
              </a:tr>
              <a:tr h="224148">
                <a:tc>
                  <a:txBody>
                    <a:bodyPr/>
                    <a:lstStyle/>
                    <a:p>
                      <a:pPr lvl="1" algn="l" fontAlgn="t"/>
                      <a:r>
                        <a:rPr lang="en-US" sz="900" u="none" strike="noStrike" dirty="0">
                          <a:effectLst/>
                        </a:rPr>
                        <a:t>sum_d30_sn_total_mtc</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Sum of the total incoming calls received from social network in last 30 days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6655283"/>
                  </a:ext>
                </a:extLst>
              </a:tr>
              <a:tr h="224148">
                <a:tc>
                  <a:txBody>
                    <a:bodyPr/>
                    <a:lstStyle/>
                    <a:p>
                      <a:pPr lvl="1" algn="l" fontAlgn="t"/>
                      <a:r>
                        <a:rPr lang="en-US" sz="900" u="none" strike="noStrike" dirty="0">
                          <a:effectLst/>
                        </a:rPr>
                        <a:t>mean_d14_tot_rev</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000" dirty="0"/>
                        <a:t>Average of last 14 days total revenue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361372"/>
                  </a:ext>
                </a:extLst>
              </a:tr>
              <a:tr h="224148">
                <a:tc>
                  <a:txBody>
                    <a:bodyPr/>
                    <a:lstStyle/>
                    <a:p>
                      <a:pPr lvl="1" algn="l" fontAlgn="t"/>
                      <a:r>
                        <a:rPr lang="en-US" sz="900" u="none" strike="noStrike" dirty="0">
                          <a:effectLst/>
                        </a:rPr>
                        <a:t>mean_d14_pd28_act_days_rge</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Ratio of average of last 14 to previous 28 days revenue generation event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0511803"/>
                  </a:ext>
                </a:extLst>
              </a:tr>
              <a:tr h="224148">
                <a:tc>
                  <a:txBody>
                    <a:bodyPr/>
                    <a:lstStyle/>
                    <a:p>
                      <a:pPr lvl="1" algn="l" fontAlgn="t"/>
                      <a:r>
                        <a:rPr lang="en-US" sz="900" u="none" strike="noStrike" dirty="0">
                          <a:effectLst/>
                        </a:rPr>
                        <a:t>mean_d14_pd28_bal_avg_daily</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Ratio of sum of last 14 days to 28 days average daily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162484"/>
                  </a:ext>
                </a:extLst>
              </a:tr>
              <a:tr h="224148">
                <a:tc>
                  <a:txBody>
                    <a:bodyPr/>
                    <a:lstStyle/>
                    <a:p>
                      <a:pPr lvl="1" algn="l" fontAlgn="t"/>
                      <a:r>
                        <a:rPr lang="en-US" sz="900" u="none" strike="noStrike" dirty="0">
                          <a:effectLst/>
                        </a:rPr>
                        <a:t>sum_d30_act_days_mtc</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Sum of last 30 days incoming 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3384833"/>
                  </a:ext>
                </a:extLst>
              </a:tr>
              <a:tr h="224148">
                <a:tc>
                  <a:txBody>
                    <a:bodyPr/>
                    <a:lstStyle/>
                    <a:p>
                      <a:pPr lvl="1" algn="l" fontAlgn="t"/>
                      <a:r>
                        <a:rPr lang="en-US" sz="900" u="none" strike="noStrike" dirty="0">
                          <a:effectLst/>
                        </a:rPr>
                        <a:t>sum_d14_pd14_bal_air_amt</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Ratio of sum of last 14 to previous 14 days balance 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3525340"/>
                  </a:ext>
                </a:extLst>
              </a:tr>
              <a:tr h="224148">
                <a:tc>
                  <a:txBody>
                    <a:bodyPr/>
                    <a:lstStyle/>
                    <a:p>
                      <a:pPr lvl="1" algn="l" fontAlgn="t"/>
                      <a:r>
                        <a:rPr lang="en-US" sz="900" u="none" strike="noStrike" dirty="0">
                          <a:effectLst/>
                        </a:rPr>
                        <a:t>mean_d7_act_days_mtc</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Average of last 7 days incoming 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79765"/>
                  </a:ext>
                </a:extLst>
              </a:tr>
              <a:tr h="224148">
                <a:tc>
                  <a:txBody>
                    <a:bodyPr/>
                    <a:lstStyle/>
                    <a:p>
                      <a:pPr lvl="1" algn="l" fontAlgn="t"/>
                      <a:r>
                        <a:rPr lang="en-US" sz="900" u="none" strike="noStrike" dirty="0" err="1">
                          <a:effectLst/>
                        </a:rPr>
                        <a:t>days_since_last_recharge</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000" dirty="0"/>
                        <a:t>Days since last recharge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1299723"/>
                  </a:ext>
                </a:extLst>
              </a:tr>
              <a:tr h="224148">
                <a:tc>
                  <a:txBody>
                    <a:bodyPr/>
                    <a:lstStyle/>
                    <a:p>
                      <a:pPr lvl="1" algn="l" fontAlgn="t"/>
                      <a:r>
                        <a:rPr lang="en-US" sz="900" u="none" strike="noStrike" dirty="0" err="1">
                          <a:effectLst/>
                        </a:rPr>
                        <a:t>days_since_voi_last_mo</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000" dirty="0"/>
                        <a:t>Days since last outgoing voice 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0373314"/>
                  </a:ext>
                </a:extLst>
              </a:tr>
              <a:tr h="224148">
                <a:tc>
                  <a:txBody>
                    <a:bodyPr/>
                    <a:lstStyle/>
                    <a:p>
                      <a:pPr lvl="1" algn="l" fontAlgn="t"/>
                      <a:r>
                        <a:rPr lang="fi-FI" sz="900" u="none" strike="noStrike" dirty="0">
                          <a:effectLst/>
                        </a:rPr>
                        <a:t>sum_d28_pd28_voi_mt_cnt</a:t>
                      </a:r>
                      <a:endParaRPr lang="fi-FI"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Ratio of sum of last 28 to previous 28 days incoming voice calls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9735889"/>
                  </a:ext>
                </a:extLst>
              </a:tr>
              <a:tr h="224148">
                <a:tc>
                  <a:txBody>
                    <a:bodyPr/>
                    <a:lstStyle/>
                    <a:p>
                      <a:pPr lvl="1" algn="l" fontAlgn="t"/>
                      <a:r>
                        <a:rPr lang="en-US" sz="900" u="none" strike="noStrike" dirty="0">
                          <a:effectLst/>
                        </a:rPr>
                        <a:t>mean_d7_pd14_loyalty_points_balance</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Ratio of average of last 7 to previous 14 days loyalty points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3106029"/>
                  </a:ext>
                </a:extLst>
              </a:tr>
              <a:tr h="224148">
                <a:tc>
                  <a:txBody>
                    <a:bodyPr/>
                    <a:lstStyle/>
                    <a:p>
                      <a:pPr lvl="1" algn="l" fontAlgn="t"/>
                      <a:r>
                        <a:rPr lang="en-US" sz="900" u="none" strike="noStrike" dirty="0">
                          <a:effectLst/>
                        </a:rPr>
                        <a:t>mean_d7_pd28_act_days_mtc</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Ratio of average of last 7 to previous 28 days actual days of incoming calls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213837"/>
                  </a:ext>
                </a:extLst>
              </a:tr>
              <a:tr h="224148">
                <a:tc>
                  <a:txBody>
                    <a:bodyPr/>
                    <a:lstStyle/>
                    <a:p>
                      <a:pPr lvl="1" algn="l" fontAlgn="t"/>
                      <a:r>
                        <a:rPr lang="en-US" sz="900" u="none" strike="noStrike" dirty="0">
                          <a:effectLst/>
                        </a:rPr>
                        <a:t>sum_d30to60_act_days_data</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Sum of 30 days to 60 days actual data usage 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988373"/>
                  </a:ext>
                </a:extLst>
              </a:tr>
              <a:tr h="224148">
                <a:tc>
                  <a:txBody>
                    <a:bodyPr/>
                    <a:lstStyle/>
                    <a:p>
                      <a:pPr lvl="1" algn="l" fontAlgn="t"/>
                      <a:r>
                        <a:rPr lang="en-US" sz="900" u="none" strike="noStrike" dirty="0">
                          <a:effectLst/>
                        </a:rPr>
                        <a:t>sum_d7_pd7_loyalty_points_balance</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Ratio of sum of last 7 to previous 7 days loyalty points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7673524"/>
                  </a:ext>
                </a:extLst>
              </a:tr>
              <a:tr h="224148">
                <a:tc>
                  <a:txBody>
                    <a:bodyPr/>
                    <a:lstStyle/>
                    <a:p>
                      <a:pPr lvl="1" algn="l" fontAlgn="t"/>
                      <a:r>
                        <a:rPr lang="en-US" sz="900" u="none" strike="noStrike" dirty="0">
                          <a:effectLst/>
                        </a:rPr>
                        <a:t>sum_d28_pd28_act_days_moc</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9585" marR="0" lvl="1" indent="0" algn="l" defTabSz="1219170" rtl="0" eaLnBrk="1" fontAlgn="auto" latinLnBrk="0" hangingPunct="1">
                        <a:lnSpc>
                          <a:spcPct val="100000"/>
                        </a:lnSpc>
                        <a:spcBef>
                          <a:spcPts val="0"/>
                        </a:spcBef>
                        <a:spcAft>
                          <a:spcPts val="0"/>
                        </a:spcAft>
                        <a:buClrTx/>
                        <a:buSzTx/>
                        <a:buFontTx/>
                        <a:buNone/>
                        <a:tabLst/>
                        <a:defRPr/>
                      </a:pPr>
                      <a:r>
                        <a:rPr lang="en-US" sz="1000" dirty="0"/>
                        <a:t>Ratio of sum of last 28 to previous 28 days actual days of outgoing calls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3500608"/>
                  </a:ext>
                </a:extLst>
              </a:tr>
              <a:tr h="224148">
                <a:tc>
                  <a:txBody>
                    <a:bodyPr/>
                    <a:lstStyle/>
                    <a:p>
                      <a:pPr lvl="1" algn="l" fontAlgn="t"/>
                      <a:r>
                        <a:rPr lang="en-US" sz="900" u="none" strike="noStrike" dirty="0">
                          <a:effectLst/>
                        </a:rPr>
                        <a:t>mean_d14_data_kb</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000" dirty="0"/>
                        <a:t>Last 14 days average data usage in KB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7053255"/>
                  </a:ext>
                </a:extLst>
              </a:tr>
              <a:tr h="224148">
                <a:tc>
                  <a:txBody>
                    <a:bodyPr/>
                    <a:lstStyle/>
                    <a:p>
                      <a:pPr lvl="1" algn="l" fontAlgn="t"/>
                      <a:r>
                        <a:rPr lang="en-US" sz="900" u="none" strike="noStrike" dirty="0">
                          <a:effectLst/>
                        </a:rPr>
                        <a:t>mean_d7_act_days_data</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000" dirty="0"/>
                        <a:t>Last 7 days average actual days of data usage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7884557"/>
                  </a:ext>
                </a:extLst>
              </a:tr>
              <a:tr h="224148">
                <a:tc>
                  <a:txBody>
                    <a:bodyPr/>
                    <a:lstStyle/>
                    <a:p>
                      <a:pPr lvl="1" algn="l" fontAlgn="t"/>
                      <a:r>
                        <a:rPr lang="en-US" sz="900" u="none" strike="noStrike" dirty="0">
                          <a:effectLst/>
                        </a:rPr>
                        <a:t>og_ic_ratio_d14_cnt</a:t>
                      </a:r>
                      <a:endParaRPr lang="en-US" sz="900" b="1" i="0" u="none" strike="noStrike" dirty="0">
                        <a:solidFill>
                          <a:srgbClr val="000000"/>
                        </a:solidFill>
                        <a:effectLst/>
                        <a:latin typeface="Calibri" panose="020F050202020403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r>
                        <a:rPr lang="en-US" sz="1000" dirty="0"/>
                        <a:t>Last 14 days outgoing to incoming calls ratio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5296032"/>
                  </a:ext>
                </a:extLst>
              </a:tr>
            </a:tbl>
          </a:graphicData>
        </a:graphic>
      </p:graphicFrame>
      <p:sp>
        <p:nvSpPr>
          <p:cNvPr id="4" name="TextBox 3">
            <a:extLst>
              <a:ext uri="{FF2B5EF4-FFF2-40B4-BE49-F238E27FC236}">
                <a16:creationId xmlns:a16="http://schemas.microsoft.com/office/drawing/2014/main" id="{2B6A658A-B166-415F-B783-C37426CDBD90}"/>
              </a:ext>
            </a:extLst>
          </p:cNvPr>
          <p:cNvSpPr txBox="1"/>
          <p:nvPr/>
        </p:nvSpPr>
        <p:spPr>
          <a:xfrm>
            <a:off x="2630183" y="6567942"/>
            <a:ext cx="9556605"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100" b="0" i="1" u="none" strike="noStrike" kern="1200" cap="none" spc="0" normalizeH="0" baseline="0" noProof="0" dirty="0">
                <a:ln>
                  <a:noFill/>
                </a:ln>
                <a:solidFill>
                  <a:srgbClr val="75787B"/>
                </a:solidFill>
                <a:effectLst/>
                <a:uLnTx/>
                <a:uFillTx/>
                <a:latin typeface="Verdana"/>
                <a:ea typeface="+mn-ea"/>
                <a:cs typeface="Univers for KPMG"/>
              </a:rPr>
              <a:t>Note: Variables are arranged in order of the F score</a:t>
            </a:r>
          </a:p>
        </p:txBody>
      </p:sp>
    </p:spTree>
    <p:extLst>
      <p:ext uri="{BB962C8B-B14F-4D97-AF65-F5344CB8AC3E}">
        <p14:creationId xmlns:p14="http://schemas.microsoft.com/office/powerpoint/2010/main" val="343199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Autofit/>
          </a:bodyPr>
          <a:lstStyle/>
          <a:p>
            <a:r>
              <a:rPr lang="en-US"/>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r>
              <a:rPr lang="en-US" dirty="0"/>
              <a:t>.</a:t>
            </a:r>
          </a:p>
          <a:p>
            <a:r>
              <a:rPr lang="en-US"/>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r>
              <a:rPr lang="en-US" dirty="0"/>
              <a:t>.</a:t>
            </a:r>
          </a:p>
          <a:p>
            <a:r>
              <a:rPr lang="en-US"/>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r>
              <a:rPr lang="en-US" dirty="0"/>
              <a:t>.</a:t>
            </a:r>
          </a:p>
          <a:p>
            <a:r>
              <a:rPr lang="en-US"/>
              <a:t>©2017 Deloitte Touche Tohmatsu India LLP. Member of Deloitte Touche Tohmatsu Limited</a:t>
            </a:r>
            <a:endParaRPr lang="en-US" dirty="0"/>
          </a:p>
          <a:p>
            <a:r>
              <a:rPr lang="en-US"/>
              <a:t>Deloitte Touche Tohmatsu India Private Limited (U74140MH199 5PTC093339), a private company limited by shares, was converted into Deloitte Touche Tohmatsu India LLP, a limited liability partnership (LLP Identification No. AAE-8458),with effect from October 1, 2015</a:t>
            </a:r>
            <a:r>
              <a:rPr lang="en-US" dirty="0"/>
              <a:t>.</a:t>
            </a:r>
          </a:p>
        </p:txBody>
      </p:sp>
      <p:sp>
        <p:nvSpPr>
          <p:cNvPr id="2" name="TextBox 1"/>
          <p:cNvSpPr txBox="1"/>
          <p:nvPr/>
        </p:nvSpPr>
        <p:spPr>
          <a:xfrm>
            <a:off x="501652" y="1664898"/>
            <a:ext cx="2682815"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800" b="0" i="0" u="none" strike="noStrike" kern="1200" cap="none" spc="0" normalizeH="0" baseline="0" noProof="0">
                <a:ln>
                  <a:noFill/>
                </a:ln>
                <a:solidFill>
                  <a:srgbClr val="313131"/>
                </a:solidFill>
                <a:effectLst/>
                <a:uLnTx/>
                <a:uFillTx/>
                <a:latin typeface="Verdana"/>
                <a:ea typeface="+mn-ea"/>
                <a:cs typeface="+mn-cs"/>
              </a:rPr>
              <a:t>Thank you</a:t>
            </a:r>
            <a:endParaRPr kumimoji="0" lang="en-IN" sz="1800" b="0" i="0" u="none" strike="noStrike" kern="1200" cap="none" spc="0" normalizeH="0" baseline="0" noProof="0" dirty="0">
              <a:ln>
                <a:noFill/>
              </a:ln>
              <a:solidFill>
                <a:srgbClr val="313131"/>
              </a:solidFill>
              <a:effectLst/>
              <a:uLnTx/>
              <a:uFillTx/>
              <a:latin typeface="Verdana"/>
              <a:ea typeface="+mn-ea"/>
              <a:cs typeface="+mn-cs"/>
            </a:endParaRPr>
          </a:p>
        </p:txBody>
      </p:sp>
    </p:spTree>
    <p:extLst>
      <p:ext uri="{BB962C8B-B14F-4D97-AF65-F5344CB8AC3E}">
        <p14:creationId xmlns:p14="http://schemas.microsoft.com/office/powerpoint/2010/main" val="177646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_US_Onscreen">
  <a:themeElements>
    <a:clrScheme name="Deloitte colors">
      <a:dk1>
        <a:sysClr val="windowText" lastClr="000000"/>
      </a:dk1>
      <a:lt1>
        <a:sysClr val="window" lastClr="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extLst>
    <a:ext uri="{05A4C25C-085E-4340-85A3-A5531E510DB2}">
      <thm15:themeFamily xmlns:thm15="http://schemas.microsoft.com/office/thememl/2012/main" name="Presentation3" id="{B6131D4A-6D06-A545-84A0-5EA998671E86}" vid="{BE248F2D-C897-7A4C-A651-C1F199A639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34311</TotalTime>
  <Words>3367</Words>
  <Application>Microsoft Office PowerPoint</Application>
  <PresentationFormat>Widescreen</PresentationFormat>
  <Paragraphs>667</Paragraphs>
  <Slides>16</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Arial</vt:lpstr>
      <vt:lpstr>Calibri</vt:lpstr>
      <vt:lpstr>Trebuchet MS</vt:lpstr>
      <vt:lpstr>Univers for KPMG</vt:lpstr>
      <vt:lpstr>Univers for KPMG Light</vt:lpstr>
      <vt:lpstr>Verdana</vt:lpstr>
      <vt:lpstr>Wingdings 2</vt:lpstr>
      <vt:lpstr>1_Deloitte_US_Onscreen</vt:lpstr>
      <vt:lpstr>think-cell Slide</vt:lpstr>
      <vt:lpstr>MTN 30 days Inactivity Churn  </vt:lpstr>
      <vt:lpstr>PowerPoint Presentation</vt:lpstr>
      <vt:lpstr>Hypothesis Building</vt:lpstr>
      <vt:lpstr>Out of the 1661 feature engineered variables, Key variable were identified after data cleaning &amp; EDA</vt:lpstr>
      <vt:lpstr>Observation and performance windows for inactivity churn model were fixed based on which the prediction model was developed </vt:lpstr>
      <vt:lpstr>Data Preparation</vt:lpstr>
      <vt:lpstr>Multiple ML Algorithms are built, and robustness of models are checked</vt:lpstr>
      <vt:lpstr>Top 2 deciles (20%) captured 86% of customers with inactivity churn</vt:lpstr>
      <vt:lpstr>Top 15 significant predictors out of 24 predictors from the best model</vt:lpstr>
      <vt:lpstr>PowerPoint Presentation</vt:lpstr>
      <vt:lpstr>PowerPoint Presentation</vt:lpstr>
      <vt:lpstr>Thank you</vt:lpstr>
      <vt:lpstr>PowerPoint Presentation</vt:lpstr>
      <vt:lpstr>Top 2 deciles (20%) captured 86% of customers with inactivity churn with all performance KPI’s</vt:lpstr>
      <vt:lpstr>List of significant predictors from the best model</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Rastogi, Varun (IN - Delhi)</dc:creator>
  <cp:lastModifiedBy>K, Naveen</cp:lastModifiedBy>
  <cp:revision>2074</cp:revision>
  <dcterms:created xsi:type="dcterms:W3CDTF">2018-05-01T04:23:00Z</dcterms:created>
  <dcterms:modified xsi:type="dcterms:W3CDTF">2021-10-29T08:53:42Z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2021-09-30T04:24:14Z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d3082676-072d-46c2-8cee-1e6cb8b6c438</vt:lpwstr>
  </property>
  <property fmtid="{D5CDD505-2E9C-101B-9397-08002B2CF9AE}" pid="8" name="MSIP_Label_ea60d57e-af5b-4752-ac57-3e4f28ca11dc_ContentBits">
    <vt:lpwstr>0</vt:lpwstr>
  </property>
</Properties>
</file>